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  <p:sldMasterId id="2147483651" r:id="rId2"/>
  </p:sldMasterIdLst>
  <p:notesMasterIdLst>
    <p:notesMasterId r:id="rId19"/>
  </p:notesMasterIdLst>
  <p:handoutMasterIdLst>
    <p:handoutMasterId r:id="rId20"/>
  </p:handoutMasterIdLst>
  <p:sldIdLst>
    <p:sldId id="277" r:id="rId3"/>
    <p:sldId id="397" r:id="rId4"/>
    <p:sldId id="581" r:id="rId5"/>
    <p:sldId id="582" r:id="rId6"/>
    <p:sldId id="583" r:id="rId7"/>
    <p:sldId id="584" r:id="rId8"/>
    <p:sldId id="586" r:id="rId9"/>
    <p:sldId id="587" r:id="rId10"/>
    <p:sldId id="585" r:id="rId11"/>
    <p:sldId id="588" r:id="rId12"/>
    <p:sldId id="590" r:id="rId13"/>
    <p:sldId id="589" r:id="rId14"/>
    <p:sldId id="591" r:id="rId15"/>
    <p:sldId id="592" r:id="rId16"/>
    <p:sldId id="593" r:id="rId17"/>
    <p:sldId id="595" r:id="rId18"/>
  </p:sldIdLst>
  <p:sldSz cx="9144000" cy="6858000" type="screen4x3"/>
  <p:notesSz cx="6797675" cy="9926638"/>
  <p:defaultTextStyle>
    <a:defPPr>
      <a:defRPr lang="fr-FR"/>
    </a:defPPr>
    <a:lvl1pPr algn="ctr" rtl="0" eaLnBrk="0" fontAlgn="base" hangingPunct="0">
      <a:lnSpc>
        <a:spcPct val="85000"/>
      </a:lnSpc>
      <a:spcBef>
        <a:spcPct val="0"/>
      </a:spcBef>
      <a:spcAft>
        <a:spcPct val="0"/>
      </a:spcAft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1pPr>
    <a:lvl2pPr marL="457200" algn="ctr" rtl="0" eaLnBrk="0" fontAlgn="base" hangingPunct="0">
      <a:lnSpc>
        <a:spcPct val="85000"/>
      </a:lnSpc>
      <a:spcBef>
        <a:spcPct val="0"/>
      </a:spcBef>
      <a:spcAft>
        <a:spcPct val="0"/>
      </a:spcAft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2pPr>
    <a:lvl3pPr marL="914400" algn="ctr" rtl="0" eaLnBrk="0" fontAlgn="base" hangingPunct="0">
      <a:lnSpc>
        <a:spcPct val="85000"/>
      </a:lnSpc>
      <a:spcBef>
        <a:spcPct val="0"/>
      </a:spcBef>
      <a:spcAft>
        <a:spcPct val="0"/>
      </a:spcAft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3pPr>
    <a:lvl4pPr marL="1371600" algn="ctr" rtl="0" eaLnBrk="0" fontAlgn="base" hangingPunct="0">
      <a:lnSpc>
        <a:spcPct val="85000"/>
      </a:lnSpc>
      <a:spcBef>
        <a:spcPct val="0"/>
      </a:spcBef>
      <a:spcAft>
        <a:spcPct val="0"/>
      </a:spcAft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4pPr>
    <a:lvl5pPr marL="1828800" algn="ctr" rtl="0" eaLnBrk="0" fontAlgn="base" hangingPunct="0">
      <a:lnSpc>
        <a:spcPct val="85000"/>
      </a:lnSpc>
      <a:spcBef>
        <a:spcPct val="0"/>
      </a:spcBef>
      <a:spcAft>
        <a:spcPct val="0"/>
      </a:spcAft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sz="2000" b="1" kern="1200">
        <a:solidFill>
          <a:schemeClr val="bg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ETIT Ophélie (opetit)" initials="OPE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Style foncé 2 - Accentuation 5/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4C1A8A3-306A-4EB7-A6B1-4F7E0EB9C5D6}" styleName="Style moyen 3 - Accentuation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90" autoAdjust="0"/>
    <p:restoredTop sz="92624" autoAdjust="0"/>
  </p:normalViewPr>
  <p:slideViewPr>
    <p:cSldViewPr snapToGrid="0">
      <p:cViewPr varScale="1">
        <p:scale>
          <a:sx n="84" d="100"/>
          <a:sy n="84" d="100"/>
        </p:scale>
        <p:origin x="1546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8" d="100"/>
          <a:sy n="48" d="100"/>
        </p:scale>
        <p:origin x="-2760" y="-58"/>
      </p:cViewPr>
      <p:guideLst>
        <p:guide orient="horz" pos="3126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t" anchorCtr="0" compatLnSpc="1">
            <a:prstTxWarp prst="textNoShape">
              <a:avLst/>
            </a:prstTxWarp>
          </a:bodyPr>
          <a:lstStyle>
            <a:lvl1pPr algn="l" defTabSz="915988" eaLnBrk="1" hangingPunct="1">
              <a:lnSpc>
                <a:spcPct val="100000"/>
              </a:lnSpc>
              <a:defRPr sz="12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lnSpc>
                <a:spcPct val="100000"/>
              </a:lnSpc>
              <a:defRPr sz="12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BF680CDC-7CED-42AD-8616-E2173CB6E852}" type="datetime1">
              <a:rPr lang="fr-FR"/>
              <a:pPr>
                <a:defRPr/>
              </a:pPr>
              <a:t>07/06/2017</a:t>
            </a:fld>
            <a:endParaRPr lang="fr-FR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b" anchorCtr="0" compatLnSpc="1">
            <a:prstTxWarp prst="textNoShape">
              <a:avLst/>
            </a:prstTxWarp>
          </a:bodyPr>
          <a:lstStyle>
            <a:lvl1pPr algn="l" defTabSz="915988" eaLnBrk="1" hangingPunct="1">
              <a:lnSpc>
                <a:spcPct val="100000"/>
              </a:lnSpc>
              <a:defRPr sz="12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 dirty="0"/>
              <a:t>© </a:t>
            </a:r>
            <a:r>
              <a:rPr lang="fr-FR" dirty="0" smtClean="0"/>
              <a:t>2014 Capgemini. </a:t>
            </a:r>
            <a:r>
              <a:rPr lang="fr-FR" dirty="0"/>
              <a:t>Tous droits réservés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9750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lnSpc>
                <a:spcPct val="100000"/>
              </a:lnSpc>
              <a:defRPr sz="12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8B71ECE-4C3C-4C44-8353-EF6A906BDB5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3205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2863" y="0"/>
            <a:ext cx="2944812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t" anchorCtr="0" compatLnSpc="1">
            <a:prstTxWarp prst="textNoShape">
              <a:avLst/>
            </a:prstTxWarp>
          </a:bodyPr>
          <a:lstStyle>
            <a:lvl1pPr algn="l" defTabSz="915988" eaLnBrk="1" hangingPunct="1">
              <a:lnSpc>
                <a:spcPct val="100000"/>
              </a:lnSpc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2771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4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5425" y="4714875"/>
            <a:ext cx="6346825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 smtClean="0"/>
              <a:t>Cliquez pour modifier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</p:txBody>
      </p:sp>
      <p:sp>
        <p:nvSpPr>
          <p:cNvPr id="225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2944813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b" anchorCtr="0" compatLnSpc="1">
            <a:prstTxWarp prst="textNoShape">
              <a:avLst/>
            </a:prstTxWarp>
          </a:bodyPr>
          <a:lstStyle>
            <a:lvl1pPr algn="l" defTabSz="915988" eaLnBrk="1" hangingPunct="1">
              <a:lnSpc>
                <a:spcPct val="100000"/>
              </a:lnSpc>
              <a:defRPr sz="9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 dirty="0"/>
              <a:t>© </a:t>
            </a:r>
            <a:r>
              <a:rPr lang="fr-FR" dirty="0" smtClean="0"/>
              <a:t>2014 Capgemini. </a:t>
            </a:r>
            <a:r>
              <a:rPr lang="fr-FR" dirty="0"/>
              <a:t>Tous droits réservés</a:t>
            </a:r>
          </a:p>
        </p:txBody>
      </p:sp>
      <p:sp>
        <p:nvSpPr>
          <p:cNvPr id="225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677400"/>
            <a:ext cx="2944813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68" tIns="45784" rIns="91568" bIns="45784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lnSpc>
                <a:spcPct val="100000"/>
              </a:lnSpc>
              <a:defRPr sz="900" b="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EB7EC017-6924-4125-9F77-F40B40D8730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162908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eaLnBrk="0" fontAlgn="base" hangingPunct="0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eaLnBrk="0" fontAlgn="base" hangingPunct="0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fr-FR" dirty="0" smtClean="0"/>
              <a:t>© 2014 Capgemini. Tous droits réservés</a:t>
            </a:r>
          </a:p>
        </p:txBody>
      </p:sp>
      <p:sp>
        <p:nvSpPr>
          <p:cNvPr id="3379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37DF3BE-3A54-45A9-ACD2-E8E4D9CD57D5}" type="slidenum">
              <a:rPr lang="fr-FR" smtClean="0"/>
              <a:pPr/>
              <a:t>1</a:t>
            </a:fld>
            <a:endParaRPr lang="fr-FR" smtClean="0"/>
          </a:p>
        </p:txBody>
      </p:sp>
      <p:sp>
        <p:nvSpPr>
          <p:cNvPr id="3379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34508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8239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 dirty="0" smtClean="0"/>
              <a:t>Intitulé: Concepteur – Développeur d’application SIG</a:t>
            </a:r>
          </a:p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93255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6235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1599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i="1" dirty="0" smtClean="0">
                <a:solidFill>
                  <a:srgbClr val="00B050"/>
                </a:solidFill>
              </a:rPr>
              <a:t>La migration</a:t>
            </a:r>
            <a:r>
              <a:rPr lang="fr-FR" b="1" i="1" baseline="0" dirty="0" smtClean="0">
                <a:solidFill>
                  <a:srgbClr val="00B050"/>
                </a:solidFill>
              </a:rPr>
              <a:t> vers </a:t>
            </a:r>
            <a:r>
              <a:rPr lang="fr-FR" b="1" i="1" baseline="0" dirty="0" err="1" smtClean="0">
                <a:solidFill>
                  <a:srgbClr val="00B050"/>
                </a:solidFill>
              </a:rPr>
              <a:t>javafx</a:t>
            </a:r>
            <a:r>
              <a:rPr lang="fr-FR" b="1" i="1" baseline="0" dirty="0" smtClean="0">
                <a:solidFill>
                  <a:srgbClr val="00B050"/>
                </a:solidFill>
              </a:rPr>
              <a:t> assure aussi l’amélioration continue de l’application.</a:t>
            </a:r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8365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00479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8609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2333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6018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430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8498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70610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2658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7789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b="1" i="1" dirty="0">
              <a:solidFill>
                <a:srgbClr val="00B050"/>
              </a:solidFill>
            </a:endParaRP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fr-FR" smtClean="0"/>
              <a:t>© 2014 Capgemini. Tous droits réservés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EB7EC017-6924-4125-9F77-F40B40D87301}" type="slidenum">
              <a:rPr lang="fr-FR" smtClean="0"/>
              <a:pPr>
                <a:defRPr/>
              </a:pPr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770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0" y="2674938"/>
            <a:ext cx="4495800" cy="36655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2674938"/>
            <a:ext cx="4495800" cy="36655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wipe dir="r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 smtClean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8000" y="1123950"/>
            <a:ext cx="2286000" cy="5216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0" y="1123950"/>
            <a:ext cx="6705600" cy="5216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re et 4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sz="quarter"/>
          </p:nvPr>
        </p:nvSpPr>
        <p:spPr>
          <a:xfrm>
            <a:off x="0" y="1123950"/>
            <a:ext cx="9144000" cy="1143000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"/>
          </p:nvPr>
        </p:nvSpPr>
        <p:spPr>
          <a:xfrm>
            <a:off x="0" y="2674938"/>
            <a:ext cx="4495800" cy="1755775"/>
          </a:xfrm>
        </p:spPr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quarter" idx="2"/>
          </p:nvPr>
        </p:nvSpPr>
        <p:spPr>
          <a:xfrm>
            <a:off x="4648200" y="2674938"/>
            <a:ext cx="4495800" cy="1755775"/>
          </a:xfrm>
        </p:spPr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3"/>
          </p:nvPr>
        </p:nvSpPr>
        <p:spPr>
          <a:xfrm>
            <a:off x="0" y="4583113"/>
            <a:ext cx="4495800" cy="1757362"/>
          </a:xfrm>
        </p:spPr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8200" y="4583113"/>
            <a:ext cx="4495800" cy="1757362"/>
          </a:xfrm>
        </p:spPr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wipe dir="r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 smtClean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</p:spTree>
  </p:cSld>
  <p:clrMapOvr>
    <a:masterClrMapping/>
  </p:clrMapOvr>
  <p:transition spd="med">
    <p:wipe dir="r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</p:spTree>
  </p:cSld>
  <p:clrMapOvr>
    <a:masterClrMapping/>
  </p:clrMapOvr>
  <p:transition spd="med">
    <p:wipe dir="r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1123950"/>
            <a:ext cx="9144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36000" rIns="9144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Cliquez pour modifier le style du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2674938"/>
            <a:ext cx="9144000" cy="3665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36000" rIns="9144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Cliquez pour modifier les styles du texte du masque</a:t>
            </a:r>
          </a:p>
          <a:p>
            <a:pPr lvl="1"/>
            <a:r>
              <a:rPr lang="en-US" smtClean="0"/>
              <a:t>Deuxième niveau</a:t>
            </a:r>
          </a:p>
          <a:p>
            <a:pPr lvl="2"/>
            <a:r>
              <a:rPr lang="en-US" smtClean="0"/>
              <a:t>Quatrième niveau</a:t>
            </a:r>
          </a:p>
        </p:txBody>
      </p:sp>
      <p:grpSp>
        <p:nvGrpSpPr>
          <p:cNvPr id="2052" name="Group 15"/>
          <p:cNvGrpSpPr>
            <a:grpSpLocks/>
          </p:cNvGrpSpPr>
          <p:nvPr/>
        </p:nvGrpSpPr>
        <p:grpSpPr bwMode="auto">
          <a:xfrm>
            <a:off x="-14288" y="-14288"/>
            <a:ext cx="3190876" cy="1235076"/>
            <a:chOff x="-9" y="-9"/>
            <a:chExt cx="2010" cy="778"/>
          </a:xfrm>
        </p:grpSpPr>
        <p:sp>
          <p:nvSpPr>
            <p:cNvPr id="6156" name="Freeform 12"/>
            <p:cNvSpPr>
              <a:spLocks/>
            </p:cNvSpPr>
            <p:nvPr userDrawn="1"/>
          </p:nvSpPr>
          <p:spPr bwMode="auto">
            <a:xfrm>
              <a:off x="-9" y="-9"/>
              <a:ext cx="2010" cy="778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" y="405"/>
                </a:cxn>
                <a:cxn ang="0">
                  <a:pos x="1048" y="0"/>
                </a:cxn>
                <a:cxn ang="0">
                  <a:pos x="0" y="0"/>
                </a:cxn>
              </a:cxnLst>
              <a:rect l="0" t="0" r="r" b="b"/>
              <a:pathLst>
                <a:path w="1048" h="405">
                  <a:moveTo>
                    <a:pt x="0" y="0"/>
                  </a:moveTo>
                  <a:cubicBezTo>
                    <a:pt x="1" y="405"/>
                    <a:pt x="1" y="405"/>
                    <a:pt x="1" y="405"/>
                  </a:cubicBezTo>
                  <a:cubicBezTo>
                    <a:pt x="32" y="191"/>
                    <a:pt x="804" y="1"/>
                    <a:pt x="1048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fr-FR"/>
            </a:p>
          </p:txBody>
        </p:sp>
        <p:pic>
          <p:nvPicPr>
            <p:cNvPr id="2054" name="Picture 14" descr="CBE_Label_RGB"/>
            <p:cNvPicPr>
              <a:picLocks noChangeAspect="1" noChangeArrowheads="1"/>
            </p:cNvPicPr>
            <p:nvPr userDrawn="1"/>
          </p:nvPicPr>
          <p:blipFill>
            <a:blip r:embed="rId14" cstate="print"/>
            <a:srcRect/>
            <a:stretch>
              <a:fillRect/>
            </a:stretch>
          </p:blipFill>
          <p:spPr bwMode="auto">
            <a:xfrm>
              <a:off x="58" y="76"/>
              <a:ext cx="326" cy="3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20" r:id="rId2"/>
    <p:sldLayoutId id="2147484121" r:id="rId3"/>
    <p:sldLayoutId id="2147484122" r:id="rId4"/>
    <p:sldLayoutId id="2147484123" r:id="rId5"/>
    <p:sldLayoutId id="2147484124" r:id="rId6"/>
    <p:sldLayoutId id="2147484125" r:id="rId7"/>
    <p:sldLayoutId id="2147484126" r:id="rId8"/>
    <p:sldLayoutId id="2147484127" r:id="rId9"/>
    <p:sldLayoutId id="2147484128" r:id="rId10"/>
    <p:sldLayoutId id="2147484129" r:id="rId11"/>
    <p:sldLayoutId id="2147484130" r:id="rId12"/>
  </p:sldLayoutIdLst>
  <p:transition spd="med">
    <p:wipe dir="r"/>
  </p:transition>
  <p:txStyles>
    <p:titleStyle>
      <a:lvl1pPr marL="536575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+mj-lt"/>
          <a:ea typeface="+mj-ea"/>
          <a:cs typeface="+mj-cs"/>
        </a:defRPr>
      </a:lvl1pPr>
      <a:lvl2pPr marL="536575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2pPr>
      <a:lvl3pPr marL="536575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3pPr>
      <a:lvl4pPr marL="536575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4pPr>
      <a:lvl5pPr marL="536575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5pPr>
      <a:lvl6pPr marL="993775" algn="ctr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6pPr>
      <a:lvl7pPr marL="1450975" algn="ctr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7pPr>
      <a:lvl8pPr marL="1908175" algn="ctr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8pPr>
      <a:lvl9pPr marL="2365375" algn="ctr" rtl="0" fontAlgn="base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Arial Narrow" pitchFamily="34" charset="0"/>
          <a:cs typeface="Arial" charset="0"/>
        </a:defRPr>
      </a:lvl9pPr>
    </p:titleStyle>
    <p:bodyStyle>
      <a:lvl1pPr marL="533400" indent="-342900" algn="l" rtl="0" eaLnBrk="0" fontAlgn="base" hangingPunct="0">
        <a:spcBef>
          <a:spcPct val="4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1066800" indent="-285750" algn="l" rtl="0" eaLnBrk="0" fontAlgn="base" hangingPunct="0">
        <a:spcBef>
          <a:spcPct val="40000"/>
        </a:spcBef>
        <a:spcAft>
          <a:spcPct val="0"/>
        </a:spcAft>
        <a:buClr>
          <a:schemeClr val="accent1"/>
        </a:buClr>
        <a:buChar char="•"/>
        <a:defRPr sz="2400">
          <a:solidFill>
            <a:schemeClr val="tx1"/>
          </a:solidFill>
          <a:latin typeface="+mn-lt"/>
          <a:cs typeface="+mn-cs"/>
        </a:defRPr>
      </a:lvl2pPr>
      <a:lvl3pPr marL="1530350" indent="-228600" algn="l" rtl="0" eaLnBrk="0" fontAlgn="base" hangingPunct="0">
        <a:spcBef>
          <a:spcPct val="40000"/>
        </a:spcBef>
        <a:spcAft>
          <a:spcPct val="0"/>
        </a:spcAft>
        <a:buClr>
          <a:schemeClr val="hlink"/>
        </a:buClr>
        <a:buFont typeface="Arial" charset="0"/>
        <a:buChar char="–"/>
        <a:defRPr sz="2400">
          <a:solidFill>
            <a:schemeClr val="tx1"/>
          </a:solidFill>
          <a:latin typeface="+mn-lt"/>
          <a:cs typeface="+mn-cs"/>
        </a:defRPr>
      </a:lvl3pPr>
      <a:lvl4pPr marL="1979613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2"/>
          </a:solidFill>
          <a:latin typeface="+mn-lt"/>
          <a:cs typeface="+mn-cs"/>
        </a:defRPr>
      </a:lvl4pPr>
      <a:lvl5pPr marL="2414588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bg2"/>
          </a:solidFill>
          <a:latin typeface="+mn-lt"/>
          <a:cs typeface="+mn-cs"/>
        </a:defRPr>
      </a:lvl5pPr>
      <a:lvl6pPr marL="2871788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bg2"/>
          </a:solidFill>
          <a:latin typeface="+mn-lt"/>
          <a:cs typeface="+mn-cs"/>
        </a:defRPr>
      </a:lvl6pPr>
      <a:lvl7pPr marL="3328988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bg2"/>
          </a:solidFill>
          <a:latin typeface="+mn-lt"/>
          <a:cs typeface="+mn-cs"/>
        </a:defRPr>
      </a:lvl7pPr>
      <a:lvl8pPr marL="3786188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bg2"/>
          </a:solidFill>
          <a:latin typeface="+mn-lt"/>
          <a:cs typeface="+mn-cs"/>
        </a:defRPr>
      </a:lvl8pPr>
      <a:lvl9pPr marL="4243388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/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30728" name="Rectangle 8"/>
          <p:cNvSpPr>
            <a:spLocks noChangeArrowheads="1"/>
          </p:cNvSpPr>
          <p:nvPr/>
        </p:nvSpPr>
        <p:spPr bwMode="auto">
          <a:xfrm>
            <a:off x="5054600" y="6175375"/>
            <a:ext cx="3729038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r" eaLnBrk="1" hangingPunct="1">
              <a:lnSpc>
                <a:spcPct val="100000"/>
              </a:lnSpc>
              <a:spcBef>
                <a:spcPct val="20000"/>
              </a:spcBef>
              <a:defRPr/>
            </a:pPr>
            <a:r>
              <a:rPr lang="en-US" sz="1600" b="0">
                <a:solidFill>
                  <a:schemeClr val="bg2"/>
                </a:solidFill>
              </a:rPr>
              <a:t>www.capgemini.com</a:t>
            </a:r>
          </a:p>
        </p:txBody>
      </p:sp>
      <p:pic>
        <p:nvPicPr>
          <p:cNvPr id="3076" name="Picture 9" descr="OK_Capgemini"/>
          <p:cNvPicPr>
            <a:picLocks noChangeAspect="1" noChangeArrowheads="1"/>
          </p:cNvPicPr>
          <p:nvPr/>
        </p:nvPicPr>
        <p:blipFill>
          <a:blip r:embed="rId1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044575" y="881063"/>
            <a:ext cx="4318000" cy="1017587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</p:spPr>
      </p:pic>
      <p:grpSp>
        <p:nvGrpSpPr>
          <p:cNvPr id="3077" name="Group 24"/>
          <p:cNvGrpSpPr>
            <a:grpSpLocks/>
          </p:cNvGrpSpPr>
          <p:nvPr/>
        </p:nvGrpSpPr>
        <p:grpSpPr bwMode="auto">
          <a:xfrm>
            <a:off x="4668838" y="5505450"/>
            <a:ext cx="4351337" cy="668338"/>
            <a:chOff x="3289" y="3492"/>
            <a:chExt cx="2741" cy="421"/>
          </a:xfrm>
        </p:grpSpPr>
        <p:sp>
          <p:nvSpPr>
            <p:cNvPr id="30742" name="Text Box 22"/>
            <p:cNvSpPr txBox="1">
              <a:spLocks noChangeArrowheads="1"/>
            </p:cNvSpPr>
            <p:nvPr userDrawn="1"/>
          </p:nvSpPr>
          <p:spPr bwMode="auto">
            <a:xfrm>
              <a:off x="3769" y="3597"/>
              <a:ext cx="2261" cy="1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 wrap="none" lIns="0" tIns="0" rIns="360000" bIns="0">
              <a:spAutoFit/>
            </a:bodyPr>
            <a:lstStyle/>
            <a:p>
              <a:pPr algn="l">
                <a:lnSpc>
                  <a:spcPct val="100000"/>
                </a:lnSpc>
                <a:defRPr/>
              </a:pPr>
              <a:r>
                <a:rPr lang="en-US" sz="1600"/>
                <a:t>Ensemble.</a:t>
              </a:r>
              <a:r>
                <a:rPr lang="en-US" sz="1600">
                  <a:solidFill>
                    <a:schemeClr val="bg2"/>
                  </a:solidFill>
                </a:rPr>
                <a:t> </a:t>
              </a:r>
              <a:r>
                <a:rPr lang="fr-FR" sz="1600">
                  <a:solidFill>
                    <a:schemeClr val="bg2"/>
                  </a:solidFill>
                </a:rPr>
                <a:t>Libérons vos énergies</a:t>
              </a:r>
            </a:p>
          </p:txBody>
        </p:sp>
        <p:pic>
          <p:nvPicPr>
            <p:cNvPr id="3079" name="Picture 23" descr="CBE_Label_RGB"/>
            <p:cNvPicPr>
              <a:picLocks noChangeAspect="1" noChangeArrowheads="1"/>
            </p:cNvPicPr>
            <p:nvPr userDrawn="1"/>
          </p:nvPicPr>
          <p:blipFill>
            <a:blip r:embed="rId14" cstate="print"/>
            <a:srcRect/>
            <a:stretch>
              <a:fillRect/>
            </a:stretch>
          </p:blipFill>
          <p:spPr bwMode="auto">
            <a:xfrm>
              <a:off x="3289" y="3492"/>
              <a:ext cx="419" cy="4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31" r:id="rId1"/>
    <p:sldLayoutId id="2147484132" r:id="rId2"/>
    <p:sldLayoutId id="2147484133" r:id="rId3"/>
    <p:sldLayoutId id="2147484134" r:id="rId4"/>
    <p:sldLayoutId id="2147484135" r:id="rId5"/>
    <p:sldLayoutId id="2147484136" r:id="rId6"/>
    <p:sldLayoutId id="2147484137" r:id="rId7"/>
    <p:sldLayoutId id="2147484138" r:id="rId8"/>
    <p:sldLayoutId id="2147484139" r:id="rId9"/>
    <p:sldLayoutId id="2147484140" r:id="rId10"/>
    <p:sldLayoutId id="2147484141" r:id="rId11"/>
  </p:sldLayoutIdLst>
  <p:transition spd="med">
    <p:wipe dir="r"/>
  </p:transition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fr-FR" sz="3200" b="1" dirty="0" smtClean="0">
                <a:solidFill>
                  <a:schemeClr val="tx2"/>
                </a:solidFill>
              </a:rPr>
              <a:t>Stage au sein du « Cluster SIG »</a:t>
            </a:r>
            <a:br>
              <a:rPr lang="fr-FR" sz="3200" b="1" dirty="0" smtClean="0">
                <a:solidFill>
                  <a:schemeClr val="tx2"/>
                </a:solidFill>
              </a:rPr>
            </a:br>
            <a:r>
              <a:rPr lang="fr-FR" sz="3200" b="1" dirty="0" smtClean="0">
                <a:solidFill>
                  <a:schemeClr val="tx2"/>
                </a:solidFill>
              </a:rPr>
              <a:t>Projet SERT</a:t>
            </a:r>
            <a:br>
              <a:rPr lang="fr-FR" sz="3200" b="1" dirty="0" smtClean="0">
                <a:solidFill>
                  <a:schemeClr val="tx2"/>
                </a:solidFill>
              </a:rPr>
            </a:br>
            <a:endParaRPr lang="fr-FR" sz="3200" b="1" dirty="0" smtClean="0">
              <a:solidFill>
                <a:schemeClr val="tx2"/>
              </a:solidFill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fr-FR" dirty="0" smtClean="0"/>
              <a:t>RANDRIAMAHARAVOMANANA Tantely</a:t>
            </a:r>
          </a:p>
          <a:p>
            <a:r>
              <a:rPr lang="fr-FR" dirty="0" smtClean="0"/>
              <a:t>Date : 07/06/2017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Plan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1143000"/>
            <a:ext cx="9144000" cy="5576888"/>
          </a:xfrm>
        </p:spPr>
        <p:txBody>
          <a:bodyPr/>
          <a:lstStyle/>
          <a:p>
            <a:endParaRPr lang="fr-FR" dirty="0" smtClean="0"/>
          </a:p>
          <a:p>
            <a:r>
              <a:rPr lang="fr-FR" dirty="0" smtClean="0"/>
              <a:t>Contexte du stage</a:t>
            </a:r>
          </a:p>
          <a:p>
            <a:r>
              <a:rPr lang="fr-FR" dirty="0" smtClean="0"/>
              <a:t>Sujet de stage</a:t>
            </a:r>
          </a:p>
          <a:p>
            <a:r>
              <a:rPr lang="fr-FR" dirty="0" smtClean="0"/>
              <a:t>Missions réalisées</a:t>
            </a:r>
          </a:p>
          <a:p>
            <a:r>
              <a:rPr lang="fr-FR" dirty="0" smtClean="0"/>
              <a:t>Expériences </a:t>
            </a:r>
            <a:r>
              <a:rPr lang="fr-FR" dirty="0" smtClean="0"/>
              <a:t>acquises</a:t>
            </a:r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/>
              <a:t>Contexte du </a:t>
            </a:r>
            <a:r>
              <a:rPr lang="fr-FR" dirty="0" smtClean="0"/>
              <a:t>stage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979054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r>
              <a:rPr lang="fr-FR" dirty="0" smtClean="0"/>
              <a:t>Stage de fin d’études</a:t>
            </a:r>
          </a:p>
          <a:p>
            <a:pPr lvl="1"/>
            <a:r>
              <a:rPr lang="fr-FR" dirty="0" smtClean="0"/>
              <a:t>Master 2 Architectures Logicielles (ALMA)</a:t>
            </a:r>
          </a:p>
          <a:p>
            <a:pPr lvl="1"/>
            <a:r>
              <a:rPr lang="fr-FR" dirty="0"/>
              <a:t>Faculté des sciences et techniques </a:t>
            </a:r>
            <a:r>
              <a:rPr lang="fr-FR" dirty="0" smtClean="0"/>
              <a:t>Nantes</a:t>
            </a:r>
          </a:p>
          <a:p>
            <a:r>
              <a:rPr lang="fr-FR" dirty="0" smtClean="0"/>
              <a:t>Durée du stage (6 mois)</a:t>
            </a:r>
          </a:p>
          <a:p>
            <a:pPr lvl="1"/>
            <a:r>
              <a:rPr lang="fr-FR" dirty="0" smtClean="0"/>
              <a:t>Début: 09 janvier 2017 </a:t>
            </a:r>
          </a:p>
          <a:p>
            <a:pPr lvl="1"/>
            <a:r>
              <a:rPr lang="fr-FR" dirty="0" smtClean="0"/>
              <a:t>Fin: 07 juillet </a:t>
            </a:r>
            <a:r>
              <a:rPr lang="fr-FR" dirty="0" smtClean="0"/>
              <a:t>2017</a:t>
            </a:r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158501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/>
              <a:t>Contexte du </a:t>
            </a:r>
            <a:r>
              <a:rPr lang="fr-FR" dirty="0" smtClean="0"/>
              <a:t>stage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655" y="674255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r>
              <a:rPr lang="fr-FR" dirty="0"/>
              <a:t>Intégration au sein du « Cluster SIG »</a:t>
            </a:r>
          </a:p>
          <a:p>
            <a:pPr lvl="1"/>
            <a:r>
              <a:rPr lang="fr-FR" dirty="0" smtClean="0"/>
              <a:t>Maitre de stage: </a:t>
            </a:r>
            <a:r>
              <a:rPr lang="fr-FR" dirty="0"/>
              <a:t>Xavier DESNOYERS</a:t>
            </a:r>
            <a:endParaRPr lang="fr-FR" dirty="0" smtClean="0"/>
          </a:p>
          <a:p>
            <a:pPr lvl="1"/>
            <a:r>
              <a:rPr lang="fr-FR" dirty="0" smtClean="0"/>
              <a:t>Chef de projet</a:t>
            </a:r>
            <a:r>
              <a:rPr lang="fr-FR" dirty="0"/>
              <a:t>: Pascal </a:t>
            </a:r>
            <a:r>
              <a:rPr lang="fr-FR" dirty="0" smtClean="0"/>
              <a:t>BOENNEC</a:t>
            </a:r>
            <a:endParaRPr lang="fr-FR" dirty="0" smtClean="0"/>
          </a:p>
          <a:p>
            <a:r>
              <a:rPr lang="fr-FR" dirty="0" smtClean="0"/>
              <a:t>Intégration à l’équipe du projet SERT </a:t>
            </a:r>
          </a:p>
          <a:p>
            <a:pPr lvl="1"/>
            <a:r>
              <a:rPr lang="fr-FR" dirty="0" smtClean="0"/>
              <a:t>Effectif : 7 personnes</a:t>
            </a:r>
          </a:p>
          <a:p>
            <a:pPr lvl="1"/>
            <a:r>
              <a:rPr lang="fr-FR" dirty="0" smtClean="0"/>
              <a:t>Client : Ministère de la défense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076093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S</a:t>
            </a:r>
            <a:r>
              <a:rPr lang="fr-FR" dirty="0"/>
              <a:t>ujet de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«</a:t>
            </a:r>
            <a:r>
              <a:rPr lang="fr-FR" dirty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 Réalisation </a:t>
            </a: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d’une version </a:t>
            </a:r>
            <a:r>
              <a:rPr lang="fr-FR" dirty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majeure d’une application cartographique </a:t>
            </a: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»</a:t>
            </a:r>
          </a:p>
          <a:p>
            <a:pPr marL="257175" indent="-257175"/>
            <a:r>
              <a:rPr lang="fr-FR" sz="2400" dirty="0" smtClean="0"/>
              <a:t>Projet SERT (</a:t>
            </a:r>
            <a:r>
              <a:rPr lang="fr-FR" sz="2400" dirty="0"/>
              <a:t>Système d’Edition des régimes de champs de </a:t>
            </a:r>
            <a:r>
              <a:rPr lang="fr-FR" sz="2400" dirty="0" smtClean="0"/>
              <a:t>Tir)</a:t>
            </a:r>
          </a:p>
          <a:p>
            <a:pPr lvl="1"/>
            <a:r>
              <a:rPr lang="fr-FR" dirty="0" smtClean="0"/>
              <a:t>Existant : version 1.1.6</a:t>
            </a:r>
          </a:p>
          <a:p>
            <a:pPr lvl="1"/>
            <a:r>
              <a:rPr lang="fr-FR" dirty="0" smtClean="0"/>
              <a:t>Objectif : Réalisation de la version 2.0</a:t>
            </a:r>
          </a:p>
          <a:p>
            <a:pPr lvl="1"/>
            <a:r>
              <a:rPr lang="fr-FR" dirty="0" smtClean="0"/>
              <a:t>Phases du projet : </a:t>
            </a:r>
          </a:p>
          <a:p>
            <a:pPr marL="1162050" lvl="2"/>
            <a:r>
              <a:rPr lang="fr-FR" sz="2000" dirty="0" smtClean="0"/>
              <a:t>Validation d’un cahier de charge après recueille des besoins,</a:t>
            </a:r>
          </a:p>
          <a:p>
            <a:pPr marL="1162050" lvl="2"/>
            <a:r>
              <a:rPr lang="fr-FR" sz="2000" b="1" dirty="0" smtClean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Conception des </a:t>
            </a:r>
            <a:r>
              <a:rPr lang="fr-FR" sz="2000" b="1" smtClean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nouvelles spécifications,</a:t>
            </a:r>
            <a:endParaRPr lang="fr-FR" sz="2000" b="1" dirty="0" smtClean="0">
              <a:ln>
                <a:solidFill>
                  <a:schemeClr val="accent6">
                    <a:lumMod val="50000"/>
                  </a:schemeClr>
                </a:solidFill>
              </a:ln>
            </a:endParaRPr>
          </a:p>
          <a:p>
            <a:pPr marL="1162050" lvl="2"/>
            <a:r>
              <a:rPr lang="fr-FR" sz="2000" b="1" dirty="0" smtClean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Développement,</a:t>
            </a:r>
            <a:endParaRPr lang="fr-FR" sz="2000" b="1" dirty="0" smtClean="0">
              <a:ln>
                <a:solidFill>
                  <a:schemeClr val="accent6">
                    <a:lumMod val="50000"/>
                  </a:schemeClr>
                </a:solidFill>
              </a:ln>
            </a:endParaRPr>
          </a:p>
          <a:p>
            <a:pPr marL="1162050" lvl="2"/>
            <a:r>
              <a:rPr lang="fr-FR" sz="2000" b="1" dirty="0" smtClean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Tests et corrections,</a:t>
            </a:r>
          </a:p>
          <a:p>
            <a:pPr marL="1162050" lvl="2"/>
            <a:r>
              <a:rPr lang="fr-FR" sz="2000" dirty="0" smtClean="0"/>
              <a:t>Mise en recette, livraison et formation,</a:t>
            </a:r>
          </a:p>
          <a:p>
            <a:pPr marL="1162050" lvl="2"/>
            <a:r>
              <a:rPr lang="fr-FR" sz="2000" b="1" dirty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Corrections des retours </a:t>
            </a:r>
            <a:r>
              <a:rPr lang="fr-FR" sz="2000" b="1" dirty="0" smtClean="0">
                <a:ln>
                  <a:solidFill>
                    <a:schemeClr val="accent6">
                      <a:lumMod val="50000"/>
                    </a:schemeClr>
                  </a:solidFill>
                </a:ln>
              </a:rPr>
              <a:t>client.</a:t>
            </a:r>
            <a:endParaRPr lang="fr-FR" sz="2000" b="1" dirty="0">
              <a:ln>
                <a:solidFill>
                  <a:schemeClr val="accent6">
                    <a:lumMod val="50000"/>
                  </a:schemeClr>
                </a:solidFill>
              </a:ln>
            </a:endParaRPr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977977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 l’IHM avec Java FX</a:t>
            </a:r>
          </a:p>
          <a:p>
            <a:pPr marL="257175" indent="-257175"/>
            <a:r>
              <a:rPr lang="fr-FR" sz="2400" dirty="0" smtClean="0"/>
              <a:t>Pourquoi la migration de swing vers Java FX?</a:t>
            </a:r>
          </a:p>
          <a:p>
            <a:pPr marL="790575" lvl="1" indent="-257175"/>
            <a:r>
              <a:rPr lang="fr-FR" sz="2000" dirty="0" smtClean="0"/>
              <a:t>La future version d’</a:t>
            </a:r>
            <a:r>
              <a:rPr lang="fr-FR" sz="2000" dirty="0" err="1" smtClean="0"/>
              <a:t>ArcGIS</a:t>
            </a:r>
            <a:r>
              <a:rPr lang="fr-FR" sz="2000" dirty="0" smtClean="0"/>
              <a:t> </a:t>
            </a:r>
            <a:r>
              <a:rPr lang="fr-FR" sz="2000" dirty="0" err="1"/>
              <a:t>runtime</a:t>
            </a:r>
            <a:r>
              <a:rPr lang="fr-FR" sz="2000" dirty="0"/>
              <a:t> </a:t>
            </a:r>
            <a:r>
              <a:rPr lang="fr-FR" sz="2000" dirty="0" smtClean="0"/>
              <a:t>(100) s’intègre avec </a:t>
            </a:r>
            <a:r>
              <a:rPr lang="fr-FR" sz="2000" dirty="0" err="1" smtClean="0"/>
              <a:t>JavaFx</a:t>
            </a:r>
            <a:r>
              <a:rPr lang="fr-FR" sz="2000" dirty="0" smtClean="0"/>
              <a:t>.</a:t>
            </a:r>
          </a:p>
          <a:p>
            <a:pPr marL="790575" lvl="1" indent="-257175"/>
            <a:r>
              <a:rPr lang="fr-FR" sz="2000" dirty="0" smtClean="0"/>
              <a:t>Amélioration continue</a:t>
            </a:r>
          </a:p>
          <a:p>
            <a:pPr marL="257175" indent="-257175"/>
            <a:r>
              <a:rPr lang="fr-FR" sz="2400" dirty="0"/>
              <a:t>Montée en </a:t>
            </a:r>
            <a:r>
              <a:rPr lang="fr-FR" sz="2400" dirty="0" smtClean="0"/>
              <a:t>compétence sur SERT</a:t>
            </a:r>
          </a:p>
          <a:p>
            <a:pPr marL="790575" lvl="1" indent="-257175"/>
            <a:r>
              <a:rPr lang="fr-FR" sz="2000" dirty="0" smtClean="0"/>
              <a:t>Côté fonctionnel (documentations et tests)</a:t>
            </a:r>
          </a:p>
          <a:p>
            <a:pPr marL="790575" lvl="1" indent="-257175"/>
            <a:r>
              <a:rPr lang="fr-FR" sz="2000" dirty="0" smtClean="0"/>
              <a:t>Outils et environnement de développement </a:t>
            </a:r>
          </a:p>
          <a:p>
            <a:pPr marL="790575" lvl="1" indent="-257175"/>
            <a:r>
              <a:rPr lang="fr-FR" sz="2000" dirty="0" smtClean="0"/>
              <a:t>Etudes de la source de projet</a:t>
            </a:r>
            <a:endParaRPr lang="fr-FR" sz="2400" dirty="0" smtClean="0"/>
          </a:p>
          <a:p>
            <a:pPr marL="257175" indent="-257175"/>
            <a:r>
              <a:rPr lang="fr-FR" sz="2400" dirty="0" smtClean="0"/>
              <a:t>Montée en compétence sur l’intégration de </a:t>
            </a:r>
            <a:r>
              <a:rPr lang="fr-FR" sz="2400" dirty="0" err="1" smtClean="0"/>
              <a:t>JavaFx</a:t>
            </a:r>
            <a:r>
              <a:rPr lang="fr-FR" sz="2400" dirty="0" smtClean="0"/>
              <a:t>/Swing</a:t>
            </a:r>
          </a:p>
          <a:p>
            <a:pPr marL="790575" lvl="1" indent="-257175"/>
            <a:r>
              <a:rPr lang="fr-FR" sz="2000" dirty="0" smtClean="0"/>
              <a:t>POC</a:t>
            </a:r>
          </a:p>
          <a:p>
            <a:pPr marL="790575" lvl="1" indent="-257175"/>
            <a:r>
              <a:rPr lang="fr-FR" sz="2000" dirty="0" smtClean="0"/>
              <a:t>Développement </a:t>
            </a:r>
            <a:r>
              <a:rPr lang="fr-FR" sz="2000" dirty="0"/>
              <a:t>de </a:t>
            </a:r>
            <a:r>
              <a:rPr lang="fr-FR" sz="2000" dirty="0" smtClean="0"/>
              <a:t>nouvelles </a:t>
            </a:r>
            <a:r>
              <a:rPr lang="fr-FR" sz="2000" dirty="0"/>
              <a:t>vues en </a:t>
            </a:r>
            <a:r>
              <a:rPr lang="fr-FR" sz="2000" dirty="0" err="1" smtClean="0"/>
              <a:t>JavaFx</a:t>
            </a:r>
            <a:r>
              <a:rPr lang="fr-FR" sz="2000" dirty="0" smtClean="0"/>
              <a:t>,</a:t>
            </a:r>
          </a:p>
          <a:p>
            <a:pPr marL="790575" lvl="1" indent="-257175"/>
            <a:r>
              <a:rPr lang="fr-FR" sz="2000" dirty="0" smtClean="0"/>
              <a:t>Refonte de certaines vues Swing en </a:t>
            </a:r>
            <a:r>
              <a:rPr lang="fr-FR" sz="2000" dirty="0" err="1" smtClean="0"/>
              <a:t>JavaFx</a:t>
            </a:r>
            <a:r>
              <a:rPr lang="fr-FR" sz="2000" dirty="0" smtClean="0"/>
              <a:t>.</a:t>
            </a:r>
          </a:p>
          <a:p>
            <a:pPr marL="790575" lvl="1" indent="-257175"/>
            <a:endParaRPr lang="fr-FR" sz="2000" dirty="0"/>
          </a:p>
          <a:p>
            <a:pPr marL="533400" lvl="1" indent="0">
              <a:buNone/>
            </a:pPr>
            <a:endParaRPr lang="fr-FR" sz="2000" dirty="0" smtClean="0"/>
          </a:p>
          <a:p>
            <a:pPr marL="533400" lvl="1" indent="0">
              <a:buNone/>
            </a:pP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16779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 la gestion des utilisateurs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3" y="1549400"/>
            <a:ext cx="9077717" cy="517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94943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 la gestion des </a:t>
            </a: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groupes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1" y="1714500"/>
            <a:ext cx="8890000" cy="486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206718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des tableaux de bord </a:t>
            </a:r>
          </a:p>
          <a:p>
            <a:pPr marL="190500" indent="0" algn="ctr">
              <a:buNone/>
            </a:pPr>
            <a:r>
              <a:rPr lang="fr-FR" sz="1800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(utilisateur rédacteur de programmes)</a:t>
            </a:r>
            <a:endParaRPr lang="fr-FR" sz="14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3524" y="1870551"/>
            <a:ext cx="8616951" cy="5356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54462574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 gestion des « Alertes »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43" y="1549399"/>
            <a:ext cx="8897088" cy="3141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342751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Développement de gestion des « Alertes »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1162050" lvl="2"/>
            <a:endParaRPr lang="fr-FR" sz="2000" dirty="0" smtClean="0"/>
          </a:p>
          <a:p>
            <a:pPr lvl="2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0" y="1549400"/>
            <a:ext cx="8973499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096639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Tests 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449263" indent="-257175"/>
            <a:r>
              <a:rPr lang="fr-FR" sz="2400" dirty="0" smtClean="0"/>
              <a:t>Tests d’intégration</a:t>
            </a:r>
            <a:endParaRPr lang="fr-FR" sz="2400" dirty="0"/>
          </a:p>
          <a:p>
            <a:pPr marL="790575" lvl="1" indent="-257175"/>
            <a:r>
              <a:rPr lang="fr-FR" sz="2000" dirty="0" smtClean="0"/>
              <a:t>Effectués après la phase de développement</a:t>
            </a:r>
          </a:p>
          <a:p>
            <a:pPr marL="790575" lvl="1" indent="-257175"/>
            <a:r>
              <a:rPr lang="fr-FR" sz="2000" dirty="0" smtClean="0"/>
              <a:t>Déploiement sur l’environnement d’intégration</a:t>
            </a:r>
          </a:p>
          <a:p>
            <a:pPr marL="790575" lvl="1" indent="-257175"/>
            <a:r>
              <a:rPr lang="fr-FR" sz="2000" dirty="0" smtClean="0"/>
              <a:t>Création des scénarios de test sur Test </a:t>
            </a:r>
            <a:r>
              <a:rPr lang="fr-FR" sz="2000" dirty="0" err="1" smtClean="0"/>
              <a:t>Lab</a:t>
            </a:r>
            <a:r>
              <a:rPr lang="fr-FR" sz="2000" dirty="0" smtClean="0"/>
              <a:t> de HP ALM (Application </a:t>
            </a:r>
            <a:r>
              <a:rPr lang="fr-FR" sz="2000" dirty="0" err="1" smtClean="0"/>
              <a:t>Lifecycle</a:t>
            </a:r>
            <a:r>
              <a:rPr lang="fr-FR" sz="2000" dirty="0" smtClean="0"/>
              <a:t> Management)</a:t>
            </a:r>
          </a:p>
          <a:p>
            <a:pPr marL="790575" lvl="1" indent="-257175"/>
            <a:r>
              <a:rPr lang="fr-FR" sz="2000" dirty="0" smtClean="0"/>
              <a:t>Réalisation des scénarios (anciens et nouveaux) sur l’</a:t>
            </a:r>
            <a:r>
              <a:rPr lang="fr-FR" sz="2000" dirty="0" err="1" smtClean="0"/>
              <a:t>env</a:t>
            </a:r>
            <a:r>
              <a:rPr lang="fr-FR" sz="2000" dirty="0" smtClean="0"/>
              <a:t> de l’intégration.</a:t>
            </a:r>
            <a:endParaRPr lang="fr-FR" sz="2000" dirty="0"/>
          </a:p>
          <a:p>
            <a:pPr marL="790575" lvl="1" indent="-257175"/>
            <a:r>
              <a:rPr lang="fr-FR" sz="2000" dirty="0" smtClean="0"/>
              <a:t>Saisie des anomalies sur </a:t>
            </a:r>
            <a:r>
              <a:rPr lang="fr-FR" sz="2000" dirty="0" err="1" smtClean="0"/>
              <a:t>TeamForge</a:t>
            </a:r>
            <a:endParaRPr lang="fr-FR" sz="2000" dirty="0"/>
          </a:p>
          <a:p>
            <a:pPr marL="1301750" lvl="2" indent="0">
              <a:buNone/>
            </a:pPr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21591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Tests 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449263" indent="-257175"/>
            <a:r>
              <a:rPr lang="fr-FR" sz="2400" dirty="0" smtClean="0"/>
              <a:t>Tests de validation</a:t>
            </a:r>
            <a:endParaRPr lang="fr-FR" sz="2400" dirty="0"/>
          </a:p>
          <a:p>
            <a:pPr marL="790575" lvl="1" indent="-257175"/>
            <a:r>
              <a:rPr lang="fr-FR" sz="2000" dirty="0" smtClean="0"/>
              <a:t>Effectués après la phase d’intégration</a:t>
            </a:r>
          </a:p>
          <a:p>
            <a:pPr marL="790575" lvl="1" indent="-257175"/>
            <a:r>
              <a:rPr lang="fr-FR" sz="2000" dirty="0" smtClean="0"/>
              <a:t>Déploiement sur l’environnement de validation (iso environnement recette du client)</a:t>
            </a:r>
          </a:p>
          <a:p>
            <a:pPr marL="790575" lvl="1" indent="-257175"/>
            <a:r>
              <a:rPr lang="fr-FR" sz="2000" dirty="0" smtClean="0"/>
              <a:t>Réalisation des scénarios de tests (anciens et nouveaux) sur l’environnement de validation.</a:t>
            </a:r>
            <a:endParaRPr lang="fr-FR" sz="2000" dirty="0"/>
          </a:p>
          <a:p>
            <a:pPr marL="790575" lvl="1" indent="-257175"/>
            <a:r>
              <a:rPr lang="fr-FR" sz="2000" dirty="0" smtClean="0"/>
              <a:t>Saisie des anomalies sur </a:t>
            </a:r>
            <a:r>
              <a:rPr lang="fr-FR" sz="2000" dirty="0" err="1" smtClean="0"/>
              <a:t>TeamForge</a:t>
            </a:r>
            <a:endParaRPr lang="fr-FR" sz="2000" dirty="0"/>
          </a:p>
          <a:p>
            <a:pPr marL="1301750" lvl="2" indent="0">
              <a:buNone/>
            </a:pPr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185047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fr-FR" dirty="0" smtClean="0"/>
              <a:t>Missions réalisées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0500" indent="0" algn="ctr">
              <a:buNone/>
            </a:pPr>
            <a:r>
              <a:rPr lang="fr-FR" dirty="0" smtClean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Corrections des anomalies </a:t>
            </a:r>
            <a:endParaRPr lang="fr-FR" sz="2000" dirty="0"/>
          </a:p>
          <a:p>
            <a:pPr marL="790575" lvl="1" indent="-257175"/>
            <a:endParaRPr lang="fr-FR" sz="1200" dirty="0" smtClean="0"/>
          </a:p>
          <a:p>
            <a:pPr marL="1162050" lvl="2"/>
            <a:endParaRPr lang="fr-FR" sz="2000" dirty="0" smtClean="0"/>
          </a:p>
          <a:p>
            <a:pPr marL="449263" indent="-257175"/>
            <a:r>
              <a:rPr lang="fr-FR" sz="2400" dirty="0" smtClean="0"/>
              <a:t>Corrections des anomalies après les tests</a:t>
            </a:r>
            <a:endParaRPr lang="fr-FR" sz="2400" dirty="0"/>
          </a:p>
          <a:p>
            <a:pPr marL="790575" lvl="1" indent="-257175"/>
            <a:r>
              <a:rPr lang="fr-FR" sz="2000" dirty="0" smtClean="0"/>
              <a:t>Les anomalies sont sur </a:t>
            </a:r>
            <a:r>
              <a:rPr lang="fr-FR" sz="2000" dirty="0" err="1" smtClean="0"/>
              <a:t>TeamForge</a:t>
            </a:r>
            <a:r>
              <a:rPr lang="fr-FR" sz="2000" dirty="0" smtClean="0"/>
              <a:t> et assignées à des correcteurs</a:t>
            </a:r>
          </a:p>
          <a:p>
            <a:pPr marL="790575" lvl="1" indent="-257175"/>
            <a:r>
              <a:rPr lang="fr-FR" sz="2000" dirty="0" smtClean="0"/>
              <a:t>Test de reproduction des anomalies</a:t>
            </a:r>
          </a:p>
          <a:p>
            <a:pPr marL="790575" lvl="1" indent="-257175"/>
            <a:r>
              <a:rPr lang="fr-FR" sz="2000" dirty="0" smtClean="0"/>
              <a:t>Suivre le workflow de gestion des anomalies sur </a:t>
            </a:r>
            <a:r>
              <a:rPr lang="fr-FR" sz="2000" dirty="0" err="1" smtClean="0"/>
              <a:t>TeamForge</a:t>
            </a:r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741213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pPr marL="190500"/>
            <a:r>
              <a:rPr lang="fr-FR" dirty="0">
                <a:ln>
                  <a:solidFill>
                    <a:schemeClr val="bg1">
                      <a:lumMod val="75000"/>
                    </a:schemeClr>
                  </a:solidFill>
                </a:ln>
              </a:rPr>
              <a:t>Expériences acquises</a:t>
            </a:r>
            <a:endParaRPr lang="fr-FR" sz="280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0" y="406400"/>
            <a:ext cx="9144000" cy="6313488"/>
          </a:xfrm>
        </p:spPr>
        <p:txBody>
          <a:bodyPr/>
          <a:lstStyle/>
          <a:p>
            <a:endParaRPr lang="fr-FR" dirty="0" smtClean="0"/>
          </a:p>
          <a:p>
            <a:pPr marL="192088" indent="0">
              <a:buNone/>
            </a:pPr>
            <a:endParaRPr lang="fr-FR" sz="2400" dirty="0" smtClean="0"/>
          </a:p>
          <a:p>
            <a:pPr marL="449263" indent="-257175"/>
            <a:r>
              <a:rPr lang="fr-FR" sz="2400" dirty="0" smtClean="0"/>
              <a:t>Travailler en milieu professionnel sur des projets clients</a:t>
            </a:r>
          </a:p>
          <a:p>
            <a:pPr marL="449263" indent="-257175"/>
            <a:r>
              <a:rPr lang="fr-FR" sz="2400" dirty="0" smtClean="0"/>
              <a:t>Travailler au sein d’une équipe,</a:t>
            </a:r>
          </a:p>
          <a:p>
            <a:pPr marL="449263" indent="-257175"/>
            <a:r>
              <a:rPr lang="fr-FR" sz="2400" dirty="0" smtClean="0"/>
              <a:t>Monté en compétence sur:</a:t>
            </a:r>
          </a:p>
          <a:p>
            <a:pPr marL="982663" lvl="1" indent="-257175"/>
            <a:r>
              <a:rPr lang="fr-FR" dirty="0"/>
              <a:t>t</a:t>
            </a:r>
            <a:r>
              <a:rPr lang="fr-FR" dirty="0" smtClean="0"/>
              <a:t>echnique d’analyse et de conception,</a:t>
            </a:r>
          </a:p>
          <a:p>
            <a:pPr marL="982663" lvl="1" indent="-257175"/>
            <a:r>
              <a:rPr lang="fr-FR" dirty="0" smtClean="0"/>
              <a:t>technologies : </a:t>
            </a:r>
            <a:r>
              <a:rPr lang="fr-FR" dirty="0" err="1" smtClean="0"/>
              <a:t>JavaFx</a:t>
            </a:r>
            <a:r>
              <a:rPr lang="fr-FR" dirty="0" smtClean="0"/>
              <a:t>, Swing, </a:t>
            </a:r>
            <a:r>
              <a:rPr lang="fr-FR" dirty="0" err="1" smtClean="0"/>
              <a:t>ArcGIS</a:t>
            </a:r>
            <a:r>
              <a:rPr lang="fr-FR" dirty="0" smtClean="0"/>
              <a:t> </a:t>
            </a:r>
            <a:r>
              <a:rPr lang="fr-FR" dirty="0" err="1" smtClean="0"/>
              <a:t>runtime</a:t>
            </a:r>
            <a:r>
              <a:rPr lang="fr-FR" dirty="0" smtClean="0"/>
              <a:t>, REST,…</a:t>
            </a:r>
          </a:p>
          <a:p>
            <a:pPr marL="982663" lvl="1" indent="-257175"/>
            <a:r>
              <a:rPr lang="fr-FR" dirty="0"/>
              <a:t>e</a:t>
            </a:r>
            <a:r>
              <a:rPr lang="fr-FR" dirty="0" smtClean="0"/>
              <a:t>nvironnement d’intégration continue : </a:t>
            </a:r>
            <a:r>
              <a:rPr lang="fr-FR" dirty="0" err="1" smtClean="0"/>
              <a:t>jenkins</a:t>
            </a:r>
            <a:endParaRPr lang="fr-FR" dirty="0" smtClean="0"/>
          </a:p>
          <a:p>
            <a:pPr marL="982663" lvl="1" indent="-257175"/>
            <a:r>
              <a:rPr lang="fr-FR" dirty="0" smtClean="0"/>
              <a:t>outils : HP ALM, </a:t>
            </a:r>
            <a:r>
              <a:rPr lang="fr-FR" dirty="0" err="1" smtClean="0"/>
              <a:t>TeamForge</a:t>
            </a:r>
            <a:r>
              <a:rPr lang="fr-FR" dirty="0" smtClean="0"/>
              <a:t>, SVN, …</a:t>
            </a:r>
          </a:p>
          <a:p>
            <a:pPr marL="725488" lvl="1" indent="0">
              <a:buNone/>
            </a:pPr>
            <a:endParaRPr lang="fr-FR" dirty="0" smtClean="0"/>
          </a:p>
          <a:p>
            <a:pPr marL="982663" lvl="1" indent="-257175"/>
            <a:endParaRPr lang="fr-FR" dirty="0" smtClean="0"/>
          </a:p>
          <a:p>
            <a:pPr lvl="2"/>
            <a:endParaRPr lang="fr-FR" dirty="0" smtClean="0"/>
          </a:p>
          <a:p>
            <a:pPr lvl="1"/>
            <a:endParaRPr lang="fr-FR" dirty="0" smtClean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71844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-254000" y="1848644"/>
            <a:ext cx="9144000" cy="1143000"/>
          </a:xfrm>
        </p:spPr>
        <p:txBody>
          <a:bodyPr/>
          <a:lstStyle/>
          <a:p>
            <a:r>
              <a:rPr lang="fr-FR" dirty="0" smtClean="0"/>
              <a:t>Merci de votre attention!</a:t>
            </a:r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294967295"/>
          </p:nvPr>
        </p:nvSpPr>
        <p:spPr>
          <a:xfrm>
            <a:off x="8890000" y="6719888"/>
            <a:ext cx="254000" cy="103187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E568C3C-EF22-4802-8EA0-CC18C1DC66F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657758"/>
      </p:ext>
    </p:extLst>
  </p:cSld>
  <p:clrMapOvr>
    <a:masterClrMapping/>
  </p:clrMapOvr>
  <p:transition spd="med">
    <p:wipe dir="r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ntents &amp; Section break">
  <a:themeElements>
    <a:clrScheme name="Contents &amp; Section break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tents &amp; Section break">
      <a:majorFont>
        <a:latin typeface="Arial Narrow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tx2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tx2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tents &amp; Section break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tx2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tx2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44090</TotalTime>
  <Words>536</Words>
  <Application>Microsoft Office PowerPoint</Application>
  <PresentationFormat>Affichage à l'écran (4:3)</PresentationFormat>
  <Paragraphs>192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Arial Narrow</vt:lpstr>
      <vt:lpstr>Wingdings</vt:lpstr>
      <vt:lpstr>Contents &amp; Section break</vt:lpstr>
      <vt:lpstr>Conception personnalisée</vt:lpstr>
      <vt:lpstr>Stage au sein du « Cluster SIG » Projet SERT </vt:lpstr>
      <vt:lpstr>Plan</vt:lpstr>
      <vt:lpstr>Contexte du stage</vt:lpstr>
      <vt:lpstr>Contexte du stage</vt:lpstr>
      <vt:lpstr>Sujet de stage</vt:lpstr>
      <vt:lpstr>Missions réalisées</vt:lpstr>
      <vt:lpstr>Missions réalisées</vt:lpstr>
      <vt:lpstr>Missions réalisées</vt:lpstr>
      <vt:lpstr>Missions réalisées</vt:lpstr>
      <vt:lpstr>Missions réalisées</vt:lpstr>
      <vt:lpstr>Missions réalisées</vt:lpstr>
      <vt:lpstr>Missions réalisées</vt:lpstr>
      <vt:lpstr>Missions réalisées</vt:lpstr>
      <vt:lpstr>Missions réalisées</vt:lpstr>
      <vt:lpstr>Expériences acquises</vt:lpstr>
      <vt:lpstr>Merci de votre attention!</vt:lpstr>
    </vt:vector>
  </TitlesOfParts>
  <Manager>Direction Industrielle</Manager>
  <Company>Capgemini France - Direction des Opérations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Support Module M2</dc:title>
  <dc:creator>Capgemini</dc:creator>
  <cp:keywords>Formation SERT</cp:keywords>
  <cp:lastModifiedBy>RANDRIAMAHARAVOMANANA, Tantely</cp:lastModifiedBy>
  <cp:revision>628</cp:revision>
  <dcterms:created xsi:type="dcterms:W3CDTF">2007-12-11T01:21:05Z</dcterms:created>
  <dcterms:modified xsi:type="dcterms:W3CDTF">2017-06-07T07:41:10Z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GroupName">
    <vt:lpwstr>Capgemini</vt:lpwstr>
  </property>
  <property fmtid="{D5CDD505-2E9C-101B-9397-08002B2CF9AE}" pid="3" name="DocCopyright">
    <vt:lpwstr>© 2010 Capgemini</vt:lpwstr>
  </property>
  <property fmtid="{D5CDD505-2E9C-101B-9397-08002B2CF9AE}" pid="4" name="DocMethodName">
    <vt:lpwstr>DELIVER2</vt:lpwstr>
  </property>
  <property fmtid="{D5CDD505-2E9C-101B-9397-08002B2CF9AE}" pid="5" name="DocRegionName">
    <vt:lpwstr>Capgemini France</vt:lpwstr>
  </property>
  <property fmtid="{D5CDD505-2E9C-101B-9397-08002B2CF9AE}" pid="6" name="DocEntityName">
    <vt:lpwstr>Direction des Opérations</vt:lpwstr>
  </property>
  <property fmtid="{D5CDD505-2E9C-101B-9397-08002B2CF9AE}" pid="7" name="DocUnitName">
    <vt:lpwstr>Direction Industrielle</vt:lpwstr>
  </property>
  <property fmtid="{D5CDD505-2E9C-101B-9397-08002B2CF9AE}" pid="8" name="DocUnitAdr1">
    <vt:lpwstr>Tour Europlaza</vt:lpwstr>
  </property>
  <property fmtid="{D5CDD505-2E9C-101B-9397-08002B2CF9AE}" pid="9" name="DocUnitAdr2">
    <vt:lpwstr>20 Avenue André PROTHIN</vt:lpwstr>
  </property>
  <property fmtid="{D5CDD505-2E9C-101B-9397-08002B2CF9AE}" pid="10" name="DocUnitAdr3">
    <vt:lpwstr>92927 LA DEFENSE CEDEX</vt:lpwstr>
  </property>
  <property fmtid="{D5CDD505-2E9C-101B-9397-08002B2CF9AE}" pid="11" name="DocUnitAdr4">
    <vt:lpwstr>FRANCE</vt:lpwstr>
  </property>
  <property fmtid="{D5CDD505-2E9C-101B-9397-08002B2CF9AE}" pid="12" name="DocUnitAdr5">
    <vt:lpwstr/>
  </property>
  <property fmtid="{D5CDD505-2E9C-101B-9397-08002B2CF9AE}" pid="13" name="DocUnitPhone">
    <vt:lpwstr>Tél. : +33(0)1 49 67 30 00</vt:lpwstr>
  </property>
  <property fmtid="{D5CDD505-2E9C-101B-9397-08002B2CF9AE}" pid="14" name="DocUnitFax">
    <vt:lpwstr>Fax : +33(0)1 49 67 30 01</vt:lpwstr>
  </property>
  <property fmtid="{D5CDD505-2E9C-101B-9397-08002B2CF9AE}" pid="15" name="DocUnitEmail">
    <vt:lpwstr>fr-indus.fr@capgemini.com</vt:lpwstr>
  </property>
  <property fmtid="{D5CDD505-2E9C-101B-9397-08002B2CF9AE}" pid="16" name="DocProjectName">
    <vt:lpwstr>Industrialisation</vt:lpwstr>
  </property>
  <property fmtid="{D5CDD505-2E9C-101B-9397-08002B2CF9AE}" pid="17" name="DocProjectStreamName">
    <vt:lpwstr>Common Set Of Tools</vt:lpwstr>
  </property>
  <property fmtid="{D5CDD505-2E9C-101B-9397-08002B2CF9AE}" pid="18" name="DocTitle">
    <vt:lpwstr>Réunion de lancement client</vt:lpwstr>
  </property>
  <property fmtid="{D5CDD505-2E9C-101B-9397-08002B2CF9AE}" pid="19" name="DocType">
    <vt:lpwstr>Modèle</vt:lpwstr>
  </property>
  <property fmtid="{D5CDD505-2E9C-101B-9397-08002B2CF9AE}" pid="20" name="DocUsage">
    <vt:lpwstr>Usage interne</vt:lpwstr>
  </property>
  <property fmtid="{D5CDD505-2E9C-101B-9397-08002B2CF9AE}" pid="21" name="DocVersion">
    <vt:lpwstr>1.0.a</vt:lpwstr>
  </property>
  <property fmtid="{D5CDD505-2E9C-101B-9397-08002B2CF9AE}" pid="22" name="DocProjectId">
    <vt:lpwstr>CGF</vt:lpwstr>
  </property>
  <property fmtid="{D5CDD505-2E9C-101B-9397-08002B2CF9AE}" pid="23" name="DocProjectStreamId">
    <vt:lpwstr>INDUS</vt:lpwstr>
  </property>
  <property fmtid="{D5CDD505-2E9C-101B-9397-08002B2CF9AE}" pid="24" name="DocProjectSerialNumber">
    <vt:lpwstr>0039</vt:lpwstr>
  </property>
  <property fmtid="{D5CDD505-2E9C-101B-9397-08002B2CF9AE}" pid="25" name="DocURL">
    <vt:lpwstr>https://coconet2.capgemini.com/sf/go/doc1667022</vt:lpwstr>
  </property>
  <property fmtid="{D5CDD505-2E9C-101B-9397-08002B2CF9AE}" pid="26" name="DocUpdate">
    <vt:lpwstr>26/02/2010</vt:lpwstr>
  </property>
  <property fmtid="{D5CDD505-2E9C-101B-9397-08002B2CF9AE}" pid="27" name="DocCreation">
    <vt:lpwstr>26/02/2010</vt:lpwstr>
  </property>
  <property fmtid="{D5CDD505-2E9C-101B-9397-08002B2CF9AE}" pid="28" name="DocStatus">
    <vt:lpwstr>Approuvé</vt:lpwstr>
  </property>
  <property fmtid="{D5CDD505-2E9C-101B-9397-08002B2CF9AE}" pid="29" name="DocAuthor">
    <vt:lpwstr>Direction Industrielle</vt:lpwstr>
  </property>
  <property fmtid="{D5CDD505-2E9C-101B-9397-08002B2CF9AE}" pid="30" name="DocRef">
    <vt:lpwstr>CGF/INDUS/0039</vt:lpwstr>
  </property>
  <property fmtid="{D5CDD505-2E9C-101B-9397-08002B2CF9AE}" pid="31" name="DocValidationName">
    <vt:lpwstr>Jean-Etienne SALETTE</vt:lpwstr>
  </property>
  <property fmtid="{D5CDD505-2E9C-101B-9397-08002B2CF9AE}" pid="32" name="DocCustomerName">
    <vt:lpwstr/>
  </property>
  <property fmtid="{D5CDD505-2E9C-101B-9397-08002B2CF9AE}" pid="33" name="DocLanguage">
    <vt:lpwstr>FR</vt:lpwstr>
  </property>
  <property fmtid="{D5CDD505-2E9C-101B-9397-08002B2CF9AE}" pid="34" name="DocModelName">
    <vt:lpwstr>Réunion de lancement client</vt:lpwstr>
  </property>
  <property fmtid="{D5CDD505-2E9C-101B-9397-08002B2CF9AE}" pid="35" name="DocModelRef">
    <vt:lpwstr>CGF/INDUS/0039 FR</vt:lpwstr>
  </property>
  <property fmtid="{D5CDD505-2E9C-101B-9397-08002B2CF9AE}" pid="36" name="DocModelVersion">
    <vt:lpwstr>1.0.a</vt:lpwstr>
  </property>
  <property fmtid="{D5CDD505-2E9C-101B-9397-08002B2CF9AE}" pid="37" name="DocModelAdmin">
    <vt:lpwstr>Daniel HAJAGE</vt:lpwstr>
  </property>
</Properties>
</file>