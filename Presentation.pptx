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0" r:id="rId1"/>
    <p:sldMasterId id="2147483651" r:id="rId2"/>
  </p:sldMasterIdLst>
  <p:notesMasterIdLst>
    <p:notesMasterId r:id="rId19"/>
  </p:notesMasterIdLst>
  <p:handoutMasterIdLst>
    <p:handoutMasterId r:id="rId20"/>
  </p:handoutMasterIdLst>
  <p:sldIdLst>
    <p:sldId id="277" r:id="rId3"/>
    <p:sldId id="397" r:id="rId4"/>
    <p:sldId id="581" r:id="rId5"/>
    <p:sldId id="582" r:id="rId6"/>
    <p:sldId id="583" r:id="rId7"/>
    <p:sldId id="584" r:id="rId8"/>
    <p:sldId id="586" r:id="rId9"/>
    <p:sldId id="587" r:id="rId10"/>
    <p:sldId id="585" r:id="rId11"/>
    <p:sldId id="588" r:id="rId12"/>
    <p:sldId id="590" r:id="rId13"/>
    <p:sldId id="589" r:id="rId14"/>
    <p:sldId id="591" r:id="rId15"/>
    <p:sldId id="592" r:id="rId16"/>
    <p:sldId id="593" r:id="rId17"/>
    <p:sldId id="595" r:id="rId18"/>
  </p:sldIdLst>
  <p:sldSz cx="9144000" cy="6858000" type="screen4x3"/>
  <p:notesSz cx="6797675" cy="9926638"/>
  <p:defaultTextStyle>
    <a:defPPr>
      <a:defRPr lang="fr-FR"/>
    </a:defPPr>
    <a:lvl1pPr algn="ctr" rtl="0" eaLnBrk="0" fontAlgn="base" hangingPunct="0">
      <a:lnSpc>
        <a:spcPct val="85000"/>
      </a:lnSpc>
      <a:spcBef>
        <a:spcPct val="0"/>
      </a:spcBef>
      <a:spcAft>
        <a:spcPct val="0"/>
      </a:spcAft>
      <a:defRPr sz="2000" b="1" kern="1200">
        <a:solidFill>
          <a:schemeClr val="bg1"/>
        </a:solidFill>
        <a:latin typeface="Arial" charset="0"/>
        <a:ea typeface="+mn-ea"/>
        <a:cs typeface="Arial" charset="0"/>
      </a:defRPr>
    </a:lvl1pPr>
    <a:lvl2pPr marL="457200" algn="ctr" rtl="0" eaLnBrk="0" fontAlgn="base" hangingPunct="0">
      <a:lnSpc>
        <a:spcPct val="85000"/>
      </a:lnSpc>
      <a:spcBef>
        <a:spcPct val="0"/>
      </a:spcBef>
      <a:spcAft>
        <a:spcPct val="0"/>
      </a:spcAft>
      <a:defRPr sz="2000" b="1" kern="1200">
        <a:solidFill>
          <a:schemeClr val="bg1"/>
        </a:solidFill>
        <a:latin typeface="Arial" charset="0"/>
        <a:ea typeface="+mn-ea"/>
        <a:cs typeface="Arial" charset="0"/>
      </a:defRPr>
    </a:lvl2pPr>
    <a:lvl3pPr marL="914400" algn="ctr" rtl="0" eaLnBrk="0" fontAlgn="base" hangingPunct="0">
      <a:lnSpc>
        <a:spcPct val="85000"/>
      </a:lnSpc>
      <a:spcBef>
        <a:spcPct val="0"/>
      </a:spcBef>
      <a:spcAft>
        <a:spcPct val="0"/>
      </a:spcAft>
      <a:defRPr sz="2000" b="1" kern="1200">
        <a:solidFill>
          <a:schemeClr val="bg1"/>
        </a:solidFill>
        <a:latin typeface="Arial" charset="0"/>
        <a:ea typeface="+mn-ea"/>
        <a:cs typeface="Arial" charset="0"/>
      </a:defRPr>
    </a:lvl3pPr>
    <a:lvl4pPr marL="1371600" algn="ctr" rtl="0" eaLnBrk="0" fontAlgn="base" hangingPunct="0">
      <a:lnSpc>
        <a:spcPct val="85000"/>
      </a:lnSpc>
      <a:spcBef>
        <a:spcPct val="0"/>
      </a:spcBef>
      <a:spcAft>
        <a:spcPct val="0"/>
      </a:spcAft>
      <a:defRPr sz="2000" b="1" kern="1200">
        <a:solidFill>
          <a:schemeClr val="bg1"/>
        </a:solidFill>
        <a:latin typeface="Arial" charset="0"/>
        <a:ea typeface="+mn-ea"/>
        <a:cs typeface="Arial" charset="0"/>
      </a:defRPr>
    </a:lvl4pPr>
    <a:lvl5pPr marL="1828800" algn="ctr" rtl="0" eaLnBrk="0" fontAlgn="base" hangingPunct="0">
      <a:lnSpc>
        <a:spcPct val="85000"/>
      </a:lnSpc>
      <a:spcBef>
        <a:spcPct val="0"/>
      </a:spcBef>
      <a:spcAft>
        <a:spcPct val="0"/>
      </a:spcAft>
      <a:defRPr sz="2000" b="1" kern="1200">
        <a:solidFill>
          <a:schemeClr val="bg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2000" b="1" kern="1200">
        <a:solidFill>
          <a:schemeClr val="bg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sz="2000" b="1" kern="1200">
        <a:solidFill>
          <a:schemeClr val="bg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sz="2000" b="1" kern="1200">
        <a:solidFill>
          <a:schemeClr val="bg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sz="2000" b="1" kern="1200">
        <a:solidFill>
          <a:schemeClr val="bg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PETIT Ophélie (opetit)" initials="OPE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F14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2838BEF-8BB2-4498-84A7-C5851F593DF1}" styleName="Style moyen 4 - Accentuation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6F890A9-2807-4EBB-B81D-B2AA78EC7F39}" styleName="Style foncé 2 - Accentuation 5/Accentuation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5758FB7-9AC5-4552-8A53-C91805E547FA}" styleName="Style à thème 1 - Accentuation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4C1A8A3-306A-4EB7-A6B1-4F7E0EB9C5D6}" styleName="Style moyen 3 - Accentuation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DF18680-E054-41AD-8BC1-D1AEF772440D}" styleName="Style moyen 2 - Accentuation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90" autoAdjust="0"/>
    <p:restoredTop sz="92624" autoAdjust="0"/>
  </p:normalViewPr>
  <p:slideViewPr>
    <p:cSldViewPr snapToGrid="0">
      <p:cViewPr varScale="1">
        <p:scale>
          <a:sx n="79" d="100"/>
          <a:sy n="79" d="100"/>
        </p:scale>
        <p:origin x="1690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48" d="100"/>
          <a:sy n="48" d="100"/>
        </p:scale>
        <p:origin x="-2760" y="-58"/>
      </p:cViewPr>
      <p:guideLst>
        <p:guide orient="horz" pos="3126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commentAuthors" Target="commentAuthor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4813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68" tIns="45784" rIns="91568" bIns="45784" numCol="1" anchor="t" anchorCtr="0" compatLnSpc="1">
            <a:prstTxWarp prst="textNoShape">
              <a:avLst/>
            </a:prstTxWarp>
          </a:bodyPr>
          <a:lstStyle>
            <a:lvl1pPr algn="l" defTabSz="915988" eaLnBrk="1" hangingPunct="1">
              <a:lnSpc>
                <a:spcPct val="100000"/>
              </a:lnSpc>
              <a:defRPr sz="1200" b="0">
                <a:solidFill>
                  <a:schemeClr val="tx1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275" y="0"/>
            <a:ext cx="2944813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68" tIns="45784" rIns="91568" bIns="45784" numCol="1" anchor="t" anchorCtr="0" compatLnSpc="1">
            <a:prstTxWarp prst="textNoShape">
              <a:avLst/>
            </a:prstTxWarp>
          </a:bodyPr>
          <a:lstStyle>
            <a:lvl1pPr algn="r" defTabSz="915988" eaLnBrk="1" hangingPunct="1">
              <a:lnSpc>
                <a:spcPct val="100000"/>
              </a:lnSpc>
              <a:defRPr sz="1200" b="0">
                <a:solidFill>
                  <a:schemeClr val="tx1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BF680CDC-7CED-42AD-8616-E2173CB6E852}" type="datetime1">
              <a:rPr lang="fr-FR"/>
              <a:pPr>
                <a:defRPr/>
              </a:pPr>
              <a:t>06/07/2017</a:t>
            </a:fld>
            <a:endParaRPr lang="fr-FR"/>
          </a:p>
        </p:txBody>
      </p:sp>
      <p:sp>
        <p:nvSpPr>
          <p:cNvPr id="102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9750"/>
            <a:ext cx="2944813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68" tIns="45784" rIns="91568" bIns="45784" numCol="1" anchor="b" anchorCtr="0" compatLnSpc="1">
            <a:prstTxWarp prst="textNoShape">
              <a:avLst/>
            </a:prstTxWarp>
          </a:bodyPr>
          <a:lstStyle>
            <a:lvl1pPr algn="l" defTabSz="915988" eaLnBrk="1" hangingPunct="1">
              <a:lnSpc>
                <a:spcPct val="100000"/>
              </a:lnSpc>
              <a:defRPr sz="1200" b="0">
                <a:solidFill>
                  <a:schemeClr val="tx1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fr-FR" dirty="0"/>
              <a:t>© </a:t>
            </a:r>
            <a:r>
              <a:rPr lang="fr-FR" dirty="0" smtClean="0"/>
              <a:t>2014 Capgemini. </a:t>
            </a:r>
            <a:r>
              <a:rPr lang="fr-FR" dirty="0"/>
              <a:t>Tous droits réservés</a:t>
            </a:r>
          </a:p>
        </p:txBody>
      </p:sp>
      <p:sp>
        <p:nvSpPr>
          <p:cNvPr id="102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275" y="9429750"/>
            <a:ext cx="2944813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68" tIns="45784" rIns="91568" bIns="45784" numCol="1" anchor="b" anchorCtr="0" compatLnSpc="1">
            <a:prstTxWarp prst="textNoShape">
              <a:avLst/>
            </a:prstTxWarp>
          </a:bodyPr>
          <a:lstStyle>
            <a:lvl1pPr algn="r" defTabSz="915988" eaLnBrk="1" hangingPunct="1">
              <a:lnSpc>
                <a:spcPct val="100000"/>
              </a:lnSpc>
              <a:defRPr sz="1200" b="0">
                <a:solidFill>
                  <a:schemeClr val="tx1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C8B71ECE-4C3C-4C44-8353-EF6A906BDB56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832056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3852863" y="0"/>
            <a:ext cx="2944812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68" tIns="45784" rIns="91568" bIns="45784" numCol="1" anchor="t" anchorCtr="0" compatLnSpc="1">
            <a:prstTxWarp prst="textNoShape">
              <a:avLst/>
            </a:prstTxWarp>
          </a:bodyPr>
          <a:lstStyle>
            <a:lvl1pPr algn="l" defTabSz="915988" eaLnBrk="1" hangingPunct="1">
              <a:lnSpc>
                <a:spcPct val="100000"/>
              </a:lnSpc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2771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4538"/>
            <a:ext cx="4964113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225425" y="4714875"/>
            <a:ext cx="6346825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68" tIns="45784" rIns="91568" bIns="4578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</p:txBody>
      </p:sp>
      <p:sp>
        <p:nvSpPr>
          <p:cNvPr id="225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677400"/>
            <a:ext cx="2944813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68" tIns="45784" rIns="91568" bIns="45784" numCol="1" anchor="b" anchorCtr="0" compatLnSpc="1">
            <a:prstTxWarp prst="textNoShape">
              <a:avLst/>
            </a:prstTxWarp>
          </a:bodyPr>
          <a:lstStyle>
            <a:lvl1pPr algn="l" defTabSz="915988" eaLnBrk="1" hangingPunct="1">
              <a:lnSpc>
                <a:spcPct val="100000"/>
              </a:lnSpc>
              <a:defRPr sz="900" b="0">
                <a:solidFill>
                  <a:schemeClr val="tx1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fr-FR" dirty="0"/>
              <a:t>© </a:t>
            </a:r>
            <a:r>
              <a:rPr lang="fr-FR" dirty="0" smtClean="0"/>
              <a:t>2014 Capgemini. </a:t>
            </a:r>
            <a:r>
              <a:rPr lang="fr-FR" dirty="0"/>
              <a:t>Tous droits réservés</a:t>
            </a:r>
          </a:p>
        </p:txBody>
      </p:sp>
      <p:sp>
        <p:nvSpPr>
          <p:cNvPr id="225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275" y="9677400"/>
            <a:ext cx="2944813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68" tIns="45784" rIns="91568" bIns="45784" numCol="1" anchor="b" anchorCtr="0" compatLnSpc="1">
            <a:prstTxWarp prst="textNoShape">
              <a:avLst/>
            </a:prstTxWarp>
          </a:bodyPr>
          <a:lstStyle>
            <a:lvl1pPr algn="r" defTabSz="915988" eaLnBrk="1" hangingPunct="1">
              <a:lnSpc>
                <a:spcPct val="100000"/>
              </a:lnSpc>
              <a:defRPr sz="900" b="0">
                <a:solidFill>
                  <a:schemeClr val="tx1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EB7EC017-6924-4125-9F77-F40B40D87301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1629089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266700" indent="-87313" algn="l" rtl="0" eaLnBrk="0" fontAlgn="base" hangingPunct="0">
      <a:spcBef>
        <a:spcPct val="30000"/>
      </a:spcBef>
      <a:spcAft>
        <a:spcPct val="0"/>
      </a:spcAft>
      <a:buChar char="•"/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542925" indent="-96838" algn="l" rtl="0" eaLnBrk="0" fontAlgn="base" hangingPunct="0">
      <a:spcBef>
        <a:spcPct val="30000"/>
      </a:spcBef>
      <a:spcAft>
        <a:spcPct val="0"/>
      </a:spcAft>
      <a:buChar char="•"/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fr-FR" dirty="0" smtClean="0"/>
              <a:t>© 2014 Capgemini. Tous droits réservés</a:t>
            </a:r>
          </a:p>
        </p:txBody>
      </p:sp>
      <p:sp>
        <p:nvSpPr>
          <p:cNvPr id="3379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37DF3BE-3A54-45A9-ACD2-E8E4D9CD57D5}" type="slidenum">
              <a:rPr lang="fr-FR" smtClean="0"/>
              <a:pPr/>
              <a:t>1</a:t>
            </a:fld>
            <a:endParaRPr lang="fr-FR" smtClean="0"/>
          </a:p>
        </p:txBody>
      </p:sp>
      <p:sp>
        <p:nvSpPr>
          <p:cNvPr id="3379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345082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b="1" i="1" dirty="0">
              <a:solidFill>
                <a:srgbClr val="00B050"/>
              </a:solidFill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© 2014 Capgemini. Tous droits réservés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B7EC017-6924-4125-9F77-F40B40D87301}" type="slidenum">
              <a:rPr lang="fr-FR" smtClean="0"/>
              <a:pPr>
                <a:defRPr/>
              </a:pPr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682399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dirty="0" smtClean="0"/>
              <a:t>Intitulé: Concepteur – Développeur d’application SIG</a:t>
            </a:r>
          </a:p>
          <a:p>
            <a:endParaRPr lang="fr-FR" b="1" i="1" dirty="0">
              <a:solidFill>
                <a:srgbClr val="00B050"/>
              </a:solidFill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© 2014 Capgemini. Tous droits réservés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B7EC017-6924-4125-9F77-F40B40D87301}" type="slidenum">
              <a:rPr lang="fr-FR" smtClean="0"/>
              <a:pPr>
                <a:defRPr/>
              </a:pPr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893255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b="1" i="1" dirty="0">
              <a:solidFill>
                <a:srgbClr val="00B050"/>
              </a:solidFill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© 2014 Capgemini. Tous droits réservés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B7EC017-6924-4125-9F77-F40B40D87301}" type="slidenum">
              <a:rPr lang="fr-FR" smtClean="0"/>
              <a:pPr>
                <a:defRPr/>
              </a:pPr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66235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b="1" i="1" dirty="0">
              <a:solidFill>
                <a:srgbClr val="00B050"/>
              </a:solidFill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© 2014 Capgemini. Tous droits réservés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B7EC017-6924-4125-9F77-F40B40D87301}" type="slidenum">
              <a:rPr lang="fr-FR" smtClean="0"/>
              <a:pPr>
                <a:defRPr/>
              </a:pPr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61599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1" i="1" dirty="0" smtClean="0">
                <a:solidFill>
                  <a:srgbClr val="00B050"/>
                </a:solidFill>
              </a:rPr>
              <a:t>La migration</a:t>
            </a:r>
            <a:r>
              <a:rPr lang="fr-FR" b="1" i="1" baseline="0" dirty="0" smtClean="0">
                <a:solidFill>
                  <a:srgbClr val="00B050"/>
                </a:solidFill>
              </a:rPr>
              <a:t> vers </a:t>
            </a:r>
            <a:r>
              <a:rPr lang="fr-FR" b="1" i="1" baseline="0" dirty="0" err="1" smtClean="0">
                <a:solidFill>
                  <a:srgbClr val="00B050"/>
                </a:solidFill>
              </a:rPr>
              <a:t>javafx</a:t>
            </a:r>
            <a:r>
              <a:rPr lang="fr-FR" b="1" i="1" baseline="0" dirty="0" smtClean="0">
                <a:solidFill>
                  <a:srgbClr val="00B050"/>
                </a:solidFill>
              </a:rPr>
              <a:t> assure aussi l’amélioration continue de l’application.</a:t>
            </a:r>
            <a:endParaRPr lang="fr-FR" b="1" i="1" dirty="0">
              <a:solidFill>
                <a:srgbClr val="00B050"/>
              </a:solidFill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© 2014 Capgemini. Tous droits réservés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B7EC017-6924-4125-9F77-F40B40D87301}" type="slidenum">
              <a:rPr lang="fr-FR" smtClean="0"/>
              <a:pPr>
                <a:defRPr/>
              </a:pPr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83657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b="1" i="1" dirty="0">
              <a:solidFill>
                <a:srgbClr val="00B050"/>
              </a:solidFill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© 2014 Capgemini. Tous droits réservés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B7EC017-6924-4125-9F77-F40B40D87301}" type="slidenum">
              <a:rPr lang="fr-FR" smtClean="0"/>
              <a:pPr>
                <a:defRPr/>
              </a:pPr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200479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b="1" i="1" dirty="0">
              <a:solidFill>
                <a:srgbClr val="00B050"/>
              </a:solidFill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© 2014 Capgemini. Tous droits réservés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B7EC017-6924-4125-9F77-F40B40D87301}" type="slidenum">
              <a:rPr lang="fr-FR" smtClean="0"/>
              <a:pPr>
                <a:defRPr/>
              </a:pPr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286096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b="1" i="1" dirty="0">
              <a:solidFill>
                <a:srgbClr val="00B050"/>
              </a:solidFill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© 2014 Capgemini. Tous droits réservés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B7EC017-6924-4125-9F77-F40B40D87301}" type="slidenum">
              <a:rPr lang="fr-FR" smtClean="0"/>
              <a:pPr>
                <a:defRPr/>
              </a:pPr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623333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b="1" i="1" dirty="0">
              <a:solidFill>
                <a:srgbClr val="00B050"/>
              </a:solidFill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© 2014 Capgemini. Tous droits réservés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B7EC017-6924-4125-9F77-F40B40D87301}" type="slidenum">
              <a:rPr lang="fr-FR" smtClean="0"/>
              <a:pPr>
                <a:defRPr/>
              </a:pPr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860188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b="1" i="1" dirty="0">
              <a:solidFill>
                <a:srgbClr val="00B050"/>
              </a:solidFill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© 2014 Capgemini. Tous droits réservés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B7EC017-6924-4125-9F77-F40B40D87301}" type="slidenum">
              <a:rPr lang="fr-FR" smtClean="0"/>
              <a:pPr>
                <a:defRPr/>
              </a:pPr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643065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b="1" i="1" dirty="0">
              <a:solidFill>
                <a:srgbClr val="00B050"/>
              </a:solidFill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© 2014 Capgemini. Tous droits réservés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B7EC017-6924-4125-9F77-F40B40D87301}" type="slidenum">
              <a:rPr lang="fr-FR" smtClean="0"/>
              <a:pPr>
                <a:defRPr/>
              </a:pPr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558498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b="1" i="1" dirty="0">
              <a:solidFill>
                <a:srgbClr val="00B050"/>
              </a:solidFill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© 2014 Capgemini. Tous droits réservés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B7EC017-6924-4125-9F77-F40B40D87301}" type="slidenum">
              <a:rPr lang="fr-FR" smtClean="0"/>
              <a:pPr>
                <a:defRPr/>
              </a:pPr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170610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b="1" i="1" dirty="0">
              <a:solidFill>
                <a:srgbClr val="00B050"/>
              </a:solidFill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© 2014 Capgemini. Tous droits réservés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B7EC017-6924-4125-9F77-F40B40D87301}" type="slidenum">
              <a:rPr lang="fr-FR" smtClean="0"/>
              <a:pPr>
                <a:defRPr/>
              </a:pPr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826585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b="1" i="1" dirty="0">
              <a:solidFill>
                <a:srgbClr val="00B050"/>
              </a:solidFill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© 2014 Capgemini. Tous droits réservés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B7EC017-6924-4125-9F77-F40B40D87301}" type="slidenum">
              <a:rPr lang="fr-FR" smtClean="0"/>
              <a:pPr>
                <a:defRPr/>
              </a:pPr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277893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b="1" i="1" dirty="0">
              <a:solidFill>
                <a:srgbClr val="00B050"/>
              </a:solidFill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© 2014 Capgemini. Tous droits réservés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B7EC017-6924-4125-9F77-F40B40D87301}" type="slidenum">
              <a:rPr lang="fr-FR" smtClean="0"/>
              <a:pPr>
                <a:defRPr/>
              </a:pPr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097705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</p:spTree>
  </p:cSld>
  <p:clrMapOvr>
    <a:masterClrMapping/>
  </p:clrMapOvr>
  <p:transition spd="med"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</p:spTree>
  </p:cSld>
  <p:clrMapOvr>
    <a:masterClrMapping/>
  </p:clrMapOvr>
  <p:transition spd="med"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</p:spTree>
  </p:cSld>
  <p:clrMapOvr>
    <a:masterClrMapping/>
  </p:clrMapOvr>
  <p:transition spd="med"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0" y="2674938"/>
            <a:ext cx="4495800" cy="36655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2674938"/>
            <a:ext cx="4495800" cy="36655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</p:spTree>
  </p:cSld>
  <p:clrMapOvr>
    <a:masterClrMapping/>
  </p:clrMapOvr>
  <p:transition spd="med"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</p:spTree>
  </p:cSld>
  <p:clrMapOvr>
    <a:masterClrMapping/>
  </p:clrMapOvr>
  <p:transition spd="med"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</p:spTree>
  </p:cSld>
  <p:clrMapOvr>
    <a:masterClrMapping/>
  </p:clrMapOvr>
  <p:transition spd="med"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</p:spTree>
  </p:cSld>
  <p:clrMapOvr>
    <a:masterClrMapping/>
  </p:clrMapOvr>
  <p:transition spd="med"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</p:spTree>
  </p:cSld>
  <p:clrMapOvr>
    <a:masterClrMapping/>
  </p:clrMapOvr>
  <p:transition spd="med"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</p:spTree>
  </p:cSld>
  <p:clrMapOvr>
    <a:masterClrMapping/>
  </p:clrMapOvr>
  <p:transition spd="med"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858000" y="1123950"/>
            <a:ext cx="2286000" cy="5216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0" y="1123950"/>
            <a:ext cx="6705600" cy="5216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</p:spTree>
  </p:cSld>
  <p:clrMapOvr>
    <a:masterClrMapping/>
  </p:clrMapOvr>
  <p:transition spd="med">
    <p:wipe dir="r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re et 4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sz="quarter"/>
          </p:nvPr>
        </p:nvSpPr>
        <p:spPr>
          <a:xfrm>
            <a:off x="0" y="1123950"/>
            <a:ext cx="9144000" cy="1143000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0" y="2674938"/>
            <a:ext cx="4495800" cy="1755775"/>
          </a:xfrm>
        </p:spPr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2"/>
          </p:nvPr>
        </p:nvSpPr>
        <p:spPr>
          <a:xfrm>
            <a:off x="4648200" y="2674938"/>
            <a:ext cx="4495800" cy="1755775"/>
          </a:xfrm>
        </p:spPr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3"/>
          </p:nvPr>
        </p:nvSpPr>
        <p:spPr>
          <a:xfrm>
            <a:off x="0" y="4583113"/>
            <a:ext cx="4495800" cy="1757362"/>
          </a:xfrm>
        </p:spPr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8200" y="4583113"/>
            <a:ext cx="4495800" cy="1757362"/>
          </a:xfrm>
        </p:spPr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</p:spTree>
  </p:cSld>
  <p:clrMapOvr>
    <a:masterClrMapping/>
  </p:clrMapOvr>
  <p:transition spd="med">
    <p:wipe dir="r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</p:spTree>
  </p:cSld>
  <p:clrMapOvr>
    <a:masterClrMapping/>
  </p:clrMapOvr>
  <p:transition spd="med">
    <p:wipe dir="r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</p:spTree>
  </p:cSld>
  <p:clrMapOvr>
    <a:masterClrMapping/>
  </p:clrMapOvr>
  <p:transition spd="med">
    <p:wipe dir="r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</p:spTree>
  </p:cSld>
  <p:clrMapOvr>
    <a:masterClrMapping/>
  </p:clrMapOvr>
  <p:transition spd="med">
    <p:wipe dir="r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</p:spTree>
  </p:cSld>
  <p:clrMapOvr>
    <a:masterClrMapping/>
  </p:clrMapOvr>
  <p:transition spd="med">
    <p:wipe dir="r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</p:spTree>
  </p:cSld>
  <p:clrMapOvr>
    <a:masterClrMapping/>
  </p:clrMapOvr>
  <p:transition spd="med">
    <p:wipe dir="r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</p:spTree>
  </p:cSld>
  <p:clrMapOvr>
    <a:masterClrMapping/>
  </p:clrMapOvr>
  <p:transition spd="med">
    <p:wipe dir="r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>
    <p:wipe dir="r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</p:spTree>
  </p:cSld>
  <p:clrMapOvr>
    <a:masterClrMapping/>
  </p:clrMapOvr>
  <p:transition spd="med">
    <p:wipe dir="r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</p:spTree>
  </p:cSld>
  <p:clrMapOvr>
    <a:masterClrMapping/>
  </p:clrMapOvr>
  <p:transition spd="med">
    <p:wipe dir="r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</p:spTree>
  </p:cSld>
  <p:clrMapOvr>
    <a:masterClrMapping/>
  </p:clrMapOvr>
  <p:transition spd="med">
    <p:wipe dir="r"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</p:spTree>
  </p:cSld>
  <p:clrMapOvr>
    <a:masterClrMapping/>
  </p:clrMapOvr>
  <p:transition spd="med"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112395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36000" rIns="91440" bIns="360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Cliquez pour modifier le style du titre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0" y="2674938"/>
            <a:ext cx="9144000" cy="3665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36000" rIns="91440" bIns="360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Cliquez pour modifier les styles du texte du masque</a:t>
            </a:r>
          </a:p>
          <a:p>
            <a:pPr lvl="1"/>
            <a:r>
              <a:rPr lang="en-US" smtClean="0"/>
              <a:t>Deuxième niveau</a:t>
            </a:r>
          </a:p>
          <a:p>
            <a:pPr lvl="2"/>
            <a:r>
              <a:rPr lang="en-US" smtClean="0"/>
              <a:t>Quatrième niveau</a:t>
            </a:r>
          </a:p>
        </p:txBody>
      </p:sp>
      <p:grpSp>
        <p:nvGrpSpPr>
          <p:cNvPr id="2052" name="Group 15"/>
          <p:cNvGrpSpPr>
            <a:grpSpLocks/>
          </p:cNvGrpSpPr>
          <p:nvPr/>
        </p:nvGrpSpPr>
        <p:grpSpPr bwMode="auto">
          <a:xfrm>
            <a:off x="-14288" y="-14288"/>
            <a:ext cx="3190876" cy="1235076"/>
            <a:chOff x="-9" y="-9"/>
            <a:chExt cx="2010" cy="778"/>
          </a:xfrm>
        </p:grpSpPr>
        <p:sp>
          <p:nvSpPr>
            <p:cNvPr id="6156" name="Freeform 12"/>
            <p:cNvSpPr>
              <a:spLocks/>
            </p:cNvSpPr>
            <p:nvPr userDrawn="1"/>
          </p:nvSpPr>
          <p:spPr bwMode="auto">
            <a:xfrm>
              <a:off x="-9" y="-9"/>
              <a:ext cx="2010" cy="77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405"/>
                </a:cxn>
                <a:cxn ang="0">
                  <a:pos x="1048" y="0"/>
                </a:cxn>
                <a:cxn ang="0">
                  <a:pos x="0" y="0"/>
                </a:cxn>
              </a:cxnLst>
              <a:rect l="0" t="0" r="r" b="b"/>
              <a:pathLst>
                <a:path w="1048" h="405">
                  <a:moveTo>
                    <a:pt x="0" y="0"/>
                  </a:moveTo>
                  <a:cubicBezTo>
                    <a:pt x="1" y="405"/>
                    <a:pt x="1" y="405"/>
                    <a:pt x="1" y="405"/>
                  </a:cubicBezTo>
                  <a:cubicBezTo>
                    <a:pt x="32" y="191"/>
                    <a:pt x="804" y="1"/>
                    <a:pt x="1048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fr-FR"/>
            </a:p>
          </p:txBody>
        </p:sp>
        <p:pic>
          <p:nvPicPr>
            <p:cNvPr id="2054" name="Picture 14" descr="CBE_Label_RGB"/>
            <p:cNvPicPr>
              <a:picLocks noChangeAspect="1" noChangeArrowheads="1"/>
            </p:cNvPicPr>
            <p:nvPr userDrawn="1"/>
          </p:nvPicPr>
          <p:blipFill>
            <a:blip r:embed="rId14" cstate="print"/>
            <a:srcRect/>
            <a:stretch>
              <a:fillRect/>
            </a:stretch>
          </p:blipFill>
          <p:spPr bwMode="auto">
            <a:xfrm>
              <a:off x="58" y="76"/>
              <a:ext cx="326" cy="3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19" r:id="rId1"/>
    <p:sldLayoutId id="2147484120" r:id="rId2"/>
    <p:sldLayoutId id="2147484121" r:id="rId3"/>
    <p:sldLayoutId id="2147484122" r:id="rId4"/>
    <p:sldLayoutId id="2147484123" r:id="rId5"/>
    <p:sldLayoutId id="2147484124" r:id="rId6"/>
    <p:sldLayoutId id="2147484125" r:id="rId7"/>
    <p:sldLayoutId id="2147484126" r:id="rId8"/>
    <p:sldLayoutId id="2147484127" r:id="rId9"/>
    <p:sldLayoutId id="2147484128" r:id="rId10"/>
    <p:sldLayoutId id="2147484129" r:id="rId11"/>
    <p:sldLayoutId id="2147484130" r:id="rId12"/>
  </p:sldLayoutIdLst>
  <p:transition spd="med">
    <p:wipe dir="r"/>
  </p:transition>
  <p:txStyles>
    <p:titleStyle>
      <a:lvl1pPr marL="536575"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+mj-lt"/>
          <a:ea typeface="+mj-ea"/>
          <a:cs typeface="+mj-cs"/>
        </a:defRPr>
      </a:lvl1pPr>
      <a:lvl2pPr marL="536575"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 Narrow" pitchFamily="34" charset="0"/>
          <a:cs typeface="Arial" charset="0"/>
        </a:defRPr>
      </a:lvl2pPr>
      <a:lvl3pPr marL="536575"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 Narrow" pitchFamily="34" charset="0"/>
          <a:cs typeface="Arial" charset="0"/>
        </a:defRPr>
      </a:lvl3pPr>
      <a:lvl4pPr marL="536575"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 Narrow" pitchFamily="34" charset="0"/>
          <a:cs typeface="Arial" charset="0"/>
        </a:defRPr>
      </a:lvl4pPr>
      <a:lvl5pPr marL="536575"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 Narrow" pitchFamily="34" charset="0"/>
          <a:cs typeface="Arial" charset="0"/>
        </a:defRPr>
      </a:lvl5pPr>
      <a:lvl6pPr marL="993775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 Narrow" pitchFamily="34" charset="0"/>
          <a:cs typeface="Arial" charset="0"/>
        </a:defRPr>
      </a:lvl6pPr>
      <a:lvl7pPr marL="1450975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 Narrow" pitchFamily="34" charset="0"/>
          <a:cs typeface="Arial" charset="0"/>
        </a:defRPr>
      </a:lvl7pPr>
      <a:lvl8pPr marL="1908175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 Narrow" pitchFamily="34" charset="0"/>
          <a:cs typeface="Arial" charset="0"/>
        </a:defRPr>
      </a:lvl8pPr>
      <a:lvl9pPr marL="2365375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 Narrow" pitchFamily="34" charset="0"/>
          <a:cs typeface="Arial" charset="0"/>
        </a:defRPr>
      </a:lvl9pPr>
    </p:titleStyle>
    <p:bodyStyle>
      <a:lvl1pPr marL="533400" indent="-342900" algn="l" rtl="0" eaLnBrk="0" fontAlgn="base" hangingPunct="0">
        <a:spcBef>
          <a:spcPct val="40000"/>
        </a:spcBef>
        <a:spcAft>
          <a:spcPct val="0"/>
        </a:spcAft>
        <a:buClr>
          <a:schemeClr val="tx2"/>
        </a:buClr>
        <a:buFont typeface="Wingdings" pitchFamily="2" charset="2"/>
        <a:buChar char="§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1066800" indent="-285750" algn="l" rtl="0" eaLnBrk="0" fontAlgn="base" hangingPunct="0">
        <a:spcBef>
          <a:spcPct val="40000"/>
        </a:spcBef>
        <a:spcAft>
          <a:spcPct val="0"/>
        </a:spcAft>
        <a:buClr>
          <a:schemeClr val="accent1"/>
        </a:buClr>
        <a:buChar char="•"/>
        <a:defRPr sz="2400">
          <a:solidFill>
            <a:schemeClr val="tx1"/>
          </a:solidFill>
          <a:latin typeface="+mn-lt"/>
          <a:cs typeface="+mn-cs"/>
        </a:defRPr>
      </a:lvl2pPr>
      <a:lvl3pPr marL="1530350" indent="-228600" algn="l" rtl="0" eaLnBrk="0" fontAlgn="base" hangingPunct="0">
        <a:spcBef>
          <a:spcPct val="40000"/>
        </a:spcBef>
        <a:spcAft>
          <a:spcPct val="0"/>
        </a:spcAft>
        <a:buClr>
          <a:schemeClr val="hlink"/>
        </a:buClr>
        <a:buFont typeface="Arial" charset="0"/>
        <a:buChar char="–"/>
        <a:defRPr sz="2400">
          <a:solidFill>
            <a:schemeClr val="tx1"/>
          </a:solidFill>
          <a:latin typeface="+mn-lt"/>
          <a:cs typeface="+mn-cs"/>
        </a:defRPr>
      </a:lvl3pPr>
      <a:lvl4pPr marL="1979613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bg2"/>
          </a:solidFill>
          <a:latin typeface="+mn-lt"/>
          <a:cs typeface="+mn-cs"/>
        </a:defRPr>
      </a:lvl4pPr>
      <a:lvl5pPr marL="2414588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bg2"/>
          </a:solidFill>
          <a:latin typeface="+mn-lt"/>
          <a:cs typeface="+mn-cs"/>
        </a:defRPr>
      </a:lvl5pPr>
      <a:lvl6pPr marL="2871788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2"/>
          </a:solidFill>
          <a:latin typeface="+mn-lt"/>
          <a:cs typeface="+mn-cs"/>
        </a:defRPr>
      </a:lvl6pPr>
      <a:lvl7pPr marL="3328988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2"/>
          </a:solidFill>
          <a:latin typeface="+mn-lt"/>
          <a:cs typeface="+mn-cs"/>
        </a:defRPr>
      </a:lvl7pPr>
      <a:lvl8pPr marL="3786188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2"/>
          </a:solidFill>
          <a:latin typeface="+mn-lt"/>
          <a:cs typeface="+mn-cs"/>
        </a:defRPr>
      </a:lvl8pPr>
      <a:lvl9pPr marL="4243388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2"/>
          </a:solidFill>
          <a:latin typeface="+mn-lt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7" name="Freeform 7"/>
          <p:cNvSpPr>
            <a:spLocks/>
          </p:cNvSpPr>
          <p:nvPr/>
        </p:nvSpPr>
        <p:spPr bwMode="auto">
          <a:xfrm>
            <a:off x="-14288" y="-28575"/>
            <a:ext cx="9166226" cy="6896100"/>
          </a:xfrm>
          <a:custGeom>
            <a:avLst/>
            <a:gdLst/>
            <a:ahLst/>
            <a:cxnLst>
              <a:cxn ang="0">
                <a:pos x="0" y="3797"/>
              </a:cxn>
              <a:cxn ang="0">
                <a:pos x="0" y="3252"/>
              </a:cxn>
              <a:cxn ang="0">
                <a:pos x="0" y="2159"/>
              </a:cxn>
              <a:cxn ang="0">
                <a:pos x="0" y="1611"/>
              </a:cxn>
              <a:cxn ang="0">
                <a:pos x="0" y="523"/>
              </a:cxn>
              <a:cxn ang="0">
                <a:pos x="0" y="387"/>
              </a:cxn>
              <a:cxn ang="0">
                <a:pos x="5760" y="9"/>
              </a:cxn>
              <a:cxn ang="0">
                <a:pos x="5760" y="312"/>
              </a:cxn>
              <a:cxn ang="0">
                <a:pos x="5760" y="377"/>
              </a:cxn>
              <a:cxn ang="0">
                <a:pos x="5760" y="786"/>
              </a:cxn>
              <a:cxn ang="0">
                <a:pos x="5760" y="1060"/>
              </a:cxn>
              <a:cxn ang="0">
                <a:pos x="5760" y="1262"/>
              </a:cxn>
              <a:cxn ang="0">
                <a:pos x="5758" y="1283"/>
              </a:cxn>
              <a:cxn ang="0">
                <a:pos x="5747" y="1301"/>
              </a:cxn>
              <a:cxn ang="0">
                <a:pos x="5719" y="1339"/>
              </a:cxn>
              <a:cxn ang="0">
                <a:pos x="5650" y="1406"/>
              </a:cxn>
              <a:cxn ang="0">
                <a:pos x="5597" y="1445"/>
              </a:cxn>
              <a:cxn ang="0">
                <a:pos x="5480" y="1515"/>
              </a:cxn>
              <a:cxn ang="0">
                <a:pos x="5295" y="1608"/>
              </a:cxn>
              <a:cxn ang="0">
                <a:pos x="5161" y="1663"/>
              </a:cxn>
              <a:cxn ang="0">
                <a:pos x="4893" y="1759"/>
              </a:cxn>
              <a:cxn ang="0">
                <a:pos x="4615" y="1845"/>
              </a:cxn>
              <a:cxn ang="0">
                <a:pos x="4188" y="1958"/>
              </a:cxn>
              <a:cxn ang="0">
                <a:pos x="3902" y="2027"/>
              </a:cxn>
              <a:cxn ang="0">
                <a:pos x="3614" y="2089"/>
              </a:cxn>
              <a:cxn ang="0">
                <a:pos x="2993" y="2192"/>
              </a:cxn>
              <a:cxn ang="0">
                <a:pos x="2444" y="2281"/>
              </a:cxn>
              <a:cxn ang="0">
                <a:pos x="2160" y="2348"/>
              </a:cxn>
              <a:cxn ang="0">
                <a:pos x="1880" y="2427"/>
              </a:cxn>
              <a:cxn ang="0">
                <a:pos x="1609" y="2517"/>
              </a:cxn>
              <a:cxn ang="0">
                <a:pos x="1410" y="2596"/>
              </a:cxn>
              <a:cxn ang="0">
                <a:pos x="1284" y="2655"/>
              </a:cxn>
              <a:cxn ang="0">
                <a:pos x="1102" y="2749"/>
              </a:cxn>
              <a:cxn ang="0">
                <a:pos x="931" y="2859"/>
              </a:cxn>
              <a:cxn ang="0">
                <a:pos x="822" y="2938"/>
              </a:cxn>
              <a:cxn ang="0">
                <a:pos x="672" y="3069"/>
              </a:cxn>
              <a:cxn ang="0">
                <a:pos x="531" y="3207"/>
              </a:cxn>
              <a:cxn ang="0">
                <a:pos x="447" y="3308"/>
              </a:cxn>
              <a:cxn ang="0">
                <a:pos x="329" y="3468"/>
              </a:cxn>
              <a:cxn ang="0">
                <a:pos x="227" y="3636"/>
              </a:cxn>
              <a:cxn ang="0">
                <a:pos x="167" y="3755"/>
              </a:cxn>
              <a:cxn ang="0">
                <a:pos x="92" y="3940"/>
              </a:cxn>
              <a:cxn ang="0">
                <a:pos x="35" y="4130"/>
              </a:cxn>
              <a:cxn ang="0">
                <a:pos x="7" y="4268"/>
              </a:cxn>
            </a:cxnLst>
            <a:rect l="0" t="0" r="r" b="b"/>
            <a:pathLst>
              <a:path w="5760" h="4339">
                <a:moveTo>
                  <a:pt x="0" y="4339"/>
                </a:moveTo>
                <a:lnTo>
                  <a:pt x="0" y="4339"/>
                </a:lnTo>
                <a:lnTo>
                  <a:pt x="0" y="3797"/>
                </a:lnTo>
                <a:lnTo>
                  <a:pt x="0" y="3797"/>
                </a:lnTo>
                <a:lnTo>
                  <a:pt x="0" y="3252"/>
                </a:lnTo>
                <a:lnTo>
                  <a:pt x="0" y="3252"/>
                </a:lnTo>
                <a:lnTo>
                  <a:pt x="0" y="2705"/>
                </a:lnTo>
                <a:lnTo>
                  <a:pt x="0" y="2705"/>
                </a:lnTo>
                <a:lnTo>
                  <a:pt x="0" y="2159"/>
                </a:lnTo>
                <a:lnTo>
                  <a:pt x="0" y="2159"/>
                </a:lnTo>
                <a:lnTo>
                  <a:pt x="0" y="1611"/>
                </a:lnTo>
                <a:lnTo>
                  <a:pt x="0" y="1611"/>
                </a:lnTo>
                <a:lnTo>
                  <a:pt x="0" y="1066"/>
                </a:lnTo>
                <a:lnTo>
                  <a:pt x="0" y="1066"/>
                </a:lnTo>
                <a:lnTo>
                  <a:pt x="0" y="523"/>
                </a:lnTo>
                <a:lnTo>
                  <a:pt x="0" y="523"/>
                </a:lnTo>
                <a:lnTo>
                  <a:pt x="0" y="387"/>
                </a:lnTo>
                <a:lnTo>
                  <a:pt x="0" y="387"/>
                </a:lnTo>
                <a:lnTo>
                  <a:pt x="0" y="0"/>
                </a:lnTo>
                <a:lnTo>
                  <a:pt x="155" y="9"/>
                </a:lnTo>
                <a:lnTo>
                  <a:pt x="5760" y="9"/>
                </a:lnTo>
                <a:lnTo>
                  <a:pt x="5760" y="310"/>
                </a:lnTo>
                <a:lnTo>
                  <a:pt x="5760" y="312"/>
                </a:lnTo>
                <a:lnTo>
                  <a:pt x="5760" y="312"/>
                </a:lnTo>
                <a:lnTo>
                  <a:pt x="5760" y="344"/>
                </a:lnTo>
                <a:lnTo>
                  <a:pt x="5760" y="377"/>
                </a:lnTo>
                <a:lnTo>
                  <a:pt x="5760" y="377"/>
                </a:lnTo>
                <a:lnTo>
                  <a:pt x="5760" y="512"/>
                </a:lnTo>
                <a:lnTo>
                  <a:pt x="5760" y="512"/>
                </a:lnTo>
                <a:lnTo>
                  <a:pt x="5760" y="786"/>
                </a:lnTo>
                <a:lnTo>
                  <a:pt x="5760" y="786"/>
                </a:lnTo>
                <a:lnTo>
                  <a:pt x="5760" y="1060"/>
                </a:lnTo>
                <a:lnTo>
                  <a:pt x="5760" y="1060"/>
                </a:lnTo>
                <a:lnTo>
                  <a:pt x="5760" y="1195"/>
                </a:lnTo>
                <a:lnTo>
                  <a:pt x="5760" y="1195"/>
                </a:lnTo>
                <a:lnTo>
                  <a:pt x="5760" y="1262"/>
                </a:lnTo>
                <a:lnTo>
                  <a:pt x="5760" y="1262"/>
                </a:lnTo>
                <a:lnTo>
                  <a:pt x="5758" y="1276"/>
                </a:lnTo>
                <a:lnTo>
                  <a:pt x="5758" y="1283"/>
                </a:lnTo>
                <a:lnTo>
                  <a:pt x="5755" y="1289"/>
                </a:lnTo>
                <a:lnTo>
                  <a:pt x="5755" y="1289"/>
                </a:lnTo>
                <a:lnTo>
                  <a:pt x="5747" y="1301"/>
                </a:lnTo>
                <a:lnTo>
                  <a:pt x="5740" y="1315"/>
                </a:lnTo>
                <a:lnTo>
                  <a:pt x="5740" y="1315"/>
                </a:lnTo>
                <a:lnTo>
                  <a:pt x="5719" y="1339"/>
                </a:lnTo>
                <a:lnTo>
                  <a:pt x="5699" y="1363"/>
                </a:lnTo>
                <a:lnTo>
                  <a:pt x="5674" y="1385"/>
                </a:lnTo>
                <a:lnTo>
                  <a:pt x="5650" y="1406"/>
                </a:lnTo>
                <a:lnTo>
                  <a:pt x="5650" y="1406"/>
                </a:lnTo>
                <a:lnTo>
                  <a:pt x="5624" y="1426"/>
                </a:lnTo>
                <a:lnTo>
                  <a:pt x="5597" y="1445"/>
                </a:lnTo>
                <a:lnTo>
                  <a:pt x="5541" y="1481"/>
                </a:lnTo>
                <a:lnTo>
                  <a:pt x="5541" y="1481"/>
                </a:lnTo>
                <a:lnTo>
                  <a:pt x="5480" y="1515"/>
                </a:lnTo>
                <a:lnTo>
                  <a:pt x="5419" y="1548"/>
                </a:lnTo>
                <a:lnTo>
                  <a:pt x="5356" y="1579"/>
                </a:lnTo>
                <a:lnTo>
                  <a:pt x="5295" y="1608"/>
                </a:lnTo>
                <a:lnTo>
                  <a:pt x="5295" y="1608"/>
                </a:lnTo>
                <a:lnTo>
                  <a:pt x="5229" y="1636"/>
                </a:lnTo>
                <a:lnTo>
                  <a:pt x="5161" y="1663"/>
                </a:lnTo>
                <a:lnTo>
                  <a:pt x="5096" y="1689"/>
                </a:lnTo>
                <a:lnTo>
                  <a:pt x="5028" y="1713"/>
                </a:lnTo>
                <a:lnTo>
                  <a:pt x="4893" y="1759"/>
                </a:lnTo>
                <a:lnTo>
                  <a:pt x="4756" y="1804"/>
                </a:lnTo>
                <a:lnTo>
                  <a:pt x="4756" y="1804"/>
                </a:lnTo>
                <a:lnTo>
                  <a:pt x="4615" y="1845"/>
                </a:lnTo>
                <a:lnTo>
                  <a:pt x="4472" y="1885"/>
                </a:lnTo>
                <a:lnTo>
                  <a:pt x="4332" y="1920"/>
                </a:lnTo>
                <a:lnTo>
                  <a:pt x="4188" y="1958"/>
                </a:lnTo>
                <a:lnTo>
                  <a:pt x="4188" y="1958"/>
                </a:lnTo>
                <a:lnTo>
                  <a:pt x="4046" y="1993"/>
                </a:lnTo>
                <a:lnTo>
                  <a:pt x="3902" y="2027"/>
                </a:lnTo>
                <a:lnTo>
                  <a:pt x="3758" y="2059"/>
                </a:lnTo>
                <a:lnTo>
                  <a:pt x="3614" y="2089"/>
                </a:lnTo>
                <a:lnTo>
                  <a:pt x="3614" y="2089"/>
                </a:lnTo>
                <a:lnTo>
                  <a:pt x="3511" y="2108"/>
                </a:lnTo>
                <a:lnTo>
                  <a:pt x="3363" y="2133"/>
                </a:lnTo>
                <a:lnTo>
                  <a:pt x="2993" y="2192"/>
                </a:lnTo>
                <a:lnTo>
                  <a:pt x="2641" y="2248"/>
                </a:lnTo>
                <a:lnTo>
                  <a:pt x="2515" y="2267"/>
                </a:lnTo>
                <a:lnTo>
                  <a:pt x="2444" y="2281"/>
                </a:lnTo>
                <a:lnTo>
                  <a:pt x="2444" y="2281"/>
                </a:lnTo>
                <a:lnTo>
                  <a:pt x="2302" y="2312"/>
                </a:lnTo>
                <a:lnTo>
                  <a:pt x="2160" y="2348"/>
                </a:lnTo>
                <a:lnTo>
                  <a:pt x="2018" y="2386"/>
                </a:lnTo>
                <a:lnTo>
                  <a:pt x="1880" y="2427"/>
                </a:lnTo>
                <a:lnTo>
                  <a:pt x="1880" y="2427"/>
                </a:lnTo>
                <a:lnTo>
                  <a:pt x="1742" y="2470"/>
                </a:lnTo>
                <a:lnTo>
                  <a:pt x="1677" y="2494"/>
                </a:lnTo>
                <a:lnTo>
                  <a:pt x="1609" y="2517"/>
                </a:lnTo>
                <a:lnTo>
                  <a:pt x="1541" y="2543"/>
                </a:lnTo>
                <a:lnTo>
                  <a:pt x="1475" y="2569"/>
                </a:lnTo>
                <a:lnTo>
                  <a:pt x="1410" y="2596"/>
                </a:lnTo>
                <a:lnTo>
                  <a:pt x="1346" y="2625"/>
                </a:lnTo>
                <a:lnTo>
                  <a:pt x="1346" y="2625"/>
                </a:lnTo>
                <a:lnTo>
                  <a:pt x="1284" y="2655"/>
                </a:lnTo>
                <a:lnTo>
                  <a:pt x="1222" y="2684"/>
                </a:lnTo>
                <a:lnTo>
                  <a:pt x="1162" y="2717"/>
                </a:lnTo>
                <a:lnTo>
                  <a:pt x="1102" y="2749"/>
                </a:lnTo>
                <a:lnTo>
                  <a:pt x="1043" y="2785"/>
                </a:lnTo>
                <a:lnTo>
                  <a:pt x="988" y="2821"/>
                </a:lnTo>
                <a:lnTo>
                  <a:pt x="931" y="2859"/>
                </a:lnTo>
                <a:lnTo>
                  <a:pt x="876" y="2899"/>
                </a:lnTo>
                <a:lnTo>
                  <a:pt x="876" y="2899"/>
                </a:lnTo>
                <a:lnTo>
                  <a:pt x="822" y="2938"/>
                </a:lnTo>
                <a:lnTo>
                  <a:pt x="771" y="2980"/>
                </a:lnTo>
                <a:lnTo>
                  <a:pt x="720" y="3023"/>
                </a:lnTo>
                <a:lnTo>
                  <a:pt x="672" y="3069"/>
                </a:lnTo>
                <a:lnTo>
                  <a:pt x="623" y="3113"/>
                </a:lnTo>
                <a:lnTo>
                  <a:pt x="576" y="3159"/>
                </a:lnTo>
                <a:lnTo>
                  <a:pt x="531" y="3207"/>
                </a:lnTo>
                <a:lnTo>
                  <a:pt x="487" y="3257"/>
                </a:lnTo>
                <a:lnTo>
                  <a:pt x="487" y="3257"/>
                </a:lnTo>
                <a:lnTo>
                  <a:pt x="447" y="3308"/>
                </a:lnTo>
                <a:lnTo>
                  <a:pt x="406" y="3360"/>
                </a:lnTo>
                <a:lnTo>
                  <a:pt x="366" y="3413"/>
                </a:lnTo>
                <a:lnTo>
                  <a:pt x="329" y="3468"/>
                </a:lnTo>
                <a:lnTo>
                  <a:pt x="292" y="3523"/>
                </a:lnTo>
                <a:lnTo>
                  <a:pt x="258" y="3579"/>
                </a:lnTo>
                <a:lnTo>
                  <a:pt x="227" y="3636"/>
                </a:lnTo>
                <a:lnTo>
                  <a:pt x="197" y="3694"/>
                </a:lnTo>
                <a:lnTo>
                  <a:pt x="197" y="3694"/>
                </a:lnTo>
                <a:lnTo>
                  <a:pt x="167" y="3755"/>
                </a:lnTo>
                <a:lnTo>
                  <a:pt x="140" y="3814"/>
                </a:lnTo>
                <a:lnTo>
                  <a:pt x="114" y="3876"/>
                </a:lnTo>
                <a:lnTo>
                  <a:pt x="92" y="3940"/>
                </a:lnTo>
                <a:lnTo>
                  <a:pt x="71" y="4003"/>
                </a:lnTo>
                <a:lnTo>
                  <a:pt x="53" y="4067"/>
                </a:lnTo>
                <a:lnTo>
                  <a:pt x="35" y="4130"/>
                </a:lnTo>
                <a:lnTo>
                  <a:pt x="20" y="4195"/>
                </a:lnTo>
                <a:lnTo>
                  <a:pt x="20" y="4195"/>
                </a:lnTo>
                <a:lnTo>
                  <a:pt x="7" y="4268"/>
                </a:lnTo>
                <a:lnTo>
                  <a:pt x="4" y="4303"/>
                </a:lnTo>
                <a:lnTo>
                  <a:pt x="0" y="4339"/>
                </a:lnTo>
                <a:close/>
              </a:path>
            </a:pathLst>
          </a:custGeom>
          <a:solidFill>
            <a:schemeClr val="bg2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30728" name="Rectangle 8"/>
          <p:cNvSpPr>
            <a:spLocks noChangeArrowheads="1"/>
          </p:cNvSpPr>
          <p:nvPr/>
        </p:nvSpPr>
        <p:spPr bwMode="auto">
          <a:xfrm>
            <a:off x="5054600" y="6175375"/>
            <a:ext cx="372903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ct val="20000"/>
              </a:spcBef>
              <a:defRPr/>
            </a:pPr>
            <a:r>
              <a:rPr lang="en-US" sz="1600" b="0">
                <a:solidFill>
                  <a:schemeClr val="bg2"/>
                </a:solidFill>
              </a:rPr>
              <a:t>www.capgemini.com</a:t>
            </a:r>
          </a:p>
        </p:txBody>
      </p:sp>
      <p:pic>
        <p:nvPicPr>
          <p:cNvPr id="3076" name="Picture 9" descr="OK_Capgemini"/>
          <p:cNvPicPr>
            <a:picLocks noChangeAspect="1" noChangeArrowheads="1"/>
          </p:cNvPicPr>
          <p:nvPr/>
        </p:nvPicPr>
        <p:blipFill>
          <a:blip r:embed="rId1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044575" y="881063"/>
            <a:ext cx="4318000" cy="1017587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</p:spPr>
      </p:pic>
      <p:grpSp>
        <p:nvGrpSpPr>
          <p:cNvPr id="3077" name="Group 24"/>
          <p:cNvGrpSpPr>
            <a:grpSpLocks/>
          </p:cNvGrpSpPr>
          <p:nvPr/>
        </p:nvGrpSpPr>
        <p:grpSpPr bwMode="auto">
          <a:xfrm>
            <a:off x="4668838" y="5505450"/>
            <a:ext cx="4351337" cy="668338"/>
            <a:chOff x="3289" y="3492"/>
            <a:chExt cx="2741" cy="421"/>
          </a:xfrm>
        </p:grpSpPr>
        <p:sp>
          <p:nvSpPr>
            <p:cNvPr id="30742" name="Text Box 22"/>
            <p:cNvSpPr txBox="1">
              <a:spLocks noChangeArrowheads="1"/>
            </p:cNvSpPr>
            <p:nvPr userDrawn="1"/>
          </p:nvSpPr>
          <p:spPr bwMode="auto">
            <a:xfrm>
              <a:off x="3769" y="3597"/>
              <a:ext cx="2261" cy="1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 lIns="0" tIns="0" rIns="360000" bIns="0">
              <a:spAutoFit/>
            </a:bodyPr>
            <a:lstStyle/>
            <a:p>
              <a:pPr algn="l">
                <a:lnSpc>
                  <a:spcPct val="100000"/>
                </a:lnSpc>
                <a:defRPr/>
              </a:pPr>
              <a:r>
                <a:rPr lang="en-US" sz="1600"/>
                <a:t>Ensemble.</a:t>
              </a:r>
              <a:r>
                <a:rPr lang="en-US" sz="1600">
                  <a:solidFill>
                    <a:schemeClr val="bg2"/>
                  </a:solidFill>
                </a:rPr>
                <a:t> </a:t>
              </a:r>
              <a:r>
                <a:rPr lang="fr-FR" sz="1600">
                  <a:solidFill>
                    <a:schemeClr val="bg2"/>
                  </a:solidFill>
                </a:rPr>
                <a:t>Libérons vos énergies</a:t>
              </a:r>
            </a:p>
          </p:txBody>
        </p:sp>
        <p:pic>
          <p:nvPicPr>
            <p:cNvPr id="3079" name="Picture 23" descr="CBE_Label_RGB"/>
            <p:cNvPicPr>
              <a:picLocks noChangeAspect="1" noChangeArrowheads="1"/>
            </p:cNvPicPr>
            <p:nvPr userDrawn="1"/>
          </p:nvPicPr>
          <p:blipFill>
            <a:blip r:embed="rId14" cstate="print"/>
            <a:srcRect/>
            <a:stretch>
              <a:fillRect/>
            </a:stretch>
          </p:blipFill>
          <p:spPr bwMode="auto">
            <a:xfrm>
              <a:off x="3289" y="3492"/>
              <a:ext cx="419" cy="4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31" r:id="rId1"/>
    <p:sldLayoutId id="2147484132" r:id="rId2"/>
    <p:sldLayoutId id="2147484133" r:id="rId3"/>
    <p:sldLayoutId id="2147484134" r:id="rId4"/>
    <p:sldLayoutId id="2147484135" r:id="rId5"/>
    <p:sldLayoutId id="2147484136" r:id="rId6"/>
    <p:sldLayoutId id="2147484137" r:id="rId7"/>
    <p:sldLayoutId id="2147484138" r:id="rId8"/>
    <p:sldLayoutId id="2147484139" r:id="rId9"/>
    <p:sldLayoutId id="2147484140" r:id="rId10"/>
    <p:sldLayoutId id="2147484141" r:id="rId11"/>
  </p:sldLayoutIdLst>
  <p:transition spd="med">
    <p:wipe dir="r"/>
  </p:transition>
  <p:txStyles>
    <p:titleStyle>
      <a:lvl1pPr algn="r" rtl="0" eaLnBrk="0" fontAlgn="base" hangingPunct="0">
        <a:spcBef>
          <a:spcPct val="0"/>
        </a:spcBef>
        <a:spcAft>
          <a:spcPct val="0"/>
        </a:spcAft>
        <a:defRPr sz="1600">
          <a:solidFill>
            <a:schemeClr val="bg2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600">
          <a:solidFill>
            <a:schemeClr val="bg2"/>
          </a:solidFill>
          <a:latin typeface="Arial" charset="0"/>
          <a:cs typeface="Arial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600">
          <a:solidFill>
            <a:schemeClr val="bg2"/>
          </a:solidFill>
          <a:latin typeface="Arial" charset="0"/>
          <a:cs typeface="Arial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600">
          <a:solidFill>
            <a:schemeClr val="bg2"/>
          </a:solidFill>
          <a:latin typeface="Arial" charset="0"/>
          <a:cs typeface="Arial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600">
          <a:solidFill>
            <a:schemeClr val="bg2"/>
          </a:solidFill>
          <a:latin typeface="Arial" charset="0"/>
          <a:cs typeface="Arial" charset="0"/>
        </a:defRPr>
      </a:lvl5pPr>
      <a:lvl6pPr marL="457200" algn="r" rtl="0" fontAlgn="base">
        <a:spcBef>
          <a:spcPct val="0"/>
        </a:spcBef>
        <a:spcAft>
          <a:spcPct val="0"/>
        </a:spcAft>
        <a:defRPr sz="1600">
          <a:solidFill>
            <a:schemeClr val="bg2"/>
          </a:solidFill>
          <a:latin typeface="Arial" charset="0"/>
          <a:cs typeface="Arial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1600">
          <a:solidFill>
            <a:schemeClr val="bg2"/>
          </a:solidFill>
          <a:latin typeface="Arial" charset="0"/>
          <a:cs typeface="Arial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1600">
          <a:solidFill>
            <a:schemeClr val="bg2"/>
          </a:solidFill>
          <a:latin typeface="Arial" charset="0"/>
          <a:cs typeface="Arial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1600">
          <a:solidFill>
            <a:schemeClr val="bg2"/>
          </a:solidFill>
          <a:latin typeface="Arial" charset="0"/>
          <a:cs typeface="Arial" charset="0"/>
        </a:defRPr>
      </a:lvl9pPr>
    </p:titleStyle>
    <p:bodyStyle>
      <a:lvl1pPr marL="342900" indent="-342900" algn="r" rtl="0" eaLnBrk="0" fontAlgn="base" hangingPunct="0">
        <a:spcBef>
          <a:spcPct val="20000"/>
        </a:spcBef>
        <a:spcAft>
          <a:spcPct val="0"/>
        </a:spcAft>
        <a:buChar char="•"/>
        <a:defRPr sz="1600">
          <a:solidFill>
            <a:schemeClr val="bg2"/>
          </a:solidFill>
          <a:latin typeface="+mn-lt"/>
          <a:ea typeface="+mn-ea"/>
          <a:cs typeface="+mn-cs"/>
        </a:defRPr>
      </a:lvl1pPr>
      <a:lvl2pPr marL="742950" indent="-285750" algn="r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bg2"/>
          </a:solidFill>
          <a:latin typeface="+mn-lt"/>
          <a:cs typeface="+mn-cs"/>
        </a:defRPr>
      </a:lvl2pPr>
      <a:lvl3pPr marL="1143000" indent="-228600" algn="r" rtl="0" eaLnBrk="0" fontAlgn="base" hangingPunct="0">
        <a:spcBef>
          <a:spcPct val="20000"/>
        </a:spcBef>
        <a:spcAft>
          <a:spcPct val="0"/>
        </a:spcAft>
        <a:buChar char="•"/>
        <a:defRPr sz="1600">
          <a:solidFill>
            <a:schemeClr val="bg2"/>
          </a:solidFill>
          <a:latin typeface="+mn-lt"/>
          <a:cs typeface="+mn-cs"/>
        </a:defRPr>
      </a:lvl3pPr>
      <a:lvl4pPr marL="1600200" indent="-228600" algn="r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bg2"/>
          </a:solidFill>
          <a:latin typeface="+mn-lt"/>
          <a:cs typeface="+mn-cs"/>
        </a:defRPr>
      </a:lvl4pPr>
      <a:lvl5pPr marL="2057400" indent="-228600" algn="r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bg2"/>
          </a:solidFill>
          <a:latin typeface="+mn-lt"/>
          <a:cs typeface="+mn-cs"/>
        </a:defRPr>
      </a:lvl5pPr>
      <a:lvl6pPr marL="2514600" indent="-228600" algn="r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bg2"/>
          </a:solidFill>
          <a:latin typeface="+mn-lt"/>
          <a:cs typeface="+mn-cs"/>
        </a:defRPr>
      </a:lvl6pPr>
      <a:lvl7pPr marL="2971800" indent="-228600" algn="r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bg2"/>
          </a:solidFill>
          <a:latin typeface="+mn-lt"/>
          <a:cs typeface="+mn-cs"/>
        </a:defRPr>
      </a:lvl7pPr>
      <a:lvl8pPr marL="3429000" indent="-228600" algn="r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bg2"/>
          </a:solidFill>
          <a:latin typeface="+mn-lt"/>
          <a:cs typeface="+mn-cs"/>
        </a:defRPr>
      </a:lvl8pPr>
      <a:lvl9pPr marL="3886200" indent="-228600" algn="r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bg2"/>
          </a:solidFill>
          <a:latin typeface="+mn-lt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fr-FR" sz="3200" b="1" dirty="0" smtClean="0">
                <a:solidFill>
                  <a:schemeClr val="tx2"/>
                </a:solidFill>
              </a:rPr>
              <a:t>Stage au sein du « Cluster SIG »</a:t>
            </a:r>
            <a:br>
              <a:rPr lang="fr-FR" sz="3200" b="1" dirty="0" smtClean="0">
                <a:solidFill>
                  <a:schemeClr val="tx2"/>
                </a:solidFill>
              </a:rPr>
            </a:br>
            <a:r>
              <a:rPr lang="fr-FR" sz="3200" b="1" dirty="0" smtClean="0">
                <a:solidFill>
                  <a:schemeClr val="tx2"/>
                </a:solidFill>
              </a:rPr>
              <a:t>Projet SERT</a:t>
            </a:r>
            <a:br>
              <a:rPr lang="fr-FR" sz="3200" b="1" dirty="0" smtClean="0">
                <a:solidFill>
                  <a:schemeClr val="tx2"/>
                </a:solidFill>
              </a:rPr>
            </a:br>
            <a:endParaRPr lang="fr-FR" sz="3200" b="1" dirty="0" smtClean="0">
              <a:solidFill>
                <a:schemeClr val="tx2"/>
              </a:solidFill>
            </a:endParaRP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fr-FR" dirty="0" smtClean="0"/>
              <a:t>RANDRIAMAHARAVOMANANA Tantely</a:t>
            </a:r>
          </a:p>
          <a:p>
            <a:r>
              <a:rPr lang="fr-FR" dirty="0" smtClean="0"/>
              <a:t>Date : 07/06/2017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fr-FR" dirty="0" smtClean="0"/>
              <a:t>Plan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143000"/>
            <a:ext cx="9144000" cy="5576888"/>
          </a:xfrm>
        </p:spPr>
        <p:txBody>
          <a:bodyPr/>
          <a:lstStyle/>
          <a:p>
            <a:endParaRPr lang="fr-FR" dirty="0" smtClean="0"/>
          </a:p>
          <a:p>
            <a:r>
              <a:rPr lang="fr-FR" dirty="0" smtClean="0"/>
              <a:t>Contexte du stage</a:t>
            </a:r>
          </a:p>
          <a:p>
            <a:r>
              <a:rPr lang="fr-FR" dirty="0" smtClean="0"/>
              <a:t>Sujet de stage</a:t>
            </a:r>
          </a:p>
          <a:p>
            <a:r>
              <a:rPr lang="fr-FR" dirty="0" smtClean="0"/>
              <a:t>Missions réalisées</a:t>
            </a:r>
          </a:p>
          <a:p>
            <a:r>
              <a:rPr lang="fr-FR" dirty="0" smtClean="0"/>
              <a:t>Expériences acquises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294967295"/>
          </p:nvPr>
        </p:nvSpPr>
        <p:spPr>
          <a:xfrm>
            <a:off x="8890000" y="6719888"/>
            <a:ext cx="254000" cy="103187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DE568C3C-EF22-4802-8EA0-CC18C1DC66F4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fr-FR" dirty="0"/>
              <a:t>Contexte du </a:t>
            </a:r>
            <a:r>
              <a:rPr lang="fr-FR" dirty="0" smtClean="0"/>
              <a:t>stage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979054"/>
            <a:ext cx="9144000" cy="6313488"/>
          </a:xfrm>
        </p:spPr>
        <p:txBody>
          <a:bodyPr/>
          <a:lstStyle/>
          <a:p>
            <a:endParaRPr lang="fr-FR" dirty="0" smtClean="0"/>
          </a:p>
          <a:p>
            <a:r>
              <a:rPr lang="fr-FR" dirty="0" smtClean="0"/>
              <a:t>Stage de fin d’études</a:t>
            </a:r>
          </a:p>
          <a:p>
            <a:pPr lvl="1"/>
            <a:r>
              <a:rPr lang="fr-FR" dirty="0" smtClean="0"/>
              <a:t>Master 2 Architectures Logicielles (ALMA)</a:t>
            </a:r>
          </a:p>
          <a:p>
            <a:pPr lvl="1"/>
            <a:r>
              <a:rPr lang="fr-FR" dirty="0"/>
              <a:t>Faculté des sciences et techniques </a:t>
            </a:r>
            <a:r>
              <a:rPr lang="fr-FR" dirty="0" smtClean="0"/>
              <a:t>Nantes</a:t>
            </a:r>
          </a:p>
          <a:p>
            <a:r>
              <a:rPr lang="fr-FR" dirty="0" smtClean="0"/>
              <a:t>Durée du stage (6 mois)</a:t>
            </a:r>
          </a:p>
          <a:p>
            <a:pPr lvl="1"/>
            <a:r>
              <a:rPr lang="fr-FR" dirty="0" smtClean="0"/>
              <a:t>Début: 09 janvier 2017 </a:t>
            </a:r>
          </a:p>
          <a:p>
            <a:pPr lvl="1"/>
            <a:r>
              <a:rPr lang="fr-FR" dirty="0" smtClean="0"/>
              <a:t>Fin: 07 juillet 2017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294967295"/>
          </p:nvPr>
        </p:nvSpPr>
        <p:spPr>
          <a:xfrm>
            <a:off x="8890000" y="6719888"/>
            <a:ext cx="254000" cy="103187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DE568C3C-EF22-4802-8EA0-CC18C1DC66F4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158501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fr-FR" dirty="0"/>
              <a:t>Contexte du </a:t>
            </a:r>
            <a:r>
              <a:rPr lang="fr-FR" dirty="0" smtClean="0"/>
              <a:t>stage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4655" y="674255"/>
            <a:ext cx="9144000" cy="6313488"/>
          </a:xfrm>
        </p:spPr>
        <p:txBody>
          <a:bodyPr/>
          <a:lstStyle/>
          <a:p>
            <a:endParaRPr lang="fr-FR" dirty="0" smtClean="0"/>
          </a:p>
          <a:p>
            <a:r>
              <a:rPr lang="fr-FR" dirty="0"/>
              <a:t>Intégration au sein du « Cluster SIG »</a:t>
            </a:r>
          </a:p>
          <a:p>
            <a:pPr lvl="1"/>
            <a:r>
              <a:rPr lang="fr-FR" dirty="0" smtClean="0"/>
              <a:t>Maitre de stage: </a:t>
            </a:r>
            <a:r>
              <a:rPr lang="fr-FR" dirty="0"/>
              <a:t>Xavier DESNOYERS</a:t>
            </a:r>
            <a:endParaRPr lang="fr-FR" dirty="0" smtClean="0"/>
          </a:p>
          <a:p>
            <a:pPr lvl="1"/>
            <a:r>
              <a:rPr lang="fr-FR" dirty="0" smtClean="0"/>
              <a:t>Chef de projet</a:t>
            </a:r>
            <a:r>
              <a:rPr lang="fr-FR" dirty="0"/>
              <a:t>: Pascal </a:t>
            </a:r>
            <a:r>
              <a:rPr lang="fr-FR" dirty="0" smtClean="0"/>
              <a:t>BOENNEC</a:t>
            </a:r>
          </a:p>
          <a:p>
            <a:r>
              <a:rPr lang="fr-FR" dirty="0" smtClean="0"/>
              <a:t>Intégration à l’équipe du projet SERT </a:t>
            </a:r>
          </a:p>
          <a:p>
            <a:pPr lvl="1"/>
            <a:r>
              <a:rPr lang="fr-FR" dirty="0" smtClean="0"/>
              <a:t>Effectif : 7 personnes</a:t>
            </a:r>
          </a:p>
          <a:p>
            <a:pPr lvl="1"/>
            <a:r>
              <a:rPr lang="fr-FR" dirty="0" smtClean="0"/>
              <a:t>Client : Ministère de la défense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294967295"/>
          </p:nvPr>
        </p:nvSpPr>
        <p:spPr>
          <a:xfrm>
            <a:off x="8890000" y="6719888"/>
            <a:ext cx="254000" cy="103187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DE568C3C-EF22-4802-8EA0-CC18C1DC66F4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076093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fr-FR" dirty="0" smtClean="0"/>
              <a:t>S</a:t>
            </a:r>
            <a:r>
              <a:rPr lang="fr-FR" dirty="0"/>
              <a:t>ujet de stage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406400"/>
            <a:ext cx="9144000" cy="6313488"/>
          </a:xfrm>
        </p:spPr>
        <p:txBody>
          <a:bodyPr/>
          <a:lstStyle/>
          <a:p>
            <a:endParaRPr lang="fr-FR" dirty="0" smtClean="0"/>
          </a:p>
          <a:p>
            <a:pPr marL="190500" indent="0" algn="ctr">
              <a:buNone/>
            </a:pPr>
            <a:r>
              <a:rPr lang="fr-FR" dirty="0" smtClean="0">
                <a:ln>
                  <a:solidFill>
                    <a:schemeClr val="bg1">
                      <a:lumMod val="75000"/>
                    </a:schemeClr>
                  </a:solidFill>
                </a:ln>
              </a:rPr>
              <a:t>«</a:t>
            </a:r>
            <a:r>
              <a:rPr lang="fr-FR" dirty="0">
                <a:ln>
                  <a:solidFill>
                    <a:schemeClr val="bg1">
                      <a:lumMod val="75000"/>
                    </a:schemeClr>
                  </a:solidFill>
                </a:ln>
              </a:rPr>
              <a:t> Réalisation </a:t>
            </a:r>
            <a:r>
              <a:rPr lang="fr-FR" dirty="0" smtClean="0">
                <a:ln>
                  <a:solidFill>
                    <a:schemeClr val="bg1">
                      <a:lumMod val="75000"/>
                    </a:schemeClr>
                  </a:solidFill>
                </a:ln>
              </a:rPr>
              <a:t>d’une version </a:t>
            </a:r>
            <a:r>
              <a:rPr lang="fr-FR" dirty="0">
                <a:ln>
                  <a:solidFill>
                    <a:schemeClr val="bg1">
                      <a:lumMod val="75000"/>
                    </a:schemeClr>
                  </a:solidFill>
                </a:ln>
              </a:rPr>
              <a:t>majeure d’une application cartographique </a:t>
            </a:r>
            <a:r>
              <a:rPr lang="fr-FR" dirty="0" smtClean="0">
                <a:ln>
                  <a:solidFill>
                    <a:schemeClr val="bg1">
                      <a:lumMod val="75000"/>
                    </a:schemeClr>
                  </a:solidFill>
                </a:ln>
              </a:rPr>
              <a:t>»</a:t>
            </a:r>
          </a:p>
          <a:p>
            <a:pPr marL="257175" indent="-257175"/>
            <a:r>
              <a:rPr lang="fr-FR" sz="2400" dirty="0" smtClean="0"/>
              <a:t>Projet SERT (</a:t>
            </a:r>
            <a:r>
              <a:rPr lang="fr-FR" sz="2400" dirty="0"/>
              <a:t>Système d’Edition des régimes de champs de </a:t>
            </a:r>
            <a:r>
              <a:rPr lang="fr-FR" sz="2400" dirty="0" smtClean="0"/>
              <a:t>Tir)</a:t>
            </a:r>
          </a:p>
          <a:p>
            <a:pPr lvl="1"/>
            <a:r>
              <a:rPr lang="fr-FR" dirty="0" smtClean="0"/>
              <a:t>Existant : version 1.1.6</a:t>
            </a:r>
          </a:p>
          <a:p>
            <a:pPr lvl="1"/>
            <a:r>
              <a:rPr lang="fr-FR" dirty="0" smtClean="0"/>
              <a:t>Objectif : Réalisation de la version 2.0</a:t>
            </a:r>
          </a:p>
          <a:p>
            <a:pPr lvl="1"/>
            <a:r>
              <a:rPr lang="fr-FR" dirty="0" smtClean="0"/>
              <a:t>Phases du projet : </a:t>
            </a:r>
          </a:p>
          <a:p>
            <a:pPr marL="1162050" lvl="2"/>
            <a:r>
              <a:rPr lang="fr-FR" sz="2000" dirty="0" smtClean="0"/>
              <a:t>Validation d’un cahier de charge après recueille des besoins,</a:t>
            </a:r>
          </a:p>
          <a:p>
            <a:pPr marL="1162050" lvl="2"/>
            <a:r>
              <a:rPr lang="fr-FR" sz="2000" b="1" dirty="0" smtClean="0">
                <a:ln>
                  <a:solidFill>
                    <a:schemeClr val="accent6">
                      <a:lumMod val="50000"/>
                    </a:schemeClr>
                  </a:solidFill>
                </a:ln>
              </a:rPr>
              <a:t>Conception des </a:t>
            </a:r>
            <a:r>
              <a:rPr lang="fr-FR" sz="2000" b="1" smtClean="0">
                <a:ln>
                  <a:solidFill>
                    <a:schemeClr val="accent6">
                      <a:lumMod val="50000"/>
                    </a:schemeClr>
                  </a:solidFill>
                </a:ln>
              </a:rPr>
              <a:t>nouvelles spécifications,</a:t>
            </a:r>
            <a:endParaRPr lang="fr-FR" sz="2000" b="1" dirty="0" smtClean="0">
              <a:ln>
                <a:solidFill>
                  <a:schemeClr val="accent6">
                    <a:lumMod val="50000"/>
                  </a:schemeClr>
                </a:solidFill>
              </a:ln>
            </a:endParaRPr>
          </a:p>
          <a:p>
            <a:pPr marL="1162050" lvl="2"/>
            <a:r>
              <a:rPr lang="fr-FR" sz="2000" b="1" dirty="0" smtClean="0">
                <a:ln>
                  <a:solidFill>
                    <a:schemeClr val="accent6">
                      <a:lumMod val="50000"/>
                    </a:schemeClr>
                  </a:solidFill>
                </a:ln>
              </a:rPr>
              <a:t>Développement,</a:t>
            </a:r>
          </a:p>
          <a:p>
            <a:pPr marL="1162050" lvl="2"/>
            <a:r>
              <a:rPr lang="fr-FR" sz="2000" b="1" dirty="0" smtClean="0">
                <a:ln>
                  <a:solidFill>
                    <a:schemeClr val="accent6">
                      <a:lumMod val="50000"/>
                    </a:schemeClr>
                  </a:solidFill>
                </a:ln>
              </a:rPr>
              <a:t>Tests et corrections,</a:t>
            </a:r>
          </a:p>
          <a:p>
            <a:pPr marL="1162050" lvl="2"/>
            <a:r>
              <a:rPr lang="fr-FR" sz="2000" dirty="0" smtClean="0"/>
              <a:t>Mise en recette, livraison et formation,</a:t>
            </a:r>
          </a:p>
          <a:p>
            <a:pPr marL="1162050" lvl="2"/>
            <a:r>
              <a:rPr lang="fr-FR" sz="2000" b="1" dirty="0">
                <a:ln>
                  <a:solidFill>
                    <a:schemeClr val="accent6">
                      <a:lumMod val="50000"/>
                    </a:schemeClr>
                  </a:solidFill>
                </a:ln>
              </a:rPr>
              <a:t>Corrections des retours </a:t>
            </a:r>
            <a:r>
              <a:rPr lang="fr-FR" sz="2000" b="1" dirty="0" smtClean="0">
                <a:ln>
                  <a:solidFill>
                    <a:schemeClr val="accent6">
                      <a:lumMod val="50000"/>
                    </a:schemeClr>
                  </a:solidFill>
                </a:ln>
              </a:rPr>
              <a:t>client.</a:t>
            </a:r>
            <a:endParaRPr lang="fr-FR" sz="2000" b="1" dirty="0">
              <a:ln>
                <a:solidFill>
                  <a:schemeClr val="accent6">
                    <a:lumMod val="50000"/>
                  </a:schemeClr>
                </a:solidFill>
              </a:ln>
            </a:endParaRPr>
          </a:p>
          <a:p>
            <a:pPr marL="1162050" lvl="2"/>
            <a:endParaRPr lang="fr-FR" sz="2000" dirty="0" smtClean="0"/>
          </a:p>
          <a:p>
            <a:pPr marL="1162050" lvl="2"/>
            <a:endParaRPr lang="fr-FR" sz="2000" dirty="0" smtClean="0"/>
          </a:p>
          <a:p>
            <a:pPr lvl="2"/>
            <a:endParaRPr lang="fr-FR" dirty="0" smtClean="0"/>
          </a:p>
          <a:p>
            <a:pPr lvl="2"/>
            <a:endParaRPr lang="fr-FR" dirty="0" smtClean="0"/>
          </a:p>
          <a:p>
            <a:pPr lvl="1"/>
            <a:endParaRPr lang="fr-FR" dirty="0" smtClean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294967295"/>
          </p:nvPr>
        </p:nvSpPr>
        <p:spPr>
          <a:xfrm>
            <a:off x="8890000" y="6719888"/>
            <a:ext cx="254000" cy="103187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DE568C3C-EF22-4802-8EA0-CC18C1DC66F4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977977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fr-FR" dirty="0" smtClean="0"/>
              <a:t>Missions réalisées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406400"/>
            <a:ext cx="9144000" cy="6313488"/>
          </a:xfrm>
        </p:spPr>
        <p:txBody>
          <a:bodyPr/>
          <a:lstStyle/>
          <a:p>
            <a:endParaRPr lang="fr-FR" dirty="0" smtClean="0"/>
          </a:p>
          <a:p>
            <a:pPr marL="190500" indent="0" algn="ctr">
              <a:buNone/>
            </a:pPr>
            <a:r>
              <a:rPr lang="fr-FR" dirty="0" smtClean="0">
                <a:ln>
                  <a:solidFill>
                    <a:schemeClr val="bg1">
                      <a:lumMod val="75000"/>
                    </a:schemeClr>
                  </a:solidFill>
                </a:ln>
              </a:rPr>
              <a:t>Développement de l’IHM avec Java FX</a:t>
            </a:r>
          </a:p>
          <a:p>
            <a:pPr marL="257175" indent="-257175"/>
            <a:r>
              <a:rPr lang="fr-FR" sz="2400" dirty="0" smtClean="0"/>
              <a:t>Pourquoi la migration de swing vers Java FX?</a:t>
            </a:r>
          </a:p>
          <a:p>
            <a:pPr marL="790575" lvl="1" indent="-257175"/>
            <a:r>
              <a:rPr lang="fr-FR" sz="2000" dirty="0" smtClean="0"/>
              <a:t>La future version d’</a:t>
            </a:r>
            <a:r>
              <a:rPr lang="fr-FR" sz="2000" dirty="0" err="1" smtClean="0"/>
              <a:t>ArcGIS</a:t>
            </a:r>
            <a:r>
              <a:rPr lang="fr-FR" sz="2000" dirty="0" smtClean="0"/>
              <a:t> </a:t>
            </a:r>
            <a:r>
              <a:rPr lang="fr-FR" sz="2000" dirty="0" err="1"/>
              <a:t>runtime</a:t>
            </a:r>
            <a:r>
              <a:rPr lang="fr-FR" sz="2000" dirty="0"/>
              <a:t> </a:t>
            </a:r>
            <a:r>
              <a:rPr lang="fr-FR" sz="2000" dirty="0" smtClean="0"/>
              <a:t>(100) s’intègre avec </a:t>
            </a:r>
            <a:r>
              <a:rPr lang="fr-FR" sz="2000" dirty="0" err="1" smtClean="0"/>
              <a:t>JavaFx</a:t>
            </a:r>
            <a:r>
              <a:rPr lang="fr-FR" sz="2000" dirty="0" smtClean="0"/>
              <a:t>.</a:t>
            </a:r>
          </a:p>
          <a:p>
            <a:pPr marL="790575" lvl="1" indent="-257175"/>
            <a:r>
              <a:rPr lang="fr-FR" sz="2000" dirty="0" smtClean="0"/>
              <a:t>Amélioration continue</a:t>
            </a:r>
          </a:p>
          <a:p>
            <a:pPr marL="257175" indent="-257175"/>
            <a:r>
              <a:rPr lang="fr-FR" sz="2400" dirty="0"/>
              <a:t>Montée en </a:t>
            </a:r>
            <a:r>
              <a:rPr lang="fr-FR" sz="2400" dirty="0" smtClean="0"/>
              <a:t>compétence sur SERT</a:t>
            </a:r>
          </a:p>
          <a:p>
            <a:pPr marL="790575" lvl="1" indent="-257175"/>
            <a:r>
              <a:rPr lang="fr-FR" sz="2000" dirty="0" smtClean="0"/>
              <a:t>Côté fonctionnel (documentations et tests)</a:t>
            </a:r>
          </a:p>
          <a:p>
            <a:pPr marL="790575" lvl="1" indent="-257175"/>
            <a:r>
              <a:rPr lang="fr-FR" sz="2000" dirty="0" smtClean="0"/>
              <a:t>Outils et environnement de développement </a:t>
            </a:r>
          </a:p>
          <a:p>
            <a:pPr marL="790575" lvl="1" indent="-257175"/>
            <a:r>
              <a:rPr lang="fr-FR" sz="2000" dirty="0" smtClean="0"/>
              <a:t>Etudes de la source de projet</a:t>
            </a:r>
            <a:endParaRPr lang="fr-FR" sz="2400" dirty="0" smtClean="0"/>
          </a:p>
          <a:p>
            <a:pPr marL="257175" indent="-257175"/>
            <a:r>
              <a:rPr lang="fr-FR" sz="2400" dirty="0" smtClean="0"/>
              <a:t>Montée en compétence sur l’intégration de </a:t>
            </a:r>
            <a:r>
              <a:rPr lang="fr-FR" sz="2400" dirty="0" err="1" smtClean="0"/>
              <a:t>JavaFx</a:t>
            </a:r>
            <a:r>
              <a:rPr lang="fr-FR" sz="2400" dirty="0" smtClean="0"/>
              <a:t>/Swing</a:t>
            </a:r>
          </a:p>
          <a:p>
            <a:pPr marL="790575" lvl="1" indent="-257175"/>
            <a:r>
              <a:rPr lang="fr-FR" sz="2000" dirty="0" smtClean="0"/>
              <a:t>POC</a:t>
            </a:r>
          </a:p>
          <a:p>
            <a:pPr marL="790575" lvl="1" indent="-257175"/>
            <a:r>
              <a:rPr lang="fr-FR" sz="2000" dirty="0" smtClean="0"/>
              <a:t>Développement </a:t>
            </a:r>
            <a:r>
              <a:rPr lang="fr-FR" sz="2000" dirty="0"/>
              <a:t>de </a:t>
            </a:r>
            <a:r>
              <a:rPr lang="fr-FR" sz="2000" dirty="0" smtClean="0"/>
              <a:t>nouvelles </a:t>
            </a:r>
            <a:r>
              <a:rPr lang="fr-FR" sz="2000" dirty="0"/>
              <a:t>vues en </a:t>
            </a:r>
            <a:r>
              <a:rPr lang="fr-FR" sz="2000" dirty="0" err="1" smtClean="0"/>
              <a:t>JavaFx</a:t>
            </a:r>
            <a:r>
              <a:rPr lang="fr-FR" sz="2000" dirty="0" smtClean="0"/>
              <a:t>,</a:t>
            </a:r>
          </a:p>
          <a:p>
            <a:pPr marL="790575" lvl="1" indent="-257175"/>
            <a:r>
              <a:rPr lang="fr-FR" sz="2000" dirty="0" smtClean="0"/>
              <a:t>Refonte de certaines vues Swing en </a:t>
            </a:r>
            <a:r>
              <a:rPr lang="fr-FR" sz="2000" dirty="0" err="1" smtClean="0"/>
              <a:t>JavaFx</a:t>
            </a:r>
            <a:r>
              <a:rPr lang="fr-FR" sz="2000" dirty="0" smtClean="0"/>
              <a:t>.</a:t>
            </a:r>
          </a:p>
          <a:p>
            <a:pPr marL="790575" lvl="1" indent="-257175"/>
            <a:endParaRPr lang="fr-FR" sz="2000" dirty="0"/>
          </a:p>
          <a:p>
            <a:pPr marL="533400" lvl="1" indent="0">
              <a:buNone/>
            </a:pPr>
            <a:endParaRPr lang="fr-FR" sz="2000" dirty="0" smtClean="0"/>
          </a:p>
          <a:p>
            <a:pPr marL="533400" lvl="1" indent="0">
              <a:buNone/>
            </a:pPr>
            <a:endParaRPr lang="fr-FR" sz="2000" dirty="0"/>
          </a:p>
          <a:p>
            <a:pPr marL="790575" lvl="1" indent="-257175"/>
            <a:endParaRPr lang="fr-FR" sz="1200" dirty="0" smtClean="0"/>
          </a:p>
          <a:p>
            <a:pPr marL="1162050" lvl="2"/>
            <a:endParaRPr lang="fr-FR" sz="2000" dirty="0" smtClean="0"/>
          </a:p>
          <a:p>
            <a:pPr marL="1162050" lvl="2"/>
            <a:endParaRPr lang="fr-FR" sz="2000" dirty="0" smtClean="0"/>
          </a:p>
          <a:p>
            <a:pPr lvl="2"/>
            <a:endParaRPr lang="fr-FR" dirty="0" smtClean="0"/>
          </a:p>
          <a:p>
            <a:pPr lvl="2"/>
            <a:endParaRPr lang="fr-FR" dirty="0" smtClean="0"/>
          </a:p>
          <a:p>
            <a:pPr lvl="1"/>
            <a:endParaRPr lang="fr-FR" dirty="0" smtClean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294967295"/>
          </p:nvPr>
        </p:nvSpPr>
        <p:spPr>
          <a:xfrm>
            <a:off x="8890000" y="6719888"/>
            <a:ext cx="254000" cy="103187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DE568C3C-EF22-4802-8EA0-CC18C1DC66F4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116779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fr-FR" dirty="0" smtClean="0"/>
              <a:t>Missions réalisées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406400"/>
            <a:ext cx="9144000" cy="6313488"/>
          </a:xfrm>
        </p:spPr>
        <p:txBody>
          <a:bodyPr/>
          <a:lstStyle/>
          <a:p>
            <a:endParaRPr lang="fr-FR" dirty="0" smtClean="0"/>
          </a:p>
          <a:p>
            <a:pPr marL="190500" indent="0" algn="ctr">
              <a:buNone/>
            </a:pPr>
            <a:r>
              <a:rPr lang="fr-FR" dirty="0" smtClean="0">
                <a:ln>
                  <a:solidFill>
                    <a:schemeClr val="bg1">
                      <a:lumMod val="75000"/>
                    </a:schemeClr>
                  </a:solidFill>
                </a:ln>
              </a:rPr>
              <a:t>Développement de la gestion des utilisateurs</a:t>
            </a:r>
            <a:endParaRPr lang="fr-FR" sz="2000" dirty="0"/>
          </a:p>
          <a:p>
            <a:pPr marL="790575" lvl="1" indent="-257175"/>
            <a:endParaRPr lang="fr-FR" sz="1200" dirty="0" smtClean="0"/>
          </a:p>
          <a:p>
            <a:pPr marL="1162050" lvl="2"/>
            <a:endParaRPr lang="fr-FR" sz="2000" dirty="0" smtClean="0"/>
          </a:p>
          <a:p>
            <a:pPr marL="1162050" lvl="2"/>
            <a:endParaRPr lang="fr-FR" sz="2000" dirty="0" smtClean="0"/>
          </a:p>
          <a:p>
            <a:pPr lvl="2"/>
            <a:endParaRPr lang="fr-FR" dirty="0" smtClean="0"/>
          </a:p>
          <a:p>
            <a:pPr lvl="2"/>
            <a:endParaRPr lang="fr-FR" dirty="0" smtClean="0"/>
          </a:p>
          <a:p>
            <a:pPr lvl="1"/>
            <a:endParaRPr lang="fr-FR" dirty="0" smtClean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294967295"/>
          </p:nvPr>
        </p:nvSpPr>
        <p:spPr>
          <a:xfrm>
            <a:off x="8890000" y="6719888"/>
            <a:ext cx="254000" cy="103187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DE568C3C-EF22-4802-8EA0-CC18C1DC66F4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83" y="1549400"/>
            <a:ext cx="9077717" cy="5170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594943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fr-FR" dirty="0" smtClean="0"/>
              <a:t>Missions réalisées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406400"/>
            <a:ext cx="9144000" cy="6313488"/>
          </a:xfrm>
        </p:spPr>
        <p:txBody>
          <a:bodyPr/>
          <a:lstStyle/>
          <a:p>
            <a:endParaRPr lang="fr-FR" dirty="0" smtClean="0"/>
          </a:p>
          <a:p>
            <a:pPr marL="190500" indent="0" algn="ctr">
              <a:buNone/>
            </a:pPr>
            <a:r>
              <a:rPr lang="fr-FR" dirty="0" smtClean="0">
                <a:ln>
                  <a:solidFill>
                    <a:schemeClr val="bg1">
                      <a:lumMod val="75000"/>
                    </a:schemeClr>
                  </a:solidFill>
                </a:ln>
              </a:rPr>
              <a:t>Développement de la gestion des groupes</a:t>
            </a:r>
            <a:endParaRPr lang="fr-FR" sz="2000" dirty="0"/>
          </a:p>
          <a:p>
            <a:pPr marL="790575" lvl="1" indent="-257175"/>
            <a:endParaRPr lang="fr-FR" sz="1200" dirty="0" smtClean="0"/>
          </a:p>
          <a:p>
            <a:pPr marL="1162050" lvl="2"/>
            <a:endParaRPr lang="fr-FR" sz="2000" dirty="0" smtClean="0"/>
          </a:p>
          <a:p>
            <a:pPr marL="1162050" lvl="2"/>
            <a:endParaRPr lang="fr-FR" sz="2000" dirty="0" smtClean="0"/>
          </a:p>
          <a:p>
            <a:pPr lvl="2"/>
            <a:endParaRPr lang="fr-FR" dirty="0" smtClean="0"/>
          </a:p>
          <a:p>
            <a:pPr lvl="2"/>
            <a:endParaRPr lang="fr-FR" dirty="0" smtClean="0"/>
          </a:p>
          <a:p>
            <a:pPr lvl="1"/>
            <a:endParaRPr lang="fr-FR" dirty="0" smtClean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294967295"/>
          </p:nvPr>
        </p:nvSpPr>
        <p:spPr>
          <a:xfrm>
            <a:off x="8890000" y="6719888"/>
            <a:ext cx="254000" cy="103187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DE568C3C-EF22-4802-8EA0-CC18C1DC66F4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1" y="1714500"/>
            <a:ext cx="8890000" cy="4868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206718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fr-FR" dirty="0" smtClean="0"/>
              <a:t>Missions réalisées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406400"/>
            <a:ext cx="9144000" cy="6313488"/>
          </a:xfrm>
        </p:spPr>
        <p:txBody>
          <a:bodyPr/>
          <a:lstStyle/>
          <a:p>
            <a:endParaRPr lang="fr-FR" dirty="0" smtClean="0"/>
          </a:p>
          <a:p>
            <a:pPr marL="190500" indent="0" algn="ctr">
              <a:buNone/>
            </a:pPr>
            <a:r>
              <a:rPr lang="fr-FR" dirty="0" smtClean="0">
                <a:ln>
                  <a:solidFill>
                    <a:schemeClr val="bg1">
                      <a:lumMod val="75000"/>
                    </a:schemeClr>
                  </a:solidFill>
                </a:ln>
              </a:rPr>
              <a:t>Développement des tableaux de bord </a:t>
            </a:r>
          </a:p>
          <a:p>
            <a:pPr marL="190500" indent="0" algn="ctr">
              <a:buNone/>
            </a:pPr>
            <a:r>
              <a:rPr lang="fr-FR" sz="1800" dirty="0" smtClean="0">
                <a:ln>
                  <a:solidFill>
                    <a:schemeClr val="bg1">
                      <a:lumMod val="75000"/>
                    </a:schemeClr>
                  </a:solidFill>
                </a:ln>
              </a:rPr>
              <a:t>(utilisateur rédacteur de programmes)</a:t>
            </a:r>
            <a:endParaRPr lang="fr-FR" sz="1400" dirty="0"/>
          </a:p>
          <a:p>
            <a:pPr marL="790575" lvl="1" indent="-257175"/>
            <a:endParaRPr lang="fr-FR" sz="1200" dirty="0" smtClean="0"/>
          </a:p>
          <a:p>
            <a:pPr marL="1162050" lvl="2"/>
            <a:endParaRPr lang="fr-FR" sz="2000" dirty="0" smtClean="0"/>
          </a:p>
          <a:p>
            <a:pPr marL="1162050" lvl="2"/>
            <a:endParaRPr lang="fr-FR" sz="2000" dirty="0" smtClean="0"/>
          </a:p>
          <a:p>
            <a:pPr lvl="2"/>
            <a:endParaRPr lang="fr-FR" dirty="0" smtClean="0"/>
          </a:p>
          <a:p>
            <a:pPr lvl="2"/>
            <a:endParaRPr lang="fr-FR" dirty="0" smtClean="0"/>
          </a:p>
          <a:p>
            <a:pPr lvl="1"/>
            <a:endParaRPr lang="fr-FR" dirty="0" smtClean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294967295"/>
          </p:nvPr>
        </p:nvSpPr>
        <p:spPr>
          <a:xfrm>
            <a:off x="8890000" y="6719888"/>
            <a:ext cx="254000" cy="103187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DE568C3C-EF22-4802-8EA0-CC18C1DC66F4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63524" y="1870551"/>
            <a:ext cx="8616951" cy="53563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154462574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fr-FR" dirty="0" smtClean="0"/>
              <a:t>Missions réalisées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406400"/>
            <a:ext cx="9144000" cy="6313488"/>
          </a:xfrm>
        </p:spPr>
        <p:txBody>
          <a:bodyPr/>
          <a:lstStyle/>
          <a:p>
            <a:endParaRPr lang="fr-FR" dirty="0" smtClean="0"/>
          </a:p>
          <a:p>
            <a:pPr marL="190500" indent="0" algn="ctr">
              <a:buNone/>
            </a:pPr>
            <a:r>
              <a:rPr lang="fr-FR" dirty="0" smtClean="0">
                <a:ln>
                  <a:solidFill>
                    <a:schemeClr val="bg1">
                      <a:lumMod val="75000"/>
                    </a:schemeClr>
                  </a:solidFill>
                </a:ln>
              </a:rPr>
              <a:t>Développement de gestion des « Alertes »</a:t>
            </a:r>
            <a:endParaRPr lang="fr-FR" sz="2000" dirty="0"/>
          </a:p>
          <a:p>
            <a:pPr marL="790575" lvl="1" indent="-257175"/>
            <a:endParaRPr lang="fr-FR" sz="1200" dirty="0" smtClean="0"/>
          </a:p>
          <a:p>
            <a:pPr marL="1162050" lvl="2"/>
            <a:endParaRPr lang="fr-FR" sz="2000" dirty="0" smtClean="0"/>
          </a:p>
          <a:p>
            <a:pPr marL="1162050" lvl="2"/>
            <a:endParaRPr lang="fr-FR" sz="2000" dirty="0" smtClean="0"/>
          </a:p>
          <a:p>
            <a:pPr lvl="2"/>
            <a:endParaRPr lang="fr-FR" dirty="0" smtClean="0"/>
          </a:p>
          <a:p>
            <a:pPr lvl="2"/>
            <a:endParaRPr lang="fr-FR" dirty="0" smtClean="0"/>
          </a:p>
          <a:p>
            <a:pPr lvl="1"/>
            <a:endParaRPr lang="fr-FR" dirty="0" smtClean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294967295"/>
          </p:nvPr>
        </p:nvSpPr>
        <p:spPr>
          <a:xfrm>
            <a:off x="8890000" y="6719888"/>
            <a:ext cx="254000" cy="103187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DE568C3C-EF22-4802-8EA0-CC18C1DC66F4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43" y="1549399"/>
            <a:ext cx="8897088" cy="3141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342751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fr-FR" dirty="0" smtClean="0"/>
              <a:t>Missions réalisées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406400"/>
            <a:ext cx="9144000" cy="6313488"/>
          </a:xfrm>
        </p:spPr>
        <p:txBody>
          <a:bodyPr/>
          <a:lstStyle/>
          <a:p>
            <a:endParaRPr lang="fr-FR" dirty="0" smtClean="0"/>
          </a:p>
          <a:p>
            <a:pPr marL="190500" indent="0" algn="ctr">
              <a:buNone/>
            </a:pPr>
            <a:r>
              <a:rPr lang="fr-FR" dirty="0" smtClean="0">
                <a:ln>
                  <a:solidFill>
                    <a:schemeClr val="bg1">
                      <a:lumMod val="75000"/>
                    </a:schemeClr>
                  </a:solidFill>
                </a:ln>
              </a:rPr>
              <a:t>Développement de gestion des « Alertes »</a:t>
            </a:r>
            <a:endParaRPr lang="fr-FR" sz="2000" dirty="0"/>
          </a:p>
          <a:p>
            <a:pPr marL="790575" lvl="1" indent="-257175"/>
            <a:endParaRPr lang="fr-FR" sz="1200" dirty="0" smtClean="0"/>
          </a:p>
          <a:p>
            <a:pPr marL="1162050" lvl="2"/>
            <a:endParaRPr lang="fr-FR" sz="2000" dirty="0" smtClean="0"/>
          </a:p>
          <a:p>
            <a:pPr marL="1162050" lvl="2"/>
            <a:endParaRPr lang="fr-FR" sz="2000" dirty="0" smtClean="0"/>
          </a:p>
          <a:p>
            <a:pPr lvl="2"/>
            <a:endParaRPr lang="fr-FR" dirty="0" smtClean="0"/>
          </a:p>
          <a:p>
            <a:pPr lvl="2"/>
            <a:endParaRPr lang="fr-FR" dirty="0" smtClean="0"/>
          </a:p>
          <a:p>
            <a:pPr lvl="1"/>
            <a:endParaRPr lang="fr-FR" dirty="0" smtClean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294967295"/>
          </p:nvPr>
        </p:nvSpPr>
        <p:spPr>
          <a:xfrm>
            <a:off x="8890000" y="6719888"/>
            <a:ext cx="254000" cy="103187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DE568C3C-EF22-4802-8EA0-CC18C1DC66F4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50" y="1549400"/>
            <a:ext cx="8973499" cy="406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3096639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fr-FR" dirty="0" smtClean="0"/>
              <a:t>Missions réalisées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406400"/>
            <a:ext cx="9144000" cy="6313488"/>
          </a:xfrm>
        </p:spPr>
        <p:txBody>
          <a:bodyPr/>
          <a:lstStyle/>
          <a:p>
            <a:endParaRPr lang="fr-FR" dirty="0" smtClean="0"/>
          </a:p>
          <a:p>
            <a:pPr marL="190500" indent="0" algn="ctr">
              <a:buNone/>
            </a:pPr>
            <a:r>
              <a:rPr lang="fr-FR" dirty="0" smtClean="0">
                <a:ln>
                  <a:solidFill>
                    <a:schemeClr val="bg1">
                      <a:lumMod val="75000"/>
                    </a:schemeClr>
                  </a:solidFill>
                </a:ln>
              </a:rPr>
              <a:t>Tests </a:t>
            </a:r>
            <a:endParaRPr lang="fr-FR" sz="2000" dirty="0"/>
          </a:p>
          <a:p>
            <a:pPr marL="790575" lvl="1" indent="-257175"/>
            <a:endParaRPr lang="fr-FR" sz="1200" dirty="0" smtClean="0"/>
          </a:p>
          <a:p>
            <a:pPr marL="1162050" lvl="2"/>
            <a:endParaRPr lang="fr-FR" sz="2000" dirty="0" smtClean="0"/>
          </a:p>
          <a:p>
            <a:pPr marL="449263" indent="-257175"/>
            <a:r>
              <a:rPr lang="fr-FR" sz="2400" dirty="0" smtClean="0"/>
              <a:t>Tests d’intégration</a:t>
            </a:r>
            <a:endParaRPr lang="fr-FR" sz="2400" dirty="0"/>
          </a:p>
          <a:p>
            <a:pPr marL="790575" lvl="1" indent="-257175"/>
            <a:r>
              <a:rPr lang="fr-FR" sz="2000" dirty="0" smtClean="0"/>
              <a:t>Effectués après la phase de développement</a:t>
            </a:r>
          </a:p>
          <a:p>
            <a:pPr marL="790575" lvl="1" indent="-257175"/>
            <a:r>
              <a:rPr lang="fr-FR" sz="2000" dirty="0" smtClean="0"/>
              <a:t>Déploiement sur l’environnement d’intégration</a:t>
            </a:r>
          </a:p>
          <a:p>
            <a:pPr marL="790575" lvl="1" indent="-257175"/>
            <a:r>
              <a:rPr lang="fr-FR" sz="2000" dirty="0" smtClean="0"/>
              <a:t>Création des scénarios de test sur Test </a:t>
            </a:r>
            <a:r>
              <a:rPr lang="fr-FR" sz="2000" dirty="0" err="1" smtClean="0"/>
              <a:t>Lab</a:t>
            </a:r>
            <a:r>
              <a:rPr lang="fr-FR" sz="2000" dirty="0" smtClean="0"/>
              <a:t> de HP ALM (Application </a:t>
            </a:r>
            <a:r>
              <a:rPr lang="fr-FR" sz="2000" dirty="0" err="1" smtClean="0"/>
              <a:t>Lifecycle</a:t>
            </a:r>
            <a:r>
              <a:rPr lang="fr-FR" sz="2000" dirty="0" smtClean="0"/>
              <a:t> Management)</a:t>
            </a:r>
          </a:p>
          <a:p>
            <a:pPr marL="790575" lvl="1" indent="-257175"/>
            <a:r>
              <a:rPr lang="fr-FR" sz="2000" dirty="0" smtClean="0"/>
              <a:t>Réalisation des scénarios (anciens et nouveaux) sur l’</a:t>
            </a:r>
            <a:r>
              <a:rPr lang="fr-FR" sz="2000" dirty="0" err="1" smtClean="0"/>
              <a:t>env</a:t>
            </a:r>
            <a:r>
              <a:rPr lang="fr-FR" sz="2000" dirty="0" smtClean="0"/>
              <a:t> de l’intégration.</a:t>
            </a:r>
            <a:endParaRPr lang="fr-FR" sz="2000" dirty="0"/>
          </a:p>
          <a:p>
            <a:pPr marL="790575" lvl="1" indent="-257175"/>
            <a:r>
              <a:rPr lang="fr-FR" sz="2000" dirty="0" smtClean="0"/>
              <a:t>Saisie des anomalies sur TeamForge</a:t>
            </a:r>
            <a:endParaRPr lang="fr-FR" sz="2000" dirty="0"/>
          </a:p>
          <a:p>
            <a:pPr marL="1301750" lvl="2" indent="0">
              <a:buNone/>
            </a:pPr>
            <a:endParaRPr lang="fr-FR" dirty="0" smtClean="0"/>
          </a:p>
          <a:p>
            <a:pPr lvl="2"/>
            <a:endParaRPr lang="fr-FR" dirty="0" smtClean="0"/>
          </a:p>
          <a:p>
            <a:pPr lvl="1"/>
            <a:endParaRPr lang="fr-FR" dirty="0" smtClean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294967295"/>
          </p:nvPr>
        </p:nvSpPr>
        <p:spPr>
          <a:xfrm>
            <a:off x="8890000" y="6719888"/>
            <a:ext cx="254000" cy="103187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DE568C3C-EF22-4802-8EA0-CC18C1DC66F4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121591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fr-FR" dirty="0" smtClean="0"/>
              <a:t>Missions réalisées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406400"/>
            <a:ext cx="9144000" cy="6313488"/>
          </a:xfrm>
        </p:spPr>
        <p:txBody>
          <a:bodyPr/>
          <a:lstStyle/>
          <a:p>
            <a:endParaRPr lang="fr-FR" dirty="0" smtClean="0"/>
          </a:p>
          <a:p>
            <a:pPr marL="190500" indent="0" algn="ctr">
              <a:buNone/>
            </a:pPr>
            <a:r>
              <a:rPr lang="fr-FR" dirty="0" smtClean="0">
                <a:ln>
                  <a:solidFill>
                    <a:schemeClr val="bg1">
                      <a:lumMod val="75000"/>
                    </a:schemeClr>
                  </a:solidFill>
                </a:ln>
              </a:rPr>
              <a:t>Tests </a:t>
            </a:r>
            <a:endParaRPr lang="fr-FR" sz="2000" dirty="0"/>
          </a:p>
          <a:p>
            <a:pPr marL="790575" lvl="1" indent="-257175"/>
            <a:endParaRPr lang="fr-FR" sz="1200" dirty="0" smtClean="0"/>
          </a:p>
          <a:p>
            <a:pPr marL="1162050" lvl="2"/>
            <a:endParaRPr lang="fr-FR" sz="2000" dirty="0" smtClean="0"/>
          </a:p>
          <a:p>
            <a:pPr marL="449263" indent="-257175"/>
            <a:r>
              <a:rPr lang="fr-FR" sz="2400" dirty="0" smtClean="0"/>
              <a:t>Tests de validation</a:t>
            </a:r>
            <a:endParaRPr lang="fr-FR" sz="2400" dirty="0"/>
          </a:p>
          <a:p>
            <a:pPr marL="790575" lvl="1" indent="-257175"/>
            <a:r>
              <a:rPr lang="fr-FR" sz="2000" dirty="0" smtClean="0"/>
              <a:t>Effectués après la phase d’intégration</a:t>
            </a:r>
          </a:p>
          <a:p>
            <a:pPr marL="790575" lvl="1" indent="-257175"/>
            <a:r>
              <a:rPr lang="fr-FR" sz="2000" dirty="0" smtClean="0"/>
              <a:t>Déploiement sur l’environnement de validation (iso environnement recette du client)</a:t>
            </a:r>
          </a:p>
          <a:p>
            <a:pPr marL="790575" lvl="1" indent="-257175"/>
            <a:r>
              <a:rPr lang="fr-FR" sz="2000" dirty="0" smtClean="0"/>
              <a:t>Réalisation des scénarios de tests (anciens et nouveaux) sur l’environnement de validation.</a:t>
            </a:r>
            <a:endParaRPr lang="fr-FR" sz="2000" dirty="0"/>
          </a:p>
          <a:p>
            <a:pPr marL="790575" lvl="1" indent="-257175"/>
            <a:r>
              <a:rPr lang="fr-FR" sz="2000" dirty="0" smtClean="0"/>
              <a:t>Saisie des anomalies sur TeamForge</a:t>
            </a:r>
            <a:endParaRPr lang="fr-FR" sz="2000" dirty="0"/>
          </a:p>
          <a:p>
            <a:pPr marL="1301750" lvl="2" indent="0">
              <a:buNone/>
            </a:pPr>
            <a:endParaRPr lang="fr-FR" dirty="0" smtClean="0"/>
          </a:p>
          <a:p>
            <a:pPr lvl="2"/>
            <a:endParaRPr lang="fr-FR" dirty="0" smtClean="0"/>
          </a:p>
          <a:p>
            <a:pPr lvl="1"/>
            <a:endParaRPr lang="fr-FR" dirty="0" smtClean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294967295"/>
          </p:nvPr>
        </p:nvSpPr>
        <p:spPr>
          <a:xfrm>
            <a:off x="8890000" y="6719888"/>
            <a:ext cx="254000" cy="103187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DE568C3C-EF22-4802-8EA0-CC18C1DC66F4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185047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fr-FR" dirty="0" smtClean="0"/>
              <a:t>Missions réalisées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406400"/>
            <a:ext cx="9144000" cy="6313488"/>
          </a:xfrm>
        </p:spPr>
        <p:txBody>
          <a:bodyPr/>
          <a:lstStyle/>
          <a:p>
            <a:endParaRPr lang="fr-FR" dirty="0" smtClean="0"/>
          </a:p>
          <a:p>
            <a:pPr marL="190500" indent="0" algn="ctr">
              <a:buNone/>
            </a:pPr>
            <a:r>
              <a:rPr lang="fr-FR" dirty="0" smtClean="0">
                <a:ln>
                  <a:solidFill>
                    <a:schemeClr val="bg1">
                      <a:lumMod val="75000"/>
                    </a:schemeClr>
                  </a:solidFill>
                </a:ln>
              </a:rPr>
              <a:t>Corrections des anomalies </a:t>
            </a:r>
            <a:endParaRPr lang="fr-FR" sz="2000" dirty="0"/>
          </a:p>
          <a:p>
            <a:pPr marL="790575" lvl="1" indent="-257175"/>
            <a:endParaRPr lang="fr-FR" sz="1200" dirty="0" smtClean="0"/>
          </a:p>
          <a:p>
            <a:pPr marL="1162050" lvl="2"/>
            <a:endParaRPr lang="fr-FR" sz="2000" dirty="0" smtClean="0"/>
          </a:p>
          <a:p>
            <a:pPr marL="449263" indent="-257175"/>
            <a:r>
              <a:rPr lang="fr-FR" sz="2400" dirty="0" smtClean="0"/>
              <a:t>Corrections des anomalies après les tests</a:t>
            </a:r>
            <a:endParaRPr lang="fr-FR" sz="2400" dirty="0"/>
          </a:p>
          <a:p>
            <a:pPr marL="790575" lvl="1" indent="-257175"/>
            <a:r>
              <a:rPr lang="fr-FR" sz="2000" dirty="0" smtClean="0"/>
              <a:t>Les anomalies sont sur TeamForge et assignées à des correcteurs</a:t>
            </a:r>
          </a:p>
          <a:p>
            <a:pPr marL="790575" lvl="1" indent="-257175"/>
            <a:r>
              <a:rPr lang="fr-FR" sz="2000" dirty="0" smtClean="0"/>
              <a:t>Test de reproduction des anomalies</a:t>
            </a:r>
          </a:p>
          <a:p>
            <a:pPr marL="790575" lvl="1" indent="-257175"/>
            <a:r>
              <a:rPr lang="fr-FR" sz="2000" dirty="0" smtClean="0"/>
              <a:t>Suivre le workflow de gestion des anomalies sur TeamForge</a:t>
            </a:r>
            <a:endParaRPr lang="fr-FR" dirty="0" smtClean="0"/>
          </a:p>
          <a:p>
            <a:pPr lvl="2"/>
            <a:endParaRPr lang="fr-FR" dirty="0" smtClean="0"/>
          </a:p>
          <a:p>
            <a:pPr lvl="1"/>
            <a:endParaRPr lang="fr-FR" dirty="0" smtClean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294967295"/>
          </p:nvPr>
        </p:nvSpPr>
        <p:spPr>
          <a:xfrm>
            <a:off x="8890000" y="6719888"/>
            <a:ext cx="254000" cy="103187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DE568C3C-EF22-4802-8EA0-CC18C1DC66F4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741213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marL="190500"/>
            <a:r>
              <a:rPr lang="fr-FR" dirty="0">
                <a:ln>
                  <a:solidFill>
                    <a:schemeClr val="bg1">
                      <a:lumMod val="75000"/>
                    </a:schemeClr>
                  </a:solidFill>
                </a:ln>
              </a:rPr>
              <a:t>Expériences acquises</a:t>
            </a:r>
            <a:endParaRPr lang="fr-FR" sz="28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406400"/>
            <a:ext cx="9144000" cy="6313488"/>
          </a:xfrm>
        </p:spPr>
        <p:txBody>
          <a:bodyPr/>
          <a:lstStyle/>
          <a:p>
            <a:endParaRPr lang="fr-FR" dirty="0" smtClean="0"/>
          </a:p>
          <a:p>
            <a:pPr marL="192088" indent="0">
              <a:buNone/>
            </a:pPr>
            <a:endParaRPr lang="fr-FR" sz="2400" dirty="0" smtClean="0"/>
          </a:p>
          <a:p>
            <a:pPr marL="449263" indent="-257175"/>
            <a:r>
              <a:rPr lang="fr-FR" sz="2400" dirty="0" smtClean="0"/>
              <a:t>Travailler en milieu professionnel sur des projets clients</a:t>
            </a:r>
          </a:p>
          <a:p>
            <a:pPr marL="449263" indent="-257175"/>
            <a:r>
              <a:rPr lang="fr-FR" sz="2400" dirty="0" smtClean="0"/>
              <a:t>Travailler au sein d’une équipe,</a:t>
            </a:r>
          </a:p>
          <a:p>
            <a:pPr marL="449263" indent="-257175"/>
            <a:r>
              <a:rPr lang="fr-FR" sz="2400" dirty="0" smtClean="0"/>
              <a:t>Monté en compétence sur:</a:t>
            </a:r>
          </a:p>
          <a:p>
            <a:pPr marL="982663" lvl="1" indent="-257175"/>
            <a:r>
              <a:rPr lang="fr-FR" dirty="0"/>
              <a:t>t</a:t>
            </a:r>
            <a:r>
              <a:rPr lang="fr-FR" dirty="0" smtClean="0"/>
              <a:t>echnique d’analyse et de conception,</a:t>
            </a:r>
          </a:p>
          <a:p>
            <a:pPr marL="982663" lvl="1" indent="-257175"/>
            <a:r>
              <a:rPr lang="fr-FR" dirty="0" smtClean="0"/>
              <a:t>technologies : </a:t>
            </a:r>
            <a:r>
              <a:rPr lang="fr-FR" dirty="0" err="1" smtClean="0"/>
              <a:t>JavaFx</a:t>
            </a:r>
            <a:r>
              <a:rPr lang="fr-FR" dirty="0" smtClean="0"/>
              <a:t>, Swing, </a:t>
            </a:r>
            <a:r>
              <a:rPr lang="fr-FR" dirty="0" err="1" smtClean="0"/>
              <a:t>ArcGIS</a:t>
            </a:r>
            <a:r>
              <a:rPr lang="fr-FR" dirty="0" smtClean="0"/>
              <a:t> </a:t>
            </a:r>
            <a:r>
              <a:rPr lang="fr-FR" dirty="0" err="1" smtClean="0"/>
              <a:t>runtime</a:t>
            </a:r>
            <a:r>
              <a:rPr lang="fr-FR" dirty="0" smtClean="0"/>
              <a:t>, REST,…</a:t>
            </a:r>
          </a:p>
          <a:p>
            <a:pPr marL="982663" lvl="1" indent="-257175"/>
            <a:r>
              <a:rPr lang="fr-FR" dirty="0"/>
              <a:t>e</a:t>
            </a:r>
            <a:r>
              <a:rPr lang="fr-FR" dirty="0" smtClean="0"/>
              <a:t>nvironnement d’intégration continue : </a:t>
            </a:r>
            <a:r>
              <a:rPr lang="fr-FR" dirty="0" err="1" smtClean="0"/>
              <a:t>jenkins</a:t>
            </a:r>
            <a:endParaRPr lang="fr-FR" dirty="0" smtClean="0"/>
          </a:p>
          <a:p>
            <a:pPr marL="982663" lvl="1" indent="-257175"/>
            <a:r>
              <a:rPr lang="fr-FR" dirty="0" smtClean="0"/>
              <a:t>outils : HP ALM, TeamForge, SVN, …</a:t>
            </a:r>
          </a:p>
          <a:p>
            <a:pPr marL="725488" lvl="1" indent="0">
              <a:buNone/>
            </a:pPr>
            <a:endParaRPr lang="fr-FR" dirty="0" smtClean="0"/>
          </a:p>
          <a:p>
            <a:pPr marL="982663" lvl="1" indent="-257175"/>
            <a:endParaRPr lang="fr-FR" dirty="0" smtClean="0"/>
          </a:p>
          <a:p>
            <a:pPr lvl="2"/>
            <a:endParaRPr lang="fr-FR" dirty="0" smtClean="0"/>
          </a:p>
          <a:p>
            <a:pPr lvl="1"/>
            <a:endParaRPr lang="fr-FR" dirty="0" smtClean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294967295"/>
          </p:nvPr>
        </p:nvSpPr>
        <p:spPr>
          <a:xfrm>
            <a:off x="8890000" y="6719888"/>
            <a:ext cx="254000" cy="103187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DE568C3C-EF22-4802-8EA0-CC18C1DC66F4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471844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-254000" y="1848644"/>
            <a:ext cx="9144000" cy="1143000"/>
          </a:xfrm>
        </p:spPr>
        <p:txBody>
          <a:bodyPr/>
          <a:lstStyle/>
          <a:p>
            <a:r>
              <a:rPr lang="fr-FR" dirty="0" smtClean="0"/>
              <a:t>Merci de votre attention!</a:t>
            </a:r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294967295"/>
          </p:nvPr>
        </p:nvSpPr>
        <p:spPr>
          <a:xfrm>
            <a:off x="8890000" y="6719888"/>
            <a:ext cx="254000" cy="103187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DE568C3C-EF22-4802-8EA0-CC18C1DC66F4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657758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ontents &amp; Section break">
  <a:themeElements>
    <a:clrScheme name="Contents &amp; Section break 1">
      <a:dk1>
        <a:srgbClr val="000000"/>
      </a:dk1>
      <a:lt1>
        <a:srgbClr val="ABE9FF"/>
      </a:lt1>
      <a:dk2>
        <a:srgbClr val="009BCC"/>
      </a:dk2>
      <a:lt2>
        <a:srgbClr val="FFFFFF"/>
      </a:lt2>
      <a:accent1>
        <a:srgbClr val="FDC71E"/>
      </a:accent1>
      <a:accent2>
        <a:srgbClr val="EE7D11"/>
      </a:accent2>
      <a:accent3>
        <a:srgbClr val="D2F2FF"/>
      </a:accent3>
      <a:accent4>
        <a:srgbClr val="000000"/>
      </a:accent4>
      <a:accent5>
        <a:srgbClr val="FEE0AB"/>
      </a:accent5>
      <a:accent6>
        <a:srgbClr val="D8710E"/>
      </a:accent6>
      <a:hlink>
        <a:srgbClr val="CBD300"/>
      </a:hlink>
      <a:folHlink>
        <a:srgbClr val="8F143B"/>
      </a:folHlink>
    </a:clrScheme>
    <a:fontScheme name="Contents &amp; Section break">
      <a:majorFont>
        <a:latin typeface="Arial Narrow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tx2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85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0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tx2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85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0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Contents &amp; Section break 1">
        <a:dk1>
          <a:srgbClr val="000000"/>
        </a:dk1>
        <a:lt1>
          <a:srgbClr val="ABE9FF"/>
        </a:lt1>
        <a:dk2>
          <a:srgbClr val="009BCC"/>
        </a:dk2>
        <a:lt2>
          <a:srgbClr val="FFFFFF"/>
        </a:lt2>
        <a:accent1>
          <a:srgbClr val="FDC71E"/>
        </a:accent1>
        <a:accent2>
          <a:srgbClr val="EE7D11"/>
        </a:accent2>
        <a:accent3>
          <a:srgbClr val="D2F2FF"/>
        </a:accent3>
        <a:accent4>
          <a:srgbClr val="000000"/>
        </a:accent4>
        <a:accent5>
          <a:srgbClr val="FEE0AB"/>
        </a:accent5>
        <a:accent6>
          <a:srgbClr val="D8710E"/>
        </a:accent6>
        <a:hlink>
          <a:srgbClr val="CBD300"/>
        </a:hlink>
        <a:folHlink>
          <a:srgbClr val="8F143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Conception personnalisée">
  <a:themeElements>
    <a:clrScheme name="Conception personnalisée 1">
      <a:dk1>
        <a:srgbClr val="000000"/>
      </a:dk1>
      <a:lt1>
        <a:srgbClr val="ABE9FF"/>
      </a:lt1>
      <a:dk2>
        <a:srgbClr val="009BCC"/>
      </a:dk2>
      <a:lt2>
        <a:srgbClr val="FFFFFF"/>
      </a:lt2>
      <a:accent1>
        <a:srgbClr val="FDC71E"/>
      </a:accent1>
      <a:accent2>
        <a:srgbClr val="EE7D11"/>
      </a:accent2>
      <a:accent3>
        <a:srgbClr val="D2F2FF"/>
      </a:accent3>
      <a:accent4>
        <a:srgbClr val="000000"/>
      </a:accent4>
      <a:accent5>
        <a:srgbClr val="FEE0AB"/>
      </a:accent5>
      <a:accent6>
        <a:srgbClr val="D8710E"/>
      </a:accent6>
      <a:hlink>
        <a:srgbClr val="CBD300"/>
      </a:hlink>
      <a:folHlink>
        <a:srgbClr val="8F143B"/>
      </a:folHlink>
    </a:clrScheme>
    <a:fontScheme name="Conception personnalisée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tx2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85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0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tx2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85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0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Conception personnalisée 1">
        <a:dk1>
          <a:srgbClr val="000000"/>
        </a:dk1>
        <a:lt1>
          <a:srgbClr val="ABE9FF"/>
        </a:lt1>
        <a:dk2>
          <a:srgbClr val="009BCC"/>
        </a:dk2>
        <a:lt2>
          <a:srgbClr val="FFFFFF"/>
        </a:lt2>
        <a:accent1>
          <a:srgbClr val="FDC71E"/>
        </a:accent1>
        <a:accent2>
          <a:srgbClr val="EE7D11"/>
        </a:accent2>
        <a:accent3>
          <a:srgbClr val="D2F2FF"/>
        </a:accent3>
        <a:accent4>
          <a:srgbClr val="000000"/>
        </a:accent4>
        <a:accent5>
          <a:srgbClr val="FEE0AB"/>
        </a:accent5>
        <a:accent6>
          <a:srgbClr val="D8710E"/>
        </a:accent6>
        <a:hlink>
          <a:srgbClr val="CBD300"/>
        </a:hlink>
        <a:folHlink>
          <a:srgbClr val="8F143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44091</TotalTime>
  <Words>536</Words>
  <Application>Microsoft Office PowerPoint</Application>
  <PresentationFormat>Affichage à l'écran (4:3)</PresentationFormat>
  <Paragraphs>192</Paragraphs>
  <Slides>16</Slides>
  <Notes>16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16</vt:i4>
      </vt:variant>
    </vt:vector>
  </HeadingPairs>
  <TitlesOfParts>
    <vt:vector size="21" baseType="lpstr">
      <vt:lpstr>Arial</vt:lpstr>
      <vt:lpstr>Arial Narrow</vt:lpstr>
      <vt:lpstr>Wingdings</vt:lpstr>
      <vt:lpstr>Contents &amp; Section break</vt:lpstr>
      <vt:lpstr>Conception personnalisée</vt:lpstr>
      <vt:lpstr>Stage au sein du « Cluster SIG » Projet SERT </vt:lpstr>
      <vt:lpstr>Plan</vt:lpstr>
      <vt:lpstr>Contexte du stage</vt:lpstr>
      <vt:lpstr>Contexte du stage</vt:lpstr>
      <vt:lpstr>Sujet de stage</vt:lpstr>
      <vt:lpstr>Missions réalisées</vt:lpstr>
      <vt:lpstr>Missions réalisées</vt:lpstr>
      <vt:lpstr>Missions réalisées</vt:lpstr>
      <vt:lpstr>Missions réalisées</vt:lpstr>
      <vt:lpstr>Missions réalisées</vt:lpstr>
      <vt:lpstr>Missions réalisées</vt:lpstr>
      <vt:lpstr>Missions réalisées</vt:lpstr>
      <vt:lpstr>Missions réalisées</vt:lpstr>
      <vt:lpstr>Missions réalisées</vt:lpstr>
      <vt:lpstr>Expériences acquises</vt:lpstr>
      <vt:lpstr>Merci de votre attention!</vt:lpstr>
    </vt:vector>
  </TitlesOfParts>
  <Manager>Direction Industrielle</Manager>
  <Company>Capgemini France - Direction des Opérations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Support Module M2</dc:title>
  <dc:creator>Capgemini</dc:creator>
  <cp:keywords>Formation SERT</cp:keywords>
  <cp:lastModifiedBy>RANDRIAMAHARAVOMANANA, Tantely</cp:lastModifiedBy>
  <cp:revision>629</cp:revision>
  <dcterms:created xsi:type="dcterms:W3CDTF">2007-12-11T01:21:05Z</dcterms:created>
  <dcterms:modified xsi:type="dcterms:W3CDTF">2017-07-06T12:39:37Z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GroupName">
    <vt:lpwstr>Capgemini</vt:lpwstr>
  </property>
  <property fmtid="{D5CDD505-2E9C-101B-9397-08002B2CF9AE}" pid="3" name="DocCopyright">
    <vt:lpwstr>© 2010 Capgemini</vt:lpwstr>
  </property>
  <property fmtid="{D5CDD505-2E9C-101B-9397-08002B2CF9AE}" pid="4" name="DocMethodName">
    <vt:lpwstr>DELIVER2</vt:lpwstr>
  </property>
  <property fmtid="{D5CDD505-2E9C-101B-9397-08002B2CF9AE}" pid="5" name="DocRegionName">
    <vt:lpwstr>Capgemini France</vt:lpwstr>
  </property>
  <property fmtid="{D5CDD505-2E9C-101B-9397-08002B2CF9AE}" pid="6" name="DocEntityName">
    <vt:lpwstr>Direction des Opérations</vt:lpwstr>
  </property>
  <property fmtid="{D5CDD505-2E9C-101B-9397-08002B2CF9AE}" pid="7" name="DocUnitName">
    <vt:lpwstr>Direction Industrielle</vt:lpwstr>
  </property>
  <property fmtid="{D5CDD505-2E9C-101B-9397-08002B2CF9AE}" pid="8" name="DocUnitAdr1">
    <vt:lpwstr>Tour Europlaza</vt:lpwstr>
  </property>
  <property fmtid="{D5CDD505-2E9C-101B-9397-08002B2CF9AE}" pid="9" name="DocUnitAdr2">
    <vt:lpwstr>20 Avenue André PROTHIN</vt:lpwstr>
  </property>
  <property fmtid="{D5CDD505-2E9C-101B-9397-08002B2CF9AE}" pid="10" name="DocUnitAdr3">
    <vt:lpwstr>92927 LA DEFENSE CEDEX</vt:lpwstr>
  </property>
  <property fmtid="{D5CDD505-2E9C-101B-9397-08002B2CF9AE}" pid="11" name="DocUnitAdr4">
    <vt:lpwstr>FRANCE</vt:lpwstr>
  </property>
  <property fmtid="{D5CDD505-2E9C-101B-9397-08002B2CF9AE}" pid="12" name="DocUnitAdr5">
    <vt:lpwstr/>
  </property>
  <property fmtid="{D5CDD505-2E9C-101B-9397-08002B2CF9AE}" pid="13" name="DocUnitPhone">
    <vt:lpwstr>Tél. : +33(0)1 49 67 30 00</vt:lpwstr>
  </property>
  <property fmtid="{D5CDD505-2E9C-101B-9397-08002B2CF9AE}" pid="14" name="DocUnitFax">
    <vt:lpwstr>Fax : +33(0)1 49 67 30 01</vt:lpwstr>
  </property>
  <property fmtid="{D5CDD505-2E9C-101B-9397-08002B2CF9AE}" pid="15" name="DocUnitEmail">
    <vt:lpwstr>fr-indus.fr@capgemini.com</vt:lpwstr>
  </property>
  <property fmtid="{D5CDD505-2E9C-101B-9397-08002B2CF9AE}" pid="16" name="DocProjectName">
    <vt:lpwstr>Industrialisation</vt:lpwstr>
  </property>
  <property fmtid="{D5CDD505-2E9C-101B-9397-08002B2CF9AE}" pid="17" name="DocProjectStreamName">
    <vt:lpwstr>Common Set Of Tools</vt:lpwstr>
  </property>
  <property fmtid="{D5CDD505-2E9C-101B-9397-08002B2CF9AE}" pid="18" name="DocTitle">
    <vt:lpwstr>Réunion de lancement client</vt:lpwstr>
  </property>
  <property fmtid="{D5CDD505-2E9C-101B-9397-08002B2CF9AE}" pid="19" name="DocType">
    <vt:lpwstr>Modèle</vt:lpwstr>
  </property>
  <property fmtid="{D5CDD505-2E9C-101B-9397-08002B2CF9AE}" pid="20" name="DocUsage">
    <vt:lpwstr>Usage interne</vt:lpwstr>
  </property>
  <property fmtid="{D5CDD505-2E9C-101B-9397-08002B2CF9AE}" pid="21" name="DocVersion">
    <vt:lpwstr>1.0.a</vt:lpwstr>
  </property>
  <property fmtid="{D5CDD505-2E9C-101B-9397-08002B2CF9AE}" pid="22" name="DocProjectId">
    <vt:lpwstr>CGF</vt:lpwstr>
  </property>
  <property fmtid="{D5CDD505-2E9C-101B-9397-08002B2CF9AE}" pid="23" name="DocProjectStreamId">
    <vt:lpwstr>INDUS</vt:lpwstr>
  </property>
  <property fmtid="{D5CDD505-2E9C-101B-9397-08002B2CF9AE}" pid="24" name="DocProjectSerialNumber">
    <vt:lpwstr>0039</vt:lpwstr>
  </property>
  <property fmtid="{D5CDD505-2E9C-101B-9397-08002B2CF9AE}" pid="25" name="DocURL">
    <vt:lpwstr>https://coconet2.capgemini.com/sf/go/doc1667022</vt:lpwstr>
  </property>
  <property fmtid="{D5CDD505-2E9C-101B-9397-08002B2CF9AE}" pid="26" name="DocUpdate">
    <vt:lpwstr>26/02/2010</vt:lpwstr>
  </property>
  <property fmtid="{D5CDD505-2E9C-101B-9397-08002B2CF9AE}" pid="27" name="DocCreation">
    <vt:lpwstr>26/02/2010</vt:lpwstr>
  </property>
  <property fmtid="{D5CDD505-2E9C-101B-9397-08002B2CF9AE}" pid="28" name="DocStatus">
    <vt:lpwstr>Approuvé</vt:lpwstr>
  </property>
  <property fmtid="{D5CDD505-2E9C-101B-9397-08002B2CF9AE}" pid="29" name="DocAuthor">
    <vt:lpwstr>Direction Industrielle</vt:lpwstr>
  </property>
  <property fmtid="{D5CDD505-2E9C-101B-9397-08002B2CF9AE}" pid="30" name="DocRef">
    <vt:lpwstr>CGF/INDUS/0039</vt:lpwstr>
  </property>
  <property fmtid="{D5CDD505-2E9C-101B-9397-08002B2CF9AE}" pid="31" name="DocValidationName">
    <vt:lpwstr>Jean-Etienne SALETTE</vt:lpwstr>
  </property>
  <property fmtid="{D5CDD505-2E9C-101B-9397-08002B2CF9AE}" pid="32" name="DocCustomerName">
    <vt:lpwstr/>
  </property>
  <property fmtid="{D5CDD505-2E9C-101B-9397-08002B2CF9AE}" pid="33" name="DocLanguage">
    <vt:lpwstr>FR</vt:lpwstr>
  </property>
  <property fmtid="{D5CDD505-2E9C-101B-9397-08002B2CF9AE}" pid="34" name="DocModelName">
    <vt:lpwstr>Réunion de lancement client</vt:lpwstr>
  </property>
  <property fmtid="{D5CDD505-2E9C-101B-9397-08002B2CF9AE}" pid="35" name="DocModelRef">
    <vt:lpwstr>CGF/INDUS/0039 FR</vt:lpwstr>
  </property>
  <property fmtid="{D5CDD505-2E9C-101B-9397-08002B2CF9AE}" pid="36" name="DocModelVersion">
    <vt:lpwstr>1.0.a</vt:lpwstr>
  </property>
  <property fmtid="{D5CDD505-2E9C-101B-9397-08002B2CF9AE}" pid="37" name="DocModelAdmin">
    <vt:lpwstr>Daniel HAJAGE</vt:lpwstr>
  </property>
</Properties>
</file>