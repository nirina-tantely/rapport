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handoutMasterIdLst>
    <p:handoutMasterId r:id="rId41"/>
  </p:handoutMasterIdLst>
  <p:sldIdLst>
    <p:sldId id="484" r:id="rId2"/>
    <p:sldId id="596" r:id="rId3"/>
    <p:sldId id="487" r:id="rId4"/>
    <p:sldId id="597" r:id="rId5"/>
    <p:sldId id="610" r:id="rId6"/>
    <p:sldId id="611" r:id="rId7"/>
    <p:sldId id="552" r:id="rId8"/>
    <p:sldId id="561" r:id="rId9"/>
    <p:sldId id="632" r:id="rId10"/>
    <p:sldId id="598" r:id="rId11"/>
    <p:sldId id="624" r:id="rId12"/>
    <p:sldId id="625" r:id="rId13"/>
    <p:sldId id="627" r:id="rId14"/>
    <p:sldId id="628" r:id="rId15"/>
    <p:sldId id="626" r:id="rId16"/>
    <p:sldId id="629" r:id="rId17"/>
    <p:sldId id="630" r:id="rId18"/>
    <p:sldId id="631" r:id="rId19"/>
    <p:sldId id="646" r:id="rId20"/>
    <p:sldId id="623" r:id="rId21"/>
    <p:sldId id="633" r:id="rId22"/>
    <p:sldId id="634" r:id="rId23"/>
    <p:sldId id="635" r:id="rId24"/>
    <p:sldId id="637" r:id="rId25"/>
    <p:sldId id="638" r:id="rId26"/>
    <p:sldId id="639" r:id="rId27"/>
    <p:sldId id="636" r:id="rId28"/>
    <p:sldId id="640" r:id="rId29"/>
    <p:sldId id="641" r:id="rId30"/>
    <p:sldId id="642" r:id="rId31"/>
    <p:sldId id="643" r:id="rId32"/>
    <p:sldId id="644" r:id="rId33"/>
    <p:sldId id="647" r:id="rId34"/>
    <p:sldId id="650" r:id="rId35"/>
    <p:sldId id="651" r:id="rId36"/>
    <p:sldId id="648" r:id="rId37"/>
    <p:sldId id="584" r:id="rId38"/>
    <p:sldId id="622" r:id="rId39"/>
  </p:sldIdLst>
  <p:sldSz cx="18288000" cy="10296525"/>
  <p:notesSz cx="7099300" cy="10234613"/>
  <p:defaultTextStyle>
    <a:defPPr>
      <a:defRPr lang="en-US"/>
    </a:defPPr>
    <a:lvl1pPr marL="0" algn="l" defTabSz="912834" rtl="0" eaLnBrk="1" latinLnBrk="0" hangingPunct="1">
      <a:defRPr sz="3600" kern="1200">
        <a:solidFill>
          <a:schemeClr val="tx1"/>
        </a:solidFill>
        <a:latin typeface="+mn-lt"/>
        <a:ea typeface="+mn-ea"/>
        <a:cs typeface="+mn-cs"/>
      </a:defRPr>
    </a:lvl1pPr>
    <a:lvl2pPr marL="912834" algn="l" defTabSz="912834" rtl="0" eaLnBrk="1" latinLnBrk="0" hangingPunct="1">
      <a:defRPr sz="3600" kern="1200">
        <a:solidFill>
          <a:schemeClr val="tx1"/>
        </a:solidFill>
        <a:latin typeface="+mn-lt"/>
        <a:ea typeface="+mn-ea"/>
        <a:cs typeface="+mn-cs"/>
      </a:defRPr>
    </a:lvl2pPr>
    <a:lvl3pPr marL="1825692" algn="l" defTabSz="912834" rtl="0" eaLnBrk="1" latinLnBrk="0" hangingPunct="1">
      <a:defRPr sz="3600" kern="1200">
        <a:solidFill>
          <a:schemeClr val="tx1"/>
        </a:solidFill>
        <a:latin typeface="+mn-lt"/>
        <a:ea typeface="+mn-ea"/>
        <a:cs typeface="+mn-cs"/>
      </a:defRPr>
    </a:lvl3pPr>
    <a:lvl4pPr marL="2738541" algn="l" defTabSz="912834" rtl="0" eaLnBrk="1" latinLnBrk="0" hangingPunct="1">
      <a:defRPr sz="3600" kern="1200">
        <a:solidFill>
          <a:schemeClr val="tx1"/>
        </a:solidFill>
        <a:latin typeface="+mn-lt"/>
        <a:ea typeface="+mn-ea"/>
        <a:cs typeface="+mn-cs"/>
      </a:defRPr>
    </a:lvl4pPr>
    <a:lvl5pPr marL="3651375" algn="l" defTabSz="912834" rtl="0" eaLnBrk="1" latinLnBrk="0" hangingPunct="1">
      <a:defRPr sz="3600" kern="1200">
        <a:solidFill>
          <a:schemeClr val="tx1"/>
        </a:solidFill>
        <a:latin typeface="+mn-lt"/>
        <a:ea typeface="+mn-ea"/>
        <a:cs typeface="+mn-cs"/>
      </a:defRPr>
    </a:lvl5pPr>
    <a:lvl6pPr marL="4564219" algn="l" defTabSz="912834" rtl="0" eaLnBrk="1" latinLnBrk="0" hangingPunct="1">
      <a:defRPr sz="3600" kern="1200">
        <a:solidFill>
          <a:schemeClr val="tx1"/>
        </a:solidFill>
        <a:latin typeface="+mn-lt"/>
        <a:ea typeface="+mn-ea"/>
        <a:cs typeface="+mn-cs"/>
      </a:defRPr>
    </a:lvl6pPr>
    <a:lvl7pPr marL="5477071" algn="l" defTabSz="912834" rtl="0" eaLnBrk="1" latinLnBrk="0" hangingPunct="1">
      <a:defRPr sz="3600" kern="1200">
        <a:solidFill>
          <a:schemeClr val="tx1"/>
        </a:solidFill>
        <a:latin typeface="+mn-lt"/>
        <a:ea typeface="+mn-ea"/>
        <a:cs typeface="+mn-cs"/>
      </a:defRPr>
    </a:lvl7pPr>
    <a:lvl8pPr marL="6389912" algn="l" defTabSz="912834" rtl="0" eaLnBrk="1" latinLnBrk="0" hangingPunct="1">
      <a:defRPr sz="3600" kern="1200">
        <a:solidFill>
          <a:schemeClr val="tx1"/>
        </a:solidFill>
        <a:latin typeface="+mn-lt"/>
        <a:ea typeface="+mn-ea"/>
        <a:cs typeface="+mn-cs"/>
      </a:defRPr>
    </a:lvl8pPr>
    <a:lvl9pPr marL="7302754" algn="l" defTabSz="9128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3" userDrawn="1">
          <p15:clr>
            <a:srgbClr val="A4A3A4"/>
          </p15:clr>
        </p15:guide>
        <p15:guide id="2" pos="576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NDRIAMAHARAVOMANANA, Tantely" initials="RT" lastIdx="1" clrIdx="0">
    <p:extLst>
      <p:ext uri="{19B8F6BF-5375-455C-9EA6-DF929625EA0E}">
        <p15:presenceInfo xmlns:p15="http://schemas.microsoft.com/office/powerpoint/2012/main" userId="S-1-5-21-1531082355-734649621-3782574898-26949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9646"/>
    <a:srgbClr val="02AFE9"/>
    <a:srgbClr val="B70132"/>
    <a:srgbClr val="828282"/>
    <a:srgbClr val="C0504D"/>
    <a:srgbClr val="00B0F0"/>
    <a:srgbClr val="39CFB6"/>
    <a:srgbClr val="2CB69F"/>
    <a:srgbClr val="46D3DA"/>
    <a:srgbClr val="7BE1C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96" autoAdjust="0"/>
    <p:restoredTop sz="95284" autoAdjust="0"/>
  </p:normalViewPr>
  <p:slideViewPr>
    <p:cSldViewPr snapToObjects="1">
      <p:cViewPr varScale="1">
        <p:scale>
          <a:sx n="53" d="100"/>
          <a:sy n="53" d="100"/>
        </p:scale>
        <p:origin x="845" y="86"/>
      </p:cViewPr>
      <p:guideLst>
        <p:guide orient="horz" pos="3243"/>
        <p:guide pos="5760"/>
      </p:guideLst>
    </p:cSldViewPr>
  </p:slideViewPr>
  <p:outlineViewPr>
    <p:cViewPr>
      <p:scale>
        <a:sx n="33" d="100"/>
        <a:sy n="33" d="100"/>
      </p:scale>
      <p:origin x="0" y="54972"/>
    </p:cViewPr>
    <p:sldLst>
      <p:sld r:id="rId1" collapse="1"/>
    </p:sldLst>
  </p:outlineViewPr>
  <p:notesTextViewPr>
    <p:cViewPr>
      <p:scale>
        <a:sx n="3" d="2"/>
        <a:sy n="3" d="2"/>
      </p:scale>
      <p:origin x="0" y="0"/>
    </p:cViewPr>
  </p:notesTextViewPr>
  <p:sorterViewPr>
    <p:cViewPr>
      <p:scale>
        <a:sx n="50" d="100"/>
        <a:sy n="50" d="100"/>
      </p:scale>
      <p:origin x="0" y="0"/>
    </p:cViewPr>
  </p:sorterViewPr>
  <p:notesViewPr>
    <p:cSldViewPr snapToObjects="1">
      <p:cViewPr>
        <p:scale>
          <a:sx n="80" d="100"/>
          <a:sy n="80" d="100"/>
        </p:scale>
        <p:origin x="2698" y="-13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7-07-04T05:00:19.139" idx="1">
    <p:pos x="10" y="10"/>
    <p:text/>
    <p:extLst>
      <p:ext uri="{C676402C-5697-4E1C-873F-D02D1690AC5C}">
        <p15:threadingInfo xmlns:p15="http://schemas.microsoft.com/office/powerpoint/2012/main" timeZoneBias="-12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fld id="{6E55B013-6368-4E48-8A86-62899D9C1DF3}" type="datetimeFigureOut">
              <a:rPr lang="fr-FR" smtClean="0"/>
              <a:pPr/>
              <a:t>04/07/2017</a:t>
            </a:fld>
            <a:endParaRPr lang="fr-FR"/>
          </a:p>
        </p:txBody>
      </p:sp>
      <p:sp>
        <p:nvSpPr>
          <p:cNvPr id="4" name="Espace réservé du pied de page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7C9DA158-E498-45BE-8628-4C79059B5D43}" type="slidenum">
              <a:rPr lang="fr-FR" smtClean="0"/>
              <a:pPr/>
              <a:t>‹N°›</a:t>
            </a:fld>
            <a:endParaRPr lang="fr-FR"/>
          </a:p>
        </p:txBody>
      </p:sp>
    </p:spTree>
    <p:extLst>
      <p:ext uri="{BB962C8B-B14F-4D97-AF65-F5344CB8AC3E}">
        <p14:creationId xmlns:p14="http://schemas.microsoft.com/office/powerpoint/2010/main" val="12263451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52BE12AE-E2C1-A140-92AF-5C7FED58F9EE}" type="datetimeFigureOut">
              <a:rPr lang="en-US" smtClean="0"/>
              <a:pPr/>
              <a:t>7/4/2017</a:t>
            </a:fld>
            <a:endParaRPr lang="en-US" dirty="0"/>
          </a:p>
        </p:txBody>
      </p:sp>
      <p:sp>
        <p:nvSpPr>
          <p:cNvPr id="4" name="Slide Image Placeholder 3"/>
          <p:cNvSpPr>
            <a:spLocks noGrp="1" noRot="1" noChangeAspect="1"/>
          </p:cNvSpPr>
          <p:nvPr>
            <p:ph type="sldImg" idx="2"/>
          </p:nvPr>
        </p:nvSpPr>
        <p:spPr>
          <a:xfrm>
            <a:off x="142875" y="768350"/>
            <a:ext cx="6813550"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fr-FR" smtClean="0"/>
              <a:t>Click to edit Master text styles</a:t>
            </a:r>
          </a:p>
          <a:p>
            <a:pPr lvl="1"/>
            <a:r>
              <a:rPr lang="fr-FR" smtClean="0"/>
              <a:t>Second level</a:t>
            </a:r>
          </a:p>
          <a:p>
            <a:pPr lvl="2"/>
            <a:r>
              <a:rPr lang="fr-FR" smtClean="0"/>
              <a:t>Third level</a:t>
            </a:r>
          </a:p>
          <a:p>
            <a:pPr lvl="3"/>
            <a:r>
              <a:rPr lang="fr-FR" smtClean="0"/>
              <a:t>Fourth level</a:t>
            </a:r>
          </a:p>
          <a:p>
            <a:pPr lvl="4"/>
            <a:r>
              <a:rPr lang="fr-FR" smtClean="0"/>
              <a:t>Fifth level</a:t>
            </a:r>
            <a:endParaRPr lang="en-US"/>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6E708EC9-032B-F246-A81F-6A66D984D144}" type="slidenum">
              <a:rPr lang="en-US" smtClean="0"/>
              <a:pPr/>
              <a:t>‹N°›</a:t>
            </a:fld>
            <a:endParaRPr lang="en-US" dirty="0"/>
          </a:p>
        </p:txBody>
      </p:sp>
    </p:spTree>
    <p:extLst>
      <p:ext uri="{BB962C8B-B14F-4D97-AF65-F5344CB8AC3E}">
        <p14:creationId xmlns:p14="http://schemas.microsoft.com/office/powerpoint/2010/main" val="2595369404"/>
      </p:ext>
    </p:extLst>
  </p:cSld>
  <p:clrMap bg1="lt1" tx1="dk1" bg2="lt2" tx2="dk2" accent1="accent1" accent2="accent2" accent3="accent3" accent4="accent4" accent5="accent5" accent6="accent6" hlink="hlink" folHlink="folHlink"/>
  <p:notesStyle>
    <a:lvl1pPr marL="0" algn="l" defTabSz="912834" rtl="0" eaLnBrk="1" latinLnBrk="0" hangingPunct="1">
      <a:defRPr sz="2400" kern="1200">
        <a:solidFill>
          <a:schemeClr val="tx1"/>
        </a:solidFill>
        <a:latin typeface="+mn-lt"/>
        <a:ea typeface="+mn-ea"/>
        <a:cs typeface="+mn-cs"/>
      </a:defRPr>
    </a:lvl1pPr>
    <a:lvl2pPr marL="912834" algn="l" defTabSz="912834" rtl="0" eaLnBrk="1" latinLnBrk="0" hangingPunct="1">
      <a:defRPr sz="2400" kern="1200">
        <a:solidFill>
          <a:schemeClr val="tx1"/>
        </a:solidFill>
        <a:latin typeface="+mn-lt"/>
        <a:ea typeface="+mn-ea"/>
        <a:cs typeface="+mn-cs"/>
      </a:defRPr>
    </a:lvl2pPr>
    <a:lvl3pPr marL="1825692" algn="l" defTabSz="912834" rtl="0" eaLnBrk="1" latinLnBrk="0" hangingPunct="1">
      <a:defRPr sz="2400" kern="1200">
        <a:solidFill>
          <a:schemeClr val="tx1"/>
        </a:solidFill>
        <a:latin typeface="+mn-lt"/>
        <a:ea typeface="+mn-ea"/>
        <a:cs typeface="+mn-cs"/>
      </a:defRPr>
    </a:lvl3pPr>
    <a:lvl4pPr marL="2738541" algn="l" defTabSz="912834" rtl="0" eaLnBrk="1" latinLnBrk="0" hangingPunct="1">
      <a:defRPr sz="2400" kern="1200">
        <a:solidFill>
          <a:schemeClr val="tx1"/>
        </a:solidFill>
        <a:latin typeface="+mn-lt"/>
        <a:ea typeface="+mn-ea"/>
        <a:cs typeface="+mn-cs"/>
      </a:defRPr>
    </a:lvl4pPr>
    <a:lvl5pPr marL="3651375" algn="l" defTabSz="912834" rtl="0" eaLnBrk="1" latinLnBrk="0" hangingPunct="1">
      <a:defRPr sz="2400" kern="1200">
        <a:solidFill>
          <a:schemeClr val="tx1"/>
        </a:solidFill>
        <a:latin typeface="+mn-lt"/>
        <a:ea typeface="+mn-ea"/>
        <a:cs typeface="+mn-cs"/>
      </a:defRPr>
    </a:lvl5pPr>
    <a:lvl6pPr marL="4564219" algn="l" defTabSz="912834" rtl="0" eaLnBrk="1" latinLnBrk="0" hangingPunct="1">
      <a:defRPr sz="2400" kern="1200">
        <a:solidFill>
          <a:schemeClr val="tx1"/>
        </a:solidFill>
        <a:latin typeface="+mn-lt"/>
        <a:ea typeface="+mn-ea"/>
        <a:cs typeface="+mn-cs"/>
      </a:defRPr>
    </a:lvl6pPr>
    <a:lvl7pPr marL="5477071" algn="l" defTabSz="912834" rtl="0" eaLnBrk="1" latinLnBrk="0" hangingPunct="1">
      <a:defRPr sz="2400" kern="1200">
        <a:solidFill>
          <a:schemeClr val="tx1"/>
        </a:solidFill>
        <a:latin typeface="+mn-lt"/>
        <a:ea typeface="+mn-ea"/>
        <a:cs typeface="+mn-cs"/>
      </a:defRPr>
    </a:lvl7pPr>
    <a:lvl8pPr marL="6389912" algn="l" defTabSz="912834" rtl="0" eaLnBrk="1" latinLnBrk="0" hangingPunct="1">
      <a:defRPr sz="2400" kern="1200">
        <a:solidFill>
          <a:schemeClr val="tx1"/>
        </a:solidFill>
        <a:latin typeface="+mn-lt"/>
        <a:ea typeface="+mn-ea"/>
        <a:cs typeface="+mn-cs"/>
      </a:defRPr>
    </a:lvl8pPr>
    <a:lvl9pPr marL="7302754" algn="l" defTabSz="912834"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400" kern="1200" dirty="0" smtClean="0">
                <a:solidFill>
                  <a:schemeClr val="tx1"/>
                </a:solidFill>
                <a:effectLst/>
                <a:latin typeface="+mn-lt"/>
                <a:ea typeface="+mn-ea"/>
                <a:cs typeface="+mn-cs"/>
              </a:rPr>
              <a:t>Je tiens pour commencer à vous adresser, chers membres du jury, mes sincères remerciements pour votre lecture et votre présence aujourd’hui à cette soutenance de stage.</a:t>
            </a:r>
          </a:p>
          <a:p>
            <a:r>
              <a:rPr lang="fr-FR" sz="2400" kern="1200" dirty="0" smtClean="0">
                <a:solidFill>
                  <a:schemeClr val="tx1"/>
                </a:solidFill>
                <a:effectLst/>
                <a:latin typeface="+mn-lt"/>
                <a:ea typeface="+mn-ea"/>
                <a:cs typeface="+mn-cs"/>
              </a:rPr>
              <a:t>C’est un honneur pour moi que d’avoir l’occasion de discuter avec vous aujourd’hui le résultat de mon stage de fin d’études chez Capgemini Nantes pour la validation du Master 2 en Architecture Logicielle.</a:t>
            </a:r>
          </a:p>
          <a:p>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1</a:t>
            </a:fld>
            <a:endParaRPr lang="en-US" dirty="0"/>
          </a:p>
        </p:txBody>
      </p:sp>
    </p:spTree>
    <p:extLst>
      <p:ext uri="{BB962C8B-B14F-4D97-AF65-F5344CB8AC3E}">
        <p14:creationId xmlns:p14="http://schemas.microsoft.com/office/powerpoint/2010/main" val="3421807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err="1" smtClean="0"/>
              <a:t>Creation</a:t>
            </a:r>
            <a:r>
              <a:rPr lang="fr-FR" dirty="0" smtClean="0"/>
              <a:t> -&gt;</a:t>
            </a:r>
            <a:r>
              <a:rPr lang="fr-FR" baseline="0" dirty="0" smtClean="0"/>
              <a:t> projets en TMA -&gt; type de projets -&gt; collaborateurs</a:t>
            </a:r>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7</a:t>
            </a:fld>
            <a:endParaRPr lang="en-US" dirty="0"/>
          </a:p>
        </p:txBody>
      </p:sp>
    </p:spTree>
    <p:extLst>
      <p:ext uri="{BB962C8B-B14F-4D97-AF65-F5344CB8AC3E}">
        <p14:creationId xmlns:p14="http://schemas.microsoft.com/office/powerpoint/2010/main" val="302703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Consultant -&gt; Rédacteur</a:t>
            </a:r>
            <a:r>
              <a:rPr lang="fr-FR" baseline="0" dirty="0" smtClean="0"/>
              <a:t> de régime -&gt; Administrateur	</a:t>
            </a:r>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11</a:t>
            </a:fld>
            <a:endParaRPr lang="en-US" dirty="0"/>
          </a:p>
        </p:txBody>
      </p:sp>
    </p:spTree>
    <p:extLst>
      <p:ext uri="{BB962C8B-B14F-4D97-AF65-F5344CB8AC3E}">
        <p14:creationId xmlns:p14="http://schemas.microsoft.com/office/powerpoint/2010/main" val="262258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Faire une petite</a:t>
            </a:r>
            <a:r>
              <a:rPr lang="fr-FR" baseline="0" dirty="0" smtClean="0"/>
              <a:t> conclusion comme quoi c’est une mission parmi les plus difficiles.</a:t>
            </a:r>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21</a:t>
            </a:fld>
            <a:endParaRPr lang="en-US" dirty="0"/>
          </a:p>
        </p:txBody>
      </p:sp>
    </p:spTree>
    <p:extLst>
      <p:ext uri="{BB962C8B-B14F-4D97-AF65-F5344CB8AC3E}">
        <p14:creationId xmlns:p14="http://schemas.microsoft.com/office/powerpoint/2010/main" val="2245311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400" kern="1200" dirty="0" smtClean="0">
                <a:solidFill>
                  <a:schemeClr val="tx1"/>
                </a:solidFill>
                <a:effectLst/>
                <a:latin typeface="+mn-lt"/>
                <a:ea typeface="+mn-ea"/>
                <a:cs typeface="+mn-cs"/>
              </a:rPr>
              <a:t>Pour conclure, le présent rapport de stage, réalisé au sein du </a:t>
            </a:r>
            <a:r>
              <a:rPr lang="fr-FR" sz="2400" kern="1200" dirty="0" err="1" smtClean="0">
                <a:solidFill>
                  <a:schemeClr val="tx1"/>
                </a:solidFill>
                <a:effectLst/>
                <a:latin typeface="+mn-lt"/>
                <a:ea typeface="+mn-ea"/>
                <a:cs typeface="+mn-cs"/>
              </a:rPr>
              <a:t>clusterGIS</a:t>
            </a:r>
            <a:r>
              <a:rPr lang="fr-FR" sz="2400" kern="1200" dirty="0" smtClean="0">
                <a:solidFill>
                  <a:schemeClr val="tx1"/>
                </a:solidFill>
                <a:effectLst/>
                <a:latin typeface="+mn-lt"/>
                <a:ea typeface="+mn-ea"/>
                <a:cs typeface="+mn-cs"/>
              </a:rPr>
              <a:t> de Capgemini, décrit le déroulement de la réalisation d’une version majeure d’une application de gestion de régimes de champ de tir appelé SERT. Nous avons pu voir alors la présentation de la société Capgemini, la description du projet de stage et le déroulement des différentes missions réalisées. Sur ce, ma présentation touche à fin. Je vous remercie de votre attention. Et je vous passe maintenant la parole pour des questions.</a:t>
            </a:r>
            <a:endParaRPr lang="fr-FR" sz="24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37</a:t>
            </a:fld>
            <a:endParaRPr lang="en-US" dirty="0"/>
          </a:p>
        </p:txBody>
      </p:sp>
    </p:spTree>
    <p:extLst>
      <p:ext uri="{BB962C8B-B14F-4D97-AF65-F5344CB8AC3E}">
        <p14:creationId xmlns:p14="http://schemas.microsoft.com/office/powerpoint/2010/main" val="24295309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Master" Target="../slideMasters/slideMaster1.xml"/><Relationship Id="rId26" Type="http://schemas.openxmlformats.org/officeDocument/2006/relationships/image" Target="../media/image11.png"/><Relationship Id="rId3" Type="http://schemas.openxmlformats.org/officeDocument/2006/relationships/tags" Target="../tags/tag4.xml"/><Relationship Id="rId21" Type="http://schemas.openxmlformats.org/officeDocument/2006/relationships/image" Target="../media/image8.png"/><Relationship Id="rId34" Type="http://schemas.openxmlformats.org/officeDocument/2006/relationships/image" Target="../media/image15.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hyperlink" Target="http://www.linkedin.com/company/capgemini" TargetMode="External"/><Relationship Id="rId33" Type="http://schemas.openxmlformats.org/officeDocument/2006/relationships/oleObject" Target="../embeddings/oleObject3.bin"/><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7.emf"/><Relationship Id="rId29" Type="http://schemas.openxmlformats.org/officeDocument/2006/relationships/hyperlink" Target="http://www.youtube.com/capgemini" TargetMode="External"/><Relationship Id="rId1" Type="http://schemas.openxmlformats.org/officeDocument/2006/relationships/vmlDrawing" Target="../drawings/vmlDrawing2.v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image" Target="../media/image10.png"/><Relationship Id="rId32" Type="http://schemas.openxmlformats.org/officeDocument/2006/relationships/image" Target="../media/image14.gif"/><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hyperlink" Target="http://www.facebook.com/Capgemini" TargetMode="External"/><Relationship Id="rId28" Type="http://schemas.openxmlformats.org/officeDocument/2006/relationships/image" Target="../media/image12.png"/><Relationship Id="rId10" Type="http://schemas.openxmlformats.org/officeDocument/2006/relationships/tags" Target="../tags/tag11.xml"/><Relationship Id="rId19" Type="http://schemas.openxmlformats.org/officeDocument/2006/relationships/oleObject" Target="../embeddings/oleObject2.bin"/><Relationship Id="rId31" Type="http://schemas.openxmlformats.org/officeDocument/2006/relationships/hyperlink" Target="http://www.slideshare.net/capgemini" TargetMode="Externa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9.emf"/><Relationship Id="rId27" Type="http://schemas.openxmlformats.org/officeDocument/2006/relationships/hyperlink" Target="http://www.twitter.com/capgemini" TargetMode="External"/><Relationship Id="rId30"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8288000" cy="10296525"/>
          </a:xfrm>
          <a:solidFill>
            <a:schemeClr val="tx1">
              <a:lumMod val="60000"/>
              <a:lumOff val="40000"/>
            </a:schemeClr>
          </a:solidFill>
        </p:spPr>
        <p:txBody>
          <a:bodyPr/>
          <a:lstStyle/>
          <a:p>
            <a:endParaRPr lang="en-US" dirty="0"/>
          </a:p>
        </p:txBody>
      </p:sp>
      <p:sp>
        <p:nvSpPr>
          <p:cNvPr id="2" name="Title 1"/>
          <p:cNvSpPr>
            <a:spLocks noGrp="1"/>
          </p:cNvSpPr>
          <p:nvPr>
            <p:ph type="ctrTitle" hasCustomPrompt="1"/>
          </p:nvPr>
        </p:nvSpPr>
        <p:spPr>
          <a:xfrm>
            <a:off x="13" y="3724047"/>
            <a:ext cx="7769866" cy="2301829"/>
          </a:xfrm>
          <a:solidFill>
            <a:srgbClr val="02AFE9"/>
          </a:solidFill>
        </p:spPr>
        <p:txBody>
          <a:bodyPr lIns="0" tIns="538920" rIns="395201" bIns="538920">
            <a:noAutofit/>
          </a:bodyPr>
          <a:lstStyle>
            <a:lvl1pPr algn="l">
              <a:defRPr sz="4800" baseline="0">
                <a:solidFill>
                  <a:schemeClr val="bg1"/>
                </a:solidFill>
              </a:defRPr>
            </a:lvl1pPr>
          </a:lstStyle>
          <a:p>
            <a:r>
              <a:rPr lang="fr-FR" smtClean="0"/>
              <a:t>Click </a:t>
            </a:r>
            <a:r>
              <a:rPr lang="fr-FR" dirty="0" smtClean="0"/>
              <a:t>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p:nvPr>
        </p:nvSpPr>
        <p:spPr>
          <a:xfrm>
            <a:off x="0" y="6233376"/>
            <a:ext cx="7769868" cy="2631334"/>
          </a:xfrm>
        </p:spPr>
        <p:txBody>
          <a:bodyPr lIns="0" rIns="395201">
            <a:normAutofit/>
          </a:bodyPr>
          <a:lstStyle>
            <a:lvl1pPr marL="0" indent="0" algn="l">
              <a:buNone/>
              <a:defRPr sz="3200">
                <a:solidFill>
                  <a:schemeClr val="tx1">
                    <a:tint val="75000"/>
                  </a:schemeClr>
                </a:solidFill>
                <a:latin typeface="Segoe UI Light" pitchFamily="34" charset="0"/>
              </a:defRPr>
            </a:lvl1pPr>
            <a:lvl2pPr marL="912604" indent="0" algn="ctr">
              <a:buNone/>
              <a:defRPr>
                <a:solidFill>
                  <a:schemeClr val="tx1">
                    <a:tint val="75000"/>
                  </a:schemeClr>
                </a:solidFill>
              </a:defRPr>
            </a:lvl2pPr>
            <a:lvl3pPr marL="1825231" indent="0" algn="ctr">
              <a:buNone/>
              <a:defRPr>
                <a:solidFill>
                  <a:schemeClr val="tx1">
                    <a:tint val="75000"/>
                  </a:schemeClr>
                </a:solidFill>
              </a:defRPr>
            </a:lvl3pPr>
            <a:lvl4pPr marL="2737851" indent="0" algn="ctr">
              <a:buNone/>
              <a:defRPr>
                <a:solidFill>
                  <a:schemeClr val="tx1">
                    <a:tint val="75000"/>
                  </a:schemeClr>
                </a:solidFill>
              </a:defRPr>
            </a:lvl4pPr>
            <a:lvl5pPr marL="3650455" indent="0" algn="ctr">
              <a:buNone/>
              <a:defRPr>
                <a:solidFill>
                  <a:schemeClr val="tx1">
                    <a:tint val="75000"/>
                  </a:schemeClr>
                </a:solidFill>
              </a:defRPr>
            </a:lvl5pPr>
            <a:lvl6pPr marL="4563077" indent="0" algn="ctr">
              <a:buNone/>
              <a:defRPr>
                <a:solidFill>
                  <a:schemeClr val="tx1">
                    <a:tint val="75000"/>
                  </a:schemeClr>
                </a:solidFill>
              </a:defRPr>
            </a:lvl6pPr>
            <a:lvl7pPr marL="5475696" indent="0" algn="ctr">
              <a:buNone/>
              <a:defRPr>
                <a:solidFill>
                  <a:schemeClr val="tx1">
                    <a:tint val="75000"/>
                  </a:schemeClr>
                </a:solidFill>
              </a:defRPr>
            </a:lvl7pPr>
            <a:lvl8pPr marL="6388308" indent="0" algn="ctr">
              <a:buNone/>
              <a:defRPr>
                <a:solidFill>
                  <a:schemeClr val="tx1">
                    <a:tint val="75000"/>
                  </a:schemeClr>
                </a:solidFill>
              </a:defRPr>
            </a:lvl8pPr>
            <a:lvl9pPr marL="7300918"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subtitle</a:t>
            </a:r>
            <a:r>
              <a:rPr lang="fr-FR" dirty="0" smtClean="0"/>
              <a:t> style</a:t>
            </a:r>
            <a:endParaRPr lang="en-US" dirty="0"/>
          </a:p>
        </p:txBody>
      </p:sp>
      <p:pic>
        <p:nvPicPr>
          <p:cNvPr id="9"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848035" y="500172"/>
            <a:ext cx="3449742" cy="800470"/>
          </a:xfrm>
          <a:prstGeom prst="rect">
            <a:avLst/>
          </a:prstGeom>
          <a:noFill/>
          <a:ln w="9525">
            <a:noFill/>
            <a:miter lim="800000"/>
            <a:headEnd/>
            <a:tailEnd/>
          </a:ln>
        </p:spPr>
      </p:pic>
    </p:spTree>
    <p:extLst>
      <p:ext uri="{BB962C8B-B14F-4D97-AF65-F5344CB8AC3E}">
        <p14:creationId xmlns:p14="http://schemas.microsoft.com/office/powerpoint/2010/main" val="3331262855"/>
      </p:ext>
    </p:extLst>
  </p:cSld>
  <p:clrMapOvr>
    <a:masterClrMapping/>
  </p:clrMapOvr>
  <p:transition>
    <p:push/>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16459200" cy="1716088"/>
          </a:xfrm>
        </p:spPr>
        <p:txBody>
          <a:bodyPr/>
          <a:lstStyle>
            <a:lvl1pPr>
              <a:defRPr>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6" name="Content Placeholder 5"/>
          <p:cNvSpPr>
            <a:spLocks noGrp="1"/>
          </p:cNvSpPr>
          <p:nvPr>
            <p:ph sz="quarter" idx="10"/>
          </p:nvPr>
        </p:nvSpPr>
        <p:spPr>
          <a:xfrm>
            <a:off x="914400" y="2449628"/>
            <a:ext cx="16459200" cy="6371042"/>
          </a:xfrm>
        </p:spPr>
        <p:txBody>
          <a:bodyPr>
            <a:normAutofit/>
          </a:bodyPr>
          <a:lstStyle>
            <a:lvl1pPr>
              <a:defRPr sz="4000">
                <a:latin typeface="Segoe UI" charset="0"/>
                <a:ea typeface="Segoe UI" charset="0"/>
                <a:cs typeface="Segoe UI" charset="0"/>
              </a:defRPr>
            </a:lvl1pPr>
            <a:lvl2pPr>
              <a:defRPr sz="4000">
                <a:latin typeface="Segoe UI" charset="0"/>
                <a:ea typeface="Segoe UI" charset="0"/>
                <a:cs typeface="Segoe UI" charset="0"/>
              </a:defRPr>
            </a:lvl2pPr>
            <a:lvl3pPr>
              <a:defRPr sz="4000">
                <a:latin typeface="Segoe UI" charset="0"/>
                <a:ea typeface="Segoe UI" charset="0"/>
                <a:cs typeface="Segoe UI" charset="0"/>
              </a:defRPr>
            </a:lvl3pPr>
            <a:lvl4pPr>
              <a:defRPr sz="4000">
                <a:latin typeface="Segoe UI" charset="0"/>
                <a:ea typeface="Segoe UI" charset="0"/>
                <a:cs typeface="Segoe UI" charset="0"/>
              </a:defRPr>
            </a:lvl4pPr>
            <a:lvl5pPr>
              <a:defRPr sz="40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pic>
        <p:nvPicPr>
          <p:cNvPr id="7"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hape 23"/>
          <p:cNvSpPr/>
          <p:nvPr userDrawn="1"/>
        </p:nvSpPr>
        <p:spPr>
          <a:xfrm>
            <a:off x="3527376" y="8367742"/>
            <a:ext cx="12457384" cy="452928"/>
          </a:xfrm>
          <a:prstGeom prst="rect">
            <a:avLst/>
          </a:prstGeom>
          <a:ln w="12700">
            <a:miter lim="400000"/>
          </a:ln>
          <a:extLst>
            <a:ext uri="{C572A759-6A51-4108-AA02-DFA0A04FC94B}">
              <ma14:wrappingTextBoxFlag xmlns="" xmlns:ma14="http://schemas.microsoft.com/office/mac/drawingml/2011/main" val="1"/>
            </a:ext>
          </a:extLst>
        </p:spPr>
        <p:txBody>
          <a:bodyPr wrap="square" lIns="71874" tIns="71874" rIns="71874" bIns="71874" anchor="b">
            <a:spAutoFit/>
          </a:bodyPr>
          <a:lstStyle>
            <a:lvl1pPr algn="ctr" defTabSz="995362">
              <a:lnSpc>
                <a:spcPct val="90000"/>
              </a:lnSpc>
              <a:defRPr sz="700">
                <a:solidFill>
                  <a:srgbClr val="595959"/>
                </a:solidFill>
              </a:defRPr>
            </a:lvl1pPr>
          </a:lstStyle>
          <a:p>
            <a:pPr marL="0" marR="0" lvl="0" indent="0" algn="ctr" defTabSz="912560" rtl="0" eaLnBrk="1" fontAlgn="auto" latinLnBrk="0" hangingPunct="1">
              <a:lnSpc>
                <a:spcPct val="100000"/>
              </a:lnSpc>
              <a:spcBef>
                <a:spcPts val="0"/>
              </a:spcBef>
              <a:spcAft>
                <a:spcPts val="0"/>
              </a:spcAft>
              <a:buClrTx/>
              <a:buSzTx/>
              <a:buFontTx/>
              <a:buNone/>
              <a:tabLst/>
              <a:defRPr/>
            </a:pPr>
            <a:endParaRPr lang="en-US" sz="2000" dirty="0">
              <a:solidFill>
                <a:schemeClr val="tx1">
                  <a:lumMod val="60000"/>
                  <a:lumOff val="40000"/>
                </a:schemeClr>
              </a:solidFill>
              <a:latin typeface="Calibri" pitchFamily="34" charset="0"/>
            </a:endParaRPr>
          </a:p>
        </p:txBody>
      </p:sp>
    </p:spTree>
    <p:extLst>
      <p:ext uri="{BB962C8B-B14F-4D97-AF65-F5344CB8AC3E}">
        <p14:creationId xmlns:p14="http://schemas.microsoft.com/office/powerpoint/2010/main" val="3588565746"/>
      </p:ext>
    </p:extLst>
  </p:cSld>
  <p:clrMapOvr>
    <a:masterClrMapping/>
  </p:clrMapOvr>
  <p:transition>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412379"/>
            <a:ext cx="16459200" cy="991507"/>
          </a:xfrm>
        </p:spPr>
        <p:txBody>
          <a:bodyPr/>
          <a:lstStyle>
            <a:lvl1pPr>
              <a:defRPr>
                <a:latin typeface="+mj-lt"/>
              </a:defRPr>
            </a:lvl1pPr>
          </a:lstStyle>
          <a:p>
            <a:r>
              <a:rPr lang="fr-FR" dirty="0" err="1" smtClean="0"/>
              <a:t>Title</a:t>
            </a:r>
            <a:endParaRPr lang="en-US" dirty="0"/>
          </a:p>
        </p:txBody>
      </p:sp>
      <p:sp>
        <p:nvSpPr>
          <p:cNvPr id="6" name="Content Placeholder 5"/>
          <p:cNvSpPr>
            <a:spLocks noGrp="1"/>
          </p:cNvSpPr>
          <p:nvPr>
            <p:ph sz="quarter" idx="10"/>
          </p:nvPr>
        </p:nvSpPr>
        <p:spPr>
          <a:xfrm>
            <a:off x="914400" y="2484005"/>
            <a:ext cx="16459200" cy="6336704"/>
          </a:xfrm>
        </p:spPr>
        <p:txBody>
          <a:bodyPr>
            <a:normAutofit/>
          </a:bodyPr>
          <a:lstStyle>
            <a:lvl1pPr>
              <a:defRPr sz="4000">
                <a:latin typeface="Segoe UI" charset="0"/>
                <a:ea typeface="Segoe UI" charset="0"/>
                <a:cs typeface="Segoe UI" charset="0"/>
              </a:defRPr>
            </a:lvl1pPr>
            <a:lvl2pPr>
              <a:defRPr sz="4000">
                <a:latin typeface="Segoe UI" charset="0"/>
                <a:ea typeface="Segoe UI" charset="0"/>
                <a:cs typeface="Segoe UI" charset="0"/>
              </a:defRPr>
            </a:lvl2pPr>
            <a:lvl3pPr>
              <a:defRPr sz="4000">
                <a:latin typeface="Segoe UI" charset="0"/>
                <a:ea typeface="Segoe UI" charset="0"/>
                <a:cs typeface="Segoe UI" charset="0"/>
              </a:defRPr>
            </a:lvl3pPr>
            <a:lvl4pPr>
              <a:defRPr sz="4000">
                <a:latin typeface="Segoe UI" charset="0"/>
                <a:ea typeface="Segoe UI" charset="0"/>
                <a:cs typeface="Segoe UI" charset="0"/>
              </a:defRPr>
            </a:lvl4pPr>
            <a:lvl5pPr>
              <a:defRPr sz="40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sp>
        <p:nvSpPr>
          <p:cNvPr id="8" name="Title 1"/>
          <p:cNvSpPr txBox="1">
            <a:spLocks/>
          </p:cNvSpPr>
          <p:nvPr userDrawn="1"/>
        </p:nvSpPr>
        <p:spPr>
          <a:xfrm>
            <a:off x="935088" y="1422751"/>
            <a:ext cx="16459200" cy="991507"/>
          </a:xfrm>
          <a:prstGeom prst="rect">
            <a:avLst/>
          </a:prstGeom>
        </p:spPr>
        <p:txBody>
          <a:bodyPr vert="horz" lIns="91241" tIns="45640" rIns="91241" bIns="45640" rtlCol="0" anchor="ctr">
            <a:noAutofit/>
          </a:bodyPr>
          <a:lstStyle>
            <a:lvl1pPr algn="l" defTabSz="914444" rtl="0" eaLnBrk="1" latinLnBrk="0" hangingPunct="1">
              <a:spcBef>
                <a:spcPct val="0"/>
              </a:spcBef>
              <a:buNone/>
              <a:defRPr sz="6400" kern="1200">
                <a:solidFill>
                  <a:srgbClr val="02AFE9"/>
                </a:solidFill>
                <a:latin typeface="+mj-lt"/>
                <a:ea typeface="+mj-ea"/>
                <a:cs typeface="Arial" pitchFamily="34" charset="0"/>
              </a:defRPr>
            </a:lvl1pPr>
          </a:lstStyle>
          <a:p>
            <a:r>
              <a:rPr lang="fr-FR" sz="3600" dirty="0" smtClean="0"/>
              <a:t>Title</a:t>
            </a:r>
            <a:endParaRPr lang="en-US" sz="3600" dirty="0"/>
          </a:p>
        </p:txBody>
      </p:sp>
      <p:pic>
        <p:nvPicPr>
          <p:cNvPr id="9"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12"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612148919"/>
      </p:ext>
    </p:extLst>
  </p:cSld>
  <p:clrMapOvr>
    <a:masterClrMapping/>
  </p:clrMapOvr>
  <p:transition>
    <p:push/>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_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8171"/>
      </p:ext>
    </p:extLst>
  </p:cSld>
  <p:clrMapOvr>
    <a:masterClrMapping/>
  </p:clrMapOvr>
  <p:transition>
    <p:push/>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8" name="Title 1"/>
          <p:cNvSpPr>
            <a:spLocks noGrp="1"/>
          </p:cNvSpPr>
          <p:nvPr>
            <p:ph type="title"/>
          </p:nvPr>
        </p:nvSpPr>
        <p:spPr>
          <a:xfrm>
            <a:off x="914400" y="412339"/>
            <a:ext cx="16459200" cy="1716088"/>
          </a:xfrm>
        </p:spPr>
        <p:txBody>
          <a:bodyPr/>
          <a:lstStyle>
            <a:lvl1pPr>
              <a:defRPr>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pic>
        <p:nvPicPr>
          <p:cNvPr id="6"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9"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3588565746"/>
      </p:ext>
    </p:extLst>
  </p:cSld>
  <p:clrMapOvr>
    <a:masterClrMapping/>
  </p:clrMapOvr>
  <p:transition>
    <p:push/>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7365504" cy="1716088"/>
          </a:xfrm>
        </p:spPr>
        <p:txBody>
          <a:bodyPr>
            <a:noAutofit/>
          </a:bodyPr>
          <a:lstStyle>
            <a:lvl1pPr>
              <a:defRPr sz="5400">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6" name="Content Placeholder 5"/>
          <p:cNvSpPr>
            <a:spLocks noGrp="1"/>
          </p:cNvSpPr>
          <p:nvPr>
            <p:ph sz="quarter" idx="10"/>
          </p:nvPr>
        </p:nvSpPr>
        <p:spPr>
          <a:xfrm>
            <a:off x="914400" y="2449628"/>
            <a:ext cx="7365504" cy="6371042"/>
          </a:xfrm>
        </p:spPr>
        <p:txBody>
          <a:bodyPr>
            <a:normAutofit/>
          </a:bodyPr>
          <a:lstStyle>
            <a:lvl1pPr>
              <a:defRPr sz="3600">
                <a:latin typeface="Segoe UI" charset="0"/>
                <a:ea typeface="Segoe UI" charset="0"/>
                <a:cs typeface="Segoe UI" charset="0"/>
              </a:defRPr>
            </a:lvl1pPr>
            <a:lvl2pPr>
              <a:defRPr sz="3600">
                <a:latin typeface="Segoe UI" charset="0"/>
                <a:ea typeface="Segoe UI" charset="0"/>
                <a:cs typeface="Segoe UI" charset="0"/>
              </a:defRPr>
            </a:lvl2pPr>
            <a:lvl3pPr>
              <a:defRPr sz="3600">
                <a:latin typeface="Segoe UI" charset="0"/>
                <a:ea typeface="Segoe UI" charset="0"/>
                <a:cs typeface="Segoe UI" charset="0"/>
              </a:defRPr>
            </a:lvl3pPr>
            <a:lvl4pPr>
              <a:defRPr sz="3600">
                <a:latin typeface="Segoe UI" charset="0"/>
                <a:ea typeface="Segoe UI" charset="0"/>
                <a:cs typeface="Segoe UI" charset="0"/>
              </a:defRPr>
            </a:lvl4pPr>
            <a:lvl5pPr>
              <a:defRPr sz="36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sp>
        <p:nvSpPr>
          <p:cNvPr id="5" name="Picture Placeholder 4"/>
          <p:cNvSpPr>
            <a:spLocks noGrp="1"/>
          </p:cNvSpPr>
          <p:nvPr>
            <p:ph type="pic" sz="quarter" idx="11"/>
          </p:nvPr>
        </p:nvSpPr>
        <p:spPr>
          <a:xfrm>
            <a:off x="9215477" y="0"/>
            <a:ext cx="9072562" cy="10296525"/>
          </a:xfrm>
          <a:solidFill>
            <a:schemeClr val="tx1">
              <a:lumMod val="60000"/>
              <a:lumOff val="40000"/>
            </a:schemeClr>
          </a:solidFill>
        </p:spPr>
        <p:txBody>
          <a:bodyPr/>
          <a:lstStyle/>
          <a:p>
            <a:endParaRPr lang="en-US" dirty="0"/>
          </a:p>
        </p:txBody>
      </p:sp>
      <p:pic>
        <p:nvPicPr>
          <p:cNvPr id="8" name="Picture 7"/>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14400" y="9495612"/>
            <a:ext cx="1748880" cy="406176"/>
          </a:xfrm>
          <a:prstGeom prst="rect">
            <a:avLst/>
          </a:prstGeom>
        </p:spPr>
      </p:pic>
      <p:sp>
        <p:nvSpPr>
          <p:cNvPr id="11"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14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148272795"/>
      </p:ext>
    </p:extLst>
  </p:cSld>
  <p:clrMapOvr>
    <a:masterClrMapping/>
  </p:clrMapOvr>
  <p:transition>
    <p:push/>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16459200" cy="1716088"/>
          </a:xfrm>
        </p:spPr>
        <p:txBody>
          <a:bodyPr>
            <a:noAutofit/>
          </a:bodyPr>
          <a:lstStyle>
            <a:lvl1pPr>
              <a:defRPr sz="5400">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6" name="Content Placeholder 5"/>
          <p:cNvSpPr>
            <a:spLocks noGrp="1"/>
          </p:cNvSpPr>
          <p:nvPr>
            <p:ph sz="quarter" idx="10"/>
          </p:nvPr>
        </p:nvSpPr>
        <p:spPr>
          <a:xfrm>
            <a:off x="6551712" y="2699990"/>
            <a:ext cx="10821888" cy="5760641"/>
          </a:xfrm>
        </p:spPr>
        <p:txBody>
          <a:bodyPr>
            <a:normAutofit/>
          </a:bodyPr>
          <a:lstStyle>
            <a:lvl1pPr>
              <a:defRPr sz="3600">
                <a:latin typeface="Segoe UI" charset="0"/>
                <a:ea typeface="Segoe UI" charset="0"/>
                <a:cs typeface="Segoe UI" charset="0"/>
              </a:defRPr>
            </a:lvl1pPr>
            <a:lvl2pPr>
              <a:defRPr sz="3600">
                <a:latin typeface="Segoe UI" charset="0"/>
                <a:ea typeface="Segoe UI" charset="0"/>
                <a:cs typeface="Segoe UI" charset="0"/>
              </a:defRPr>
            </a:lvl2pPr>
            <a:lvl3pPr>
              <a:defRPr sz="3600">
                <a:latin typeface="Segoe UI" charset="0"/>
                <a:ea typeface="Segoe UI" charset="0"/>
                <a:cs typeface="Segoe UI" charset="0"/>
              </a:defRPr>
            </a:lvl3pPr>
            <a:lvl4pPr>
              <a:defRPr sz="3600">
                <a:latin typeface="Segoe UI" charset="0"/>
                <a:ea typeface="Segoe UI" charset="0"/>
                <a:cs typeface="Segoe UI" charset="0"/>
              </a:defRPr>
            </a:lvl4pPr>
            <a:lvl5pPr>
              <a:defRPr sz="36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sp>
        <p:nvSpPr>
          <p:cNvPr id="5" name="Picture Placeholder 4"/>
          <p:cNvSpPr>
            <a:spLocks noGrp="1"/>
          </p:cNvSpPr>
          <p:nvPr>
            <p:ph type="pic" sz="quarter" idx="11"/>
          </p:nvPr>
        </p:nvSpPr>
        <p:spPr>
          <a:xfrm>
            <a:off x="1270471" y="2981425"/>
            <a:ext cx="4561174" cy="4543141"/>
          </a:xfrm>
          <a:prstGeom prst="ellipse">
            <a:avLst/>
          </a:prstGeom>
          <a:solidFill>
            <a:schemeClr val="tx1">
              <a:lumMod val="60000"/>
              <a:lumOff val="40000"/>
            </a:schemeClr>
          </a:solidFill>
        </p:spPr>
        <p:txBody>
          <a:bodyPr/>
          <a:lstStyle/>
          <a:p>
            <a:endParaRPr lang="en-US" dirty="0"/>
          </a:p>
        </p:txBody>
      </p:sp>
      <p:pic>
        <p:nvPicPr>
          <p:cNvPr id="7"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11"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1341654070"/>
      </p:ext>
    </p:extLst>
  </p:cSld>
  <p:clrMapOvr>
    <a:masterClrMapping/>
  </p:clrMapOvr>
  <p:transition>
    <p:push/>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lain">
    <p:spTree>
      <p:nvGrpSpPr>
        <p:cNvPr id="1" name=""/>
        <p:cNvGrpSpPr/>
        <p:nvPr/>
      </p:nvGrpSpPr>
      <p:grpSpPr>
        <a:xfrm>
          <a:off x="0" y="0"/>
          <a:ext cx="0" cy="0"/>
          <a:chOff x="0" y="0"/>
          <a:chExt cx="0" cy="0"/>
        </a:xfrm>
      </p:grpSpPr>
      <p:sp>
        <p:nvSpPr>
          <p:cNvPr id="3"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14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1553350411"/>
      </p:ext>
    </p:extLst>
  </p:cSld>
  <p:clrMapOvr>
    <a:masterClrMapping/>
  </p:clrMapOvr>
  <p:transition>
    <p:push/>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black">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14400" y="9495612"/>
            <a:ext cx="1748880" cy="406176"/>
          </a:xfrm>
          <a:prstGeom prst="rect">
            <a:avLst/>
          </a:prstGeom>
        </p:spPr>
      </p:pic>
      <p:sp>
        <p:nvSpPr>
          <p:cNvPr id="6"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1400" smtClean="0">
                <a:solidFill>
                  <a:prstClr val="black">
                    <a:tint val="75000"/>
                  </a:prstClr>
                </a:solidFill>
              </a:rPr>
              <a:pPr>
                <a:defRPr/>
              </a:pPr>
              <a:t>‹N°›</a:t>
            </a:fld>
            <a:endParaRPr lang="en-US" sz="1400" dirty="0">
              <a:solidFill>
                <a:prstClr val="black">
                  <a:tint val="75000"/>
                </a:prstClr>
              </a:solidFill>
            </a:endParaRPr>
          </a:p>
        </p:txBody>
      </p:sp>
      <p:pic>
        <p:nvPicPr>
          <p:cNvPr id="4" name="Picture 2" descr="D:\Users\jehiggin\Documents\My Received Files\capblanc.png"/>
          <p:cNvPicPr>
            <a:picLocks noChangeAspect="1" noChangeArrowheads="1"/>
          </p:cNvPicPr>
          <p:nvPr userDrawn="1"/>
        </p:nvPicPr>
        <p:blipFill>
          <a:blip r:embed="rId4" cstate="screen"/>
          <a:srcRect/>
          <a:stretch>
            <a:fillRect/>
          </a:stretch>
        </p:blipFill>
        <p:spPr bwMode="auto">
          <a:xfrm>
            <a:off x="14040549" y="2409430"/>
            <a:ext cx="3449742" cy="800470"/>
          </a:xfrm>
          <a:prstGeom prst="rect">
            <a:avLst/>
          </a:prstGeom>
          <a:noFill/>
          <a:ln w="9525">
            <a:noFill/>
            <a:miter lim="800000"/>
            <a:headEnd/>
            <a:tailEnd/>
          </a:ln>
        </p:spPr>
      </p:pic>
      <p:pic>
        <p:nvPicPr>
          <p:cNvPr id="8" name="Picture 3" descr="D:\Users\mdrion\Documents\Perso\logo_polytech.png"/>
          <p:cNvPicPr>
            <a:picLocks noChangeAspect="1" noChangeArrowheads="1"/>
          </p:cNvPicPr>
          <p:nvPr userDrawn="1"/>
        </p:nvPicPr>
        <p:blipFill>
          <a:blip r:embed="rId5"/>
          <a:stretch>
            <a:fillRect/>
          </a:stretch>
        </p:blipFill>
        <p:spPr bwMode="auto">
          <a:xfrm>
            <a:off x="9145960" y="2106184"/>
            <a:ext cx="3960440" cy="1457902"/>
          </a:xfrm>
          <a:prstGeom prst="rect">
            <a:avLst/>
          </a:prstGeom>
          <a:noFill/>
          <a:ln>
            <a:noFill/>
          </a:ln>
        </p:spPr>
      </p:pic>
    </p:spTree>
    <p:extLst>
      <p:ext uri="{BB962C8B-B14F-4D97-AF65-F5344CB8AC3E}">
        <p14:creationId xmlns:p14="http://schemas.microsoft.com/office/powerpoint/2010/main" val="3588565746"/>
      </p:ext>
    </p:extLst>
  </p:cSld>
  <p:clrMapOvr>
    <a:masterClrMapping/>
  </p:clrMapOvr>
  <p:transition>
    <p:push/>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2">
    <p:bg>
      <p:bgPr>
        <a:solidFill>
          <a:srgbClr val="F24D1F"/>
        </a:solidFill>
        <a:effectLst/>
      </p:bgPr>
    </p:bg>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231867" y="649666"/>
            <a:ext cx="3449742" cy="800470"/>
          </a:xfrm>
          <a:prstGeom prst="rect">
            <a:avLst/>
          </a:prstGeom>
          <a:noFill/>
          <a:ln w="9525">
            <a:noFill/>
            <a:miter lim="800000"/>
            <a:headEnd/>
            <a:tailEnd/>
          </a:ln>
        </p:spPr>
      </p:pic>
      <p:sp>
        <p:nvSpPr>
          <p:cNvPr id="3" name="Title 1"/>
          <p:cNvSpPr>
            <a:spLocks noGrp="1"/>
          </p:cNvSpPr>
          <p:nvPr>
            <p:ph type="ctrTitle" hasCustomPrompt="1"/>
          </p:nvPr>
        </p:nvSpPr>
        <p:spPr>
          <a:xfrm>
            <a:off x="5427034" y="3794601"/>
            <a:ext cx="12839700" cy="2207080"/>
          </a:xfrm>
          <a:noFill/>
        </p:spPr>
        <p:txBody>
          <a:bodyPr lIns="0" tIns="538920" rIns="395201" bIns="538920">
            <a:noAutofit/>
          </a:bodyPr>
          <a:lstStyle>
            <a:lvl1pPr algn="r">
              <a:defRPr sz="8000" baseline="0">
                <a:solidFill>
                  <a:schemeClr val="bg1"/>
                </a:solidFill>
                <a:latin typeface="Segoe UI Light" pitchFamily="34" charset="0"/>
              </a:defRPr>
            </a:lvl1pPr>
          </a:lstStyle>
          <a:p>
            <a:r>
              <a:rPr lang="fr-FR" dirty="0" smtClean="0"/>
              <a:t>Click to </a:t>
            </a:r>
            <a:r>
              <a:rPr lang="fr-FR" dirty="0" err="1" smtClean="0"/>
              <a:t>edit</a:t>
            </a:r>
            <a:endParaRPr lang="en-US" dirty="0"/>
          </a:p>
        </p:txBody>
      </p:sp>
    </p:spTree>
  </p:cSld>
  <p:clrMapOvr>
    <a:masterClrMapping/>
  </p:clrMapOvr>
  <p:transition>
    <p:push/>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427034" y="3794601"/>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endParaRPr lang="en-US" dirty="0"/>
          </a:p>
        </p:txBody>
      </p:sp>
    </p:spTree>
  </p:cSld>
  <p:clrMapOvr>
    <a:overrideClrMapping bg1="lt1" tx1="dk1" bg2="lt2" tx2="dk2" accent1="accent1" accent2="accent2" accent3="accent3" accent4="accent4" accent5="accent5" accent6="accent6" hlink="hlink" folHlink="folHlink"/>
  </p:clrMapOvr>
  <p:transition>
    <p:push/>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chnique">
    <p:bg>
      <p:bgPr>
        <a:solidFill>
          <a:srgbClr val="39CFB6"/>
        </a:solid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5427034" y="3794601"/>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r>
              <a:rPr lang="fr-FR" dirty="0" smtClean="0"/>
              <a:t>Click to </a:t>
            </a:r>
            <a:r>
              <a:rPr lang="fr-FR" dirty="0" err="1" smtClean="0"/>
              <a:t>edit</a:t>
            </a:r>
            <a:endParaRPr lang="en-US" dirty="0"/>
          </a:p>
        </p:txBody>
      </p:sp>
      <p:pic>
        <p:nvPicPr>
          <p:cNvPr id="6"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040549" y="2409430"/>
            <a:ext cx="3449742" cy="800470"/>
          </a:xfrm>
          <a:prstGeom prst="rect">
            <a:avLst/>
          </a:prstGeom>
          <a:noFill/>
          <a:ln w="9525">
            <a:noFill/>
            <a:miter lim="800000"/>
            <a:headEnd/>
            <a:tailEnd/>
          </a:ln>
        </p:spPr>
      </p:pic>
    </p:spTree>
  </p:cSld>
  <p:clrMapOvr>
    <a:masterClrMapping/>
  </p:clrMapOvr>
  <p:transition>
    <p:push/>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16459200" cy="1716088"/>
          </a:xfrm>
        </p:spPr>
        <p:txBody>
          <a:bodyPr/>
          <a:lstStyle/>
          <a:p>
            <a:r>
              <a:rPr lang="fr-FR" smtClean="0"/>
              <a:t>Click to edit Master title style</a:t>
            </a:r>
            <a:endParaRPr lang="en-US"/>
          </a:p>
        </p:txBody>
      </p:sp>
      <p:pic>
        <p:nvPicPr>
          <p:cNvPr id="13"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6"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243268139"/>
      </p:ext>
    </p:extLst>
  </p:cSld>
  <p:clrMapOvr>
    <a:masterClrMapping/>
  </p:clrMapOvr>
  <p:transition>
    <p:push/>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245979" y="4315144"/>
            <a:ext cx="7769866" cy="2301829"/>
          </a:xfrm>
          <a:solidFill>
            <a:srgbClr val="02AFE9"/>
          </a:solidFill>
        </p:spPr>
        <p:txBody>
          <a:bodyPr lIns="0" tIns="1080108" rIns="792082" bIns="1080108">
            <a:noAutofit/>
          </a:bodyPr>
          <a:lstStyle>
            <a:lvl1pPr algn="ctr">
              <a:defRPr sz="4800" baseline="0">
                <a:solidFill>
                  <a:schemeClr val="bg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p:nvPr>
        </p:nvSpPr>
        <p:spPr>
          <a:xfrm>
            <a:off x="10245974" y="6938879"/>
            <a:ext cx="7769868" cy="2631334"/>
          </a:xfrm>
        </p:spPr>
        <p:txBody>
          <a:bodyPr lIns="0" rIns="792082">
            <a:normAutofit/>
          </a:bodyPr>
          <a:lstStyle>
            <a:lvl1pPr marL="0" indent="0" algn="ctr">
              <a:buNone/>
              <a:defRPr sz="3200">
                <a:solidFill>
                  <a:schemeClr val="tx1">
                    <a:tint val="75000"/>
                  </a:schemeClr>
                </a:solidFill>
                <a:latin typeface="Segoe UI Light" pitchFamily="34" charset="0"/>
              </a:defRPr>
            </a:lvl1pPr>
            <a:lvl2pPr marL="914490" indent="0" algn="ctr">
              <a:buNone/>
              <a:defRPr>
                <a:solidFill>
                  <a:schemeClr val="tx1">
                    <a:tint val="75000"/>
                  </a:schemeClr>
                </a:solidFill>
              </a:defRPr>
            </a:lvl2pPr>
            <a:lvl3pPr marL="1828985" indent="0" algn="ctr">
              <a:buNone/>
              <a:defRPr>
                <a:solidFill>
                  <a:schemeClr val="tx1">
                    <a:tint val="75000"/>
                  </a:schemeClr>
                </a:solidFill>
              </a:defRPr>
            </a:lvl3pPr>
            <a:lvl4pPr marL="2743475" indent="0" algn="ctr">
              <a:buNone/>
              <a:defRPr>
                <a:solidFill>
                  <a:schemeClr val="tx1">
                    <a:tint val="75000"/>
                  </a:schemeClr>
                </a:solidFill>
              </a:defRPr>
            </a:lvl4pPr>
            <a:lvl5pPr marL="3657965" indent="0" algn="ctr">
              <a:buNone/>
              <a:defRPr>
                <a:solidFill>
                  <a:schemeClr val="tx1">
                    <a:tint val="75000"/>
                  </a:schemeClr>
                </a:solidFill>
              </a:defRPr>
            </a:lvl5pPr>
            <a:lvl6pPr marL="4572455" indent="0" algn="ctr">
              <a:buNone/>
              <a:defRPr>
                <a:solidFill>
                  <a:schemeClr val="tx1">
                    <a:tint val="75000"/>
                  </a:schemeClr>
                </a:solidFill>
              </a:defRPr>
            </a:lvl6pPr>
            <a:lvl7pPr marL="5486948" indent="0" algn="ctr">
              <a:buNone/>
              <a:defRPr>
                <a:solidFill>
                  <a:schemeClr val="tx1">
                    <a:tint val="75000"/>
                  </a:schemeClr>
                </a:solidFill>
              </a:defRPr>
            </a:lvl7pPr>
            <a:lvl8pPr marL="6401438" indent="0" algn="ctr">
              <a:buNone/>
              <a:defRPr>
                <a:solidFill>
                  <a:schemeClr val="tx1">
                    <a:tint val="75000"/>
                  </a:schemeClr>
                </a:solidFill>
              </a:defRPr>
            </a:lvl8pPr>
            <a:lvl9pPr marL="7315930"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subtitle</a:t>
            </a:r>
            <a:r>
              <a:rPr lang="fr-FR" dirty="0" smtClean="0"/>
              <a:t> style</a:t>
            </a:r>
            <a:endParaRPr lang="en-US" dirty="0"/>
          </a:p>
        </p:txBody>
      </p:sp>
      <p:pic>
        <p:nvPicPr>
          <p:cNvPr id="9"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848029" y="500132"/>
            <a:ext cx="3449742" cy="800470"/>
          </a:xfrm>
          <a:prstGeom prst="rect">
            <a:avLst/>
          </a:prstGeom>
          <a:noFill/>
          <a:ln w="9525">
            <a:noFill/>
            <a:miter lim="800000"/>
            <a:headEnd/>
            <a:tailEnd/>
          </a:ln>
        </p:spPr>
      </p:pic>
      <p:pic>
        <p:nvPicPr>
          <p:cNvPr id="5" name="Image 13" descr="Montage-ESRI2014-pourppt.jpg"/>
          <p:cNvPicPr>
            <a:picLocks noChangeAspect="1"/>
          </p:cNvPicPr>
          <p:nvPr userDrawn="1"/>
        </p:nvPicPr>
        <p:blipFill>
          <a:blip r:embed="rId3" cstate="print"/>
          <a:srcRect l="9610" t="32144"/>
          <a:stretch>
            <a:fillRect/>
          </a:stretch>
        </p:blipFill>
        <p:spPr bwMode="auto">
          <a:xfrm>
            <a:off x="0" y="0"/>
            <a:ext cx="18288000" cy="10296525"/>
          </a:xfrm>
          <a:prstGeom prst="rect">
            <a:avLst/>
          </a:prstGeom>
          <a:noFill/>
          <a:ln w="9525">
            <a:noFill/>
            <a:miter lim="800000"/>
            <a:headEnd/>
            <a:tailEnd/>
          </a:ln>
        </p:spPr>
      </p:pic>
    </p:spTree>
    <p:extLst>
      <p:ext uri="{BB962C8B-B14F-4D97-AF65-F5344CB8AC3E}">
        <p14:creationId xmlns:p14="http://schemas.microsoft.com/office/powerpoint/2010/main" val="3331262855"/>
      </p:ext>
    </p:extLst>
  </p:cSld>
  <p:clrMapOvr>
    <a:masterClrMapping/>
  </p:clrMapOvr>
  <p:transition>
    <p:push/>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7"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1272469786"/>
      </p:ext>
    </p:extLst>
  </p:cSld>
  <p:clrMapOvr>
    <a:masterClrMapping/>
  </p:clrMapOvr>
  <p:transition>
    <p:push/>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lank black">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6"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968338082"/>
      </p:ext>
    </p:extLst>
  </p:cSld>
  <p:clrMapOvr>
    <a:masterClrMapping/>
  </p:clrMapOvr>
  <p:transition>
    <p:push/>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2">
    <p:bg>
      <p:bgPr>
        <a:solidFill>
          <a:srgbClr val="F24D1F"/>
        </a:solidFill>
        <a:effectLst/>
      </p:bgPr>
    </p:bg>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231867" y="649662"/>
            <a:ext cx="3449742" cy="800470"/>
          </a:xfrm>
          <a:prstGeom prst="rect">
            <a:avLst/>
          </a:prstGeom>
          <a:noFill/>
          <a:ln w="9525">
            <a:noFill/>
            <a:miter lim="800000"/>
            <a:headEnd/>
            <a:tailEnd/>
          </a:ln>
        </p:spPr>
      </p:pic>
      <p:sp>
        <p:nvSpPr>
          <p:cNvPr id="3" name="Title 1"/>
          <p:cNvSpPr>
            <a:spLocks noGrp="1"/>
          </p:cNvSpPr>
          <p:nvPr>
            <p:ph type="ctrTitle" hasCustomPrompt="1"/>
          </p:nvPr>
        </p:nvSpPr>
        <p:spPr>
          <a:xfrm>
            <a:off x="5427034" y="3794597"/>
            <a:ext cx="12839700" cy="2207080"/>
          </a:xfrm>
          <a:noFill/>
        </p:spPr>
        <p:txBody>
          <a:bodyPr lIns="0" tIns="538920" rIns="395201" bIns="538920">
            <a:noAutofit/>
          </a:bodyPr>
          <a:lstStyle>
            <a:lvl1pPr algn="r">
              <a:defRPr sz="8000" baseline="0">
                <a:solidFill>
                  <a:schemeClr val="bg1"/>
                </a:solidFill>
                <a:latin typeface="Segoe UI Light" pitchFamily="34" charset="0"/>
              </a:defRPr>
            </a:lvl1pPr>
          </a:lstStyle>
          <a:p>
            <a:r>
              <a:rPr lang="fr-FR" dirty="0" smtClean="0"/>
              <a:t>Click to </a:t>
            </a:r>
            <a:r>
              <a:rPr lang="fr-FR" dirty="0" err="1" smtClean="0"/>
              <a:t>edit</a:t>
            </a:r>
            <a:endParaRPr lang="en-US" dirty="0"/>
          </a:p>
        </p:txBody>
      </p:sp>
    </p:spTree>
    <p:extLst>
      <p:ext uri="{BB962C8B-B14F-4D97-AF65-F5344CB8AC3E}">
        <p14:creationId xmlns:p14="http://schemas.microsoft.com/office/powerpoint/2010/main" val="1820388464"/>
      </p:ext>
    </p:extLst>
  </p:cSld>
  <p:clrMapOvr>
    <a:masterClrMapping/>
  </p:clrMapOvr>
  <p:transition>
    <p:push/>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3">
    <p:bg>
      <p:bgPr>
        <a:solidFill>
          <a:srgbClr val="02AFE9"/>
        </a:solidFill>
        <a:effectLst/>
      </p:bgPr>
    </p:bg>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040549" y="2409426"/>
            <a:ext cx="3449742" cy="800470"/>
          </a:xfrm>
          <a:prstGeom prst="rect">
            <a:avLst/>
          </a:prstGeom>
          <a:noFill/>
          <a:ln w="9525">
            <a:noFill/>
            <a:miter lim="800000"/>
            <a:headEnd/>
            <a:tailEnd/>
          </a:ln>
        </p:spPr>
      </p:pic>
      <p:sp>
        <p:nvSpPr>
          <p:cNvPr id="4" name="Title 1"/>
          <p:cNvSpPr>
            <a:spLocks noGrp="1"/>
          </p:cNvSpPr>
          <p:nvPr>
            <p:ph type="ctrTitle"/>
          </p:nvPr>
        </p:nvSpPr>
        <p:spPr>
          <a:xfrm>
            <a:off x="5427034" y="3794597"/>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endParaRPr lang="en-US" dirty="0"/>
          </a:p>
        </p:txBody>
      </p:sp>
    </p:spTree>
    <p:extLst>
      <p:ext uri="{BB962C8B-B14F-4D97-AF65-F5344CB8AC3E}">
        <p14:creationId xmlns:p14="http://schemas.microsoft.com/office/powerpoint/2010/main" val="6939507"/>
      </p:ext>
    </p:extLst>
  </p:cSld>
  <p:clrMapOvr>
    <a:masterClrMapping/>
  </p:clrMapOvr>
  <p:transition>
    <p:push/>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echnique">
    <p:bg>
      <p:bgPr>
        <a:solidFill>
          <a:srgbClr val="92D050"/>
        </a:solid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5427034" y="3794597"/>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r>
              <a:rPr lang="fr-FR" dirty="0" smtClean="0"/>
              <a:t>Click to </a:t>
            </a:r>
            <a:r>
              <a:rPr lang="fr-FR" dirty="0" err="1" smtClean="0"/>
              <a:t>edit</a:t>
            </a:r>
            <a:endParaRPr lang="en-US" dirty="0"/>
          </a:p>
        </p:txBody>
      </p:sp>
      <p:pic>
        <p:nvPicPr>
          <p:cNvPr id="6"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040549" y="2409426"/>
            <a:ext cx="3449742" cy="800470"/>
          </a:xfrm>
          <a:prstGeom prst="rect">
            <a:avLst/>
          </a:prstGeom>
          <a:noFill/>
          <a:ln w="9525">
            <a:noFill/>
            <a:miter lim="800000"/>
            <a:headEnd/>
            <a:tailEnd/>
          </a:ln>
        </p:spPr>
      </p:pic>
    </p:spTree>
    <p:extLst>
      <p:ext uri="{BB962C8B-B14F-4D97-AF65-F5344CB8AC3E}">
        <p14:creationId xmlns:p14="http://schemas.microsoft.com/office/powerpoint/2010/main" val="1285228804"/>
      </p:ext>
    </p:extLst>
  </p:cSld>
  <p:clrMapOvr>
    <a:masterClrMapping/>
  </p:clrMapOvr>
  <p:transition>
    <p:push/>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Fnac master">
    <p:spTree>
      <p:nvGrpSpPr>
        <p:cNvPr id="1" name=""/>
        <p:cNvGrpSpPr/>
        <p:nvPr/>
      </p:nvGrpSpPr>
      <p:grpSpPr>
        <a:xfrm>
          <a:off x="0" y="0"/>
          <a:ext cx="0" cy="0"/>
          <a:chOff x="0" y="0"/>
          <a:chExt cx="0" cy="0"/>
        </a:xfrm>
      </p:grpSpPr>
      <p:pic>
        <p:nvPicPr>
          <p:cNvPr id="5"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103712782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9"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654887343"/>
      </p:ext>
    </p:extLst>
  </p:cSld>
  <p:clrMapOvr>
    <a:masterClrMapping/>
  </p:clrMapOvr>
  <p:transition>
    <p:push/>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21_Disposition personnalisée">
    <p:spTree>
      <p:nvGrpSpPr>
        <p:cNvPr id="1" name=""/>
        <p:cNvGrpSpPr/>
        <p:nvPr/>
      </p:nvGrpSpPr>
      <p:grpSpPr>
        <a:xfrm>
          <a:off x="0" y="0"/>
          <a:ext cx="0" cy="0"/>
          <a:chOff x="0" y="0"/>
          <a:chExt cx="0" cy="0"/>
        </a:xfrm>
      </p:grpSpPr>
      <p:pic>
        <p:nvPicPr>
          <p:cNvPr id="5"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87755422"/>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1"/>
          <a:ext cx="293076" cy="238346"/>
        </p:xfrm>
        <a:graphic>
          <a:graphicData uri="http://schemas.openxmlformats.org/presentationml/2006/ole">
            <mc:AlternateContent xmlns:mc="http://schemas.openxmlformats.org/markup-compatibility/2006">
              <mc:Choice xmlns:v="urn:schemas-microsoft-com:vml" Requires="v">
                <p:oleObj spid="_x0000_s20638" name="think-cell Slide" r:id="rId5" imgW="360" imgH="360" progId="">
                  <p:embed/>
                </p:oleObj>
              </mc:Choice>
              <mc:Fallback>
                <p:oleObj name="think-cell Slide" r:id="rId5" imgW="360" imgH="360" progId="">
                  <p:embed/>
                  <p:pic>
                    <p:nvPicPr>
                      <p:cNvPr id="0"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
                        <a:ext cx="293076" cy="2383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val="1494613810"/>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_only">
    <p:spTree>
      <p:nvGrpSpPr>
        <p:cNvPr id="1" name=""/>
        <p:cNvGrpSpPr/>
        <p:nvPr/>
      </p:nvGrpSpPr>
      <p:grpSpPr>
        <a:xfrm>
          <a:off x="0" y="0"/>
          <a:ext cx="0" cy="0"/>
          <a:chOff x="0" y="0"/>
          <a:chExt cx="0" cy="0"/>
        </a:xfrm>
      </p:grpSpPr>
      <p:sp>
        <p:nvSpPr>
          <p:cNvPr id="8" name="Title 1"/>
          <p:cNvSpPr>
            <a:spLocks noGrp="1"/>
          </p:cNvSpPr>
          <p:nvPr>
            <p:ph type="title"/>
          </p:nvPr>
        </p:nvSpPr>
        <p:spPr>
          <a:xfrm>
            <a:off x="914400" y="412339"/>
            <a:ext cx="16459200" cy="1716088"/>
          </a:xfrm>
        </p:spPr>
        <p:txBody>
          <a:bodyPr/>
          <a:lstStyle>
            <a:lvl1pPr>
              <a:defRPr>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9"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787689126"/>
      </p:ext>
    </p:extLst>
  </p:cSld>
  <p:clrMapOvr>
    <a:masterClrMapping/>
  </p:clrMapOvr>
  <p:transition>
    <p:push/>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Closing 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293076" cy="238345"/>
        </p:xfrm>
        <a:graphic>
          <a:graphicData uri="http://schemas.openxmlformats.org/presentationml/2006/ole">
            <mc:AlternateContent xmlns:mc="http://schemas.openxmlformats.org/markup-compatibility/2006">
              <mc:Choice xmlns:v="urn:schemas-microsoft-com:vml" Requires="v">
                <p:oleObj spid="_x0000_s50390" name="think-cell Slide" r:id="rId19" imgW="360" imgH="360" progId="">
                  <p:embed/>
                </p:oleObj>
              </mc:Choice>
              <mc:Fallback>
                <p:oleObj name="think-cell Slide" r:id="rId19" imgW="360" imgH="360" progId="">
                  <p:embed/>
                  <p:pic>
                    <p:nvPicPr>
                      <p:cNvPr id="0" name="Object 1"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293076" cy="238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7"/>
          <p:cNvSpPr/>
          <p:nvPr>
            <p:custDataLst>
              <p:tags r:id="rId3"/>
            </p:custDataLst>
          </p:nvPr>
        </p:nvSpPr>
        <p:spPr bwMode="auto">
          <a:xfrm flipV="1">
            <a:off x="-2932" y="2519313"/>
            <a:ext cx="18290932" cy="777721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lIns="59053" tIns="76768" rIns="59053" bIns="76768" anchor="ctr"/>
          <a:lstStyle/>
          <a:p>
            <a:pPr algn="ctr" defTabSz="1710840" fontAlgn="auto">
              <a:spcBef>
                <a:spcPts val="0"/>
              </a:spcBef>
              <a:spcAft>
                <a:spcPts val="0"/>
              </a:spcAft>
              <a:defRPr/>
            </a:pPr>
            <a:endParaRPr lang="en-US" sz="1800" dirty="0">
              <a:solidFill>
                <a:schemeClr val="bg1"/>
              </a:solidFill>
              <a:latin typeface="Arial"/>
              <a:cs typeface="Arial"/>
            </a:endParaRPr>
          </a:p>
        </p:txBody>
      </p:sp>
      <p:pic>
        <p:nvPicPr>
          <p:cNvPr id="4" name="Image 10" descr="Capgemini_logo_lr.tif"/>
          <p:cNvPicPr>
            <a:picLocks noChangeAspect="1"/>
          </p:cNvPicPr>
          <p:nvPr>
            <p:custDataLst>
              <p:tags r:id="rId4"/>
            </p:custDataLst>
          </p:nvPr>
        </p:nvPicPr>
        <p:blipFill>
          <a:blip r:embed="rId21" cstate="print"/>
          <a:srcRect/>
          <a:stretch>
            <a:fillRect/>
          </a:stretch>
        </p:blipFill>
        <p:spPr bwMode="auto">
          <a:xfrm>
            <a:off x="1274887" y="1396705"/>
            <a:ext cx="5823438" cy="1165510"/>
          </a:xfrm>
          <a:prstGeom prst="rect">
            <a:avLst/>
          </a:prstGeom>
          <a:noFill/>
          <a:ln w="9525">
            <a:noFill/>
            <a:miter lim="800000"/>
            <a:headEnd/>
            <a:tailEnd/>
          </a:ln>
        </p:spPr>
      </p:pic>
      <p:pic>
        <p:nvPicPr>
          <p:cNvPr id="5" name="Picture 104" descr="C:\Users\UserSim\Desktop\Capgemini\moto.emf"/>
          <p:cNvPicPr>
            <a:picLocks noChangeAspect="1" noChangeArrowheads="1"/>
          </p:cNvPicPr>
          <p:nvPr>
            <p:custDataLst>
              <p:tags r:id="rId5"/>
            </p:custDataLst>
          </p:nvPr>
        </p:nvPicPr>
        <p:blipFill>
          <a:blip r:embed="rId22" cstate="print"/>
          <a:srcRect/>
          <a:stretch>
            <a:fillRect/>
          </a:stretch>
        </p:blipFill>
        <p:spPr bwMode="auto">
          <a:xfrm>
            <a:off x="10137532" y="1761374"/>
            <a:ext cx="6731976" cy="436171"/>
          </a:xfrm>
          <a:prstGeom prst="rect">
            <a:avLst/>
          </a:prstGeom>
          <a:noFill/>
          <a:ln w="9525">
            <a:noFill/>
            <a:miter lim="800000"/>
            <a:headEnd/>
            <a:tailEnd/>
          </a:ln>
        </p:spPr>
      </p:pic>
      <p:sp>
        <p:nvSpPr>
          <p:cNvPr id="6" name="Rectangle 5"/>
          <p:cNvSpPr/>
          <p:nvPr>
            <p:custDataLst>
              <p:tags r:id="rId6"/>
            </p:custDataLst>
          </p:nvPr>
        </p:nvSpPr>
        <p:spPr>
          <a:xfrm>
            <a:off x="10199076" y="9481610"/>
            <a:ext cx="8088924" cy="519369"/>
          </a:xfrm>
          <a:prstGeom prst="rect">
            <a:avLst/>
          </a:prstGeom>
        </p:spPr>
        <p:txBody>
          <a:bodyPr lIns="59053" tIns="59053" rIns="590529" bIns="59053" anchor="b">
            <a:spAutoFit/>
          </a:bodyPr>
          <a:lstStyle/>
          <a:p>
            <a:pPr algn="r" defTabSz="1710840" fontAlgn="auto">
              <a:spcBef>
                <a:spcPts val="0"/>
              </a:spcBef>
              <a:spcAft>
                <a:spcPts val="0"/>
              </a:spcAft>
              <a:defRPr/>
            </a:pPr>
            <a:r>
              <a:rPr lang="en-US" sz="1300" dirty="0">
                <a:solidFill>
                  <a:schemeClr val="bg1"/>
                </a:solidFill>
                <a:latin typeface="Arial"/>
                <a:cs typeface="Arial"/>
              </a:rPr>
              <a:t>The information contained in this presentation is proprietary.</a:t>
            </a:r>
          </a:p>
          <a:p>
            <a:pPr algn="r" defTabSz="1710840" fontAlgn="auto">
              <a:spcBef>
                <a:spcPts val="0"/>
              </a:spcBef>
              <a:spcAft>
                <a:spcPts val="0"/>
              </a:spcAft>
              <a:defRPr/>
            </a:pPr>
            <a:r>
              <a:rPr lang="en-US" sz="1300" dirty="0">
                <a:solidFill>
                  <a:schemeClr val="bg1"/>
                </a:solidFill>
                <a:latin typeface="Arial"/>
                <a:cs typeface="Arial"/>
              </a:rPr>
              <a:t>© 2012 Capgemini. All rights reserved.</a:t>
            </a:r>
          </a:p>
        </p:txBody>
      </p:sp>
      <p:sp>
        <p:nvSpPr>
          <p:cNvPr id="7" name="Rectangle 6"/>
          <p:cNvSpPr/>
          <p:nvPr>
            <p:custDataLst>
              <p:tags r:id="rId7"/>
            </p:custDataLst>
          </p:nvPr>
        </p:nvSpPr>
        <p:spPr>
          <a:xfrm>
            <a:off x="13052482" y="8082479"/>
            <a:ext cx="5235521" cy="683868"/>
          </a:xfrm>
          <a:prstGeom prst="rect">
            <a:avLst/>
          </a:prstGeom>
        </p:spPr>
        <p:txBody>
          <a:bodyPr wrap="none" lIns="64307" tIns="64307" rIns="643068" bIns="64307" anchor="b">
            <a:spAutoFit/>
          </a:bodyPr>
          <a:lstStyle/>
          <a:p>
            <a:pPr algn="r" defTabSz="1710840" fontAlgn="auto">
              <a:spcBef>
                <a:spcPts val="0"/>
              </a:spcBef>
              <a:spcAft>
                <a:spcPts val="0"/>
              </a:spcAft>
              <a:defRPr/>
            </a:pPr>
            <a:r>
              <a:rPr lang="en-US" sz="3600" b="1" dirty="0">
                <a:solidFill>
                  <a:schemeClr val="bg1"/>
                </a:solidFill>
              </a:rPr>
              <a:t>www.capgemini.com</a:t>
            </a:r>
          </a:p>
        </p:txBody>
      </p:sp>
      <p:pic>
        <p:nvPicPr>
          <p:cNvPr id="8" name="Picture 3" descr="C:\Users\UserSim\Desktop\DS_icons\128x128 shadows\facebook.png">
            <a:hlinkClick r:id="rId23"/>
          </p:cNvPr>
          <p:cNvPicPr>
            <a:picLocks noChangeAspect="1" noChangeArrowheads="1"/>
          </p:cNvPicPr>
          <p:nvPr>
            <p:custDataLst>
              <p:tags r:id="rId8"/>
            </p:custDataLst>
          </p:nvPr>
        </p:nvPicPr>
        <p:blipFill>
          <a:blip r:embed="rId24" cstate="print"/>
          <a:srcRect/>
          <a:stretch>
            <a:fillRect/>
          </a:stretch>
        </p:blipFill>
        <p:spPr bwMode="auto">
          <a:xfrm>
            <a:off x="14656778" y="8906974"/>
            <a:ext cx="512884" cy="395654"/>
          </a:xfrm>
          <a:prstGeom prst="rect">
            <a:avLst/>
          </a:prstGeom>
          <a:noFill/>
          <a:ln w="9525">
            <a:noFill/>
            <a:miter lim="800000"/>
            <a:headEnd/>
            <a:tailEnd/>
          </a:ln>
        </p:spPr>
      </p:pic>
      <p:pic>
        <p:nvPicPr>
          <p:cNvPr id="9" name="Picture 4" descr="C:\Users\UserSim\Desktop\DS_icons\128x128 shadows\linkedin.png">
            <a:hlinkClick r:id="rId25"/>
          </p:cNvPr>
          <p:cNvPicPr>
            <a:picLocks noChangeAspect="1" noChangeArrowheads="1"/>
          </p:cNvPicPr>
          <p:nvPr>
            <p:custDataLst>
              <p:tags r:id="rId9"/>
            </p:custDataLst>
          </p:nvPr>
        </p:nvPicPr>
        <p:blipFill>
          <a:blip r:embed="rId26" cstate="print"/>
          <a:srcRect/>
          <a:stretch>
            <a:fillRect/>
          </a:stretch>
        </p:blipFill>
        <p:spPr bwMode="auto">
          <a:xfrm>
            <a:off x="15275170" y="8906972"/>
            <a:ext cx="521676" cy="400420"/>
          </a:xfrm>
          <a:prstGeom prst="rect">
            <a:avLst/>
          </a:prstGeom>
          <a:noFill/>
          <a:ln w="9525">
            <a:noFill/>
            <a:miter lim="800000"/>
            <a:headEnd/>
            <a:tailEnd/>
          </a:ln>
        </p:spPr>
      </p:pic>
      <p:pic>
        <p:nvPicPr>
          <p:cNvPr id="10" name="Picture 5" descr="C:\Users\UserSim\Desktop\DS_icons\128x128 shadows\twitter.png">
            <a:hlinkClick r:id="rId27"/>
          </p:cNvPr>
          <p:cNvPicPr>
            <a:picLocks noChangeAspect="1" noChangeArrowheads="1"/>
          </p:cNvPicPr>
          <p:nvPr>
            <p:custDataLst>
              <p:tags r:id="rId10"/>
            </p:custDataLst>
          </p:nvPr>
        </p:nvPicPr>
        <p:blipFill>
          <a:blip r:embed="rId28" cstate="print"/>
          <a:srcRect/>
          <a:stretch>
            <a:fillRect/>
          </a:stretch>
        </p:blipFill>
        <p:spPr bwMode="auto">
          <a:xfrm>
            <a:off x="16438687" y="8906972"/>
            <a:ext cx="518746" cy="400420"/>
          </a:xfrm>
          <a:prstGeom prst="rect">
            <a:avLst/>
          </a:prstGeom>
          <a:noFill/>
          <a:ln w="9525">
            <a:noFill/>
            <a:miter lim="800000"/>
            <a:headEnd/>
            <a:tailEnd/>
          </a:ln>
        </p:spPr>
      </p:pic>
      <p:pic>
        <p:nvPicPr>
          <p:cNvPr id="11" name="Picture 6" descr="C:\Users\UserSim\Desktop\DS_icons\128x128 shadows\youtube.png">
            <a:hlinkClick r:id="rId29"/>
          </p:cNvPr>
          <p:cNvPicPr>
            <a:picLocks noChangeAspect="1" noChangeArrowheads="1"/>
          </p:cNvPicPr>
          <p:nvPr>
            <p:custDataLst>
              <p:tags r:id="rId11"/>
            </p:custDataLst>
          </p:nvPr>
        </p:nvPicPr>
        <p:blipFill>
          <a:blip r:embed="rId30" cstate="print"/>
          <a:srcRect/>
          <a:stretch>
            <a:fillRect/>
          </a:stretch>
        </p:blipFill>
        <p:spPr bwMode="auto">
          <a:xfrm>
            <a:off x="17062938" y="8906972"/>
            <a:ext cx="518748" cy="400420"/>
          </a:xfrm>
          <a:prstGeom prst="rect">
            <a:avLst/>
          </a:prstGeom>
          <a:noFill/>
          <a:ln w="9525">
            <a:noFill/>
            <a:miter lim="800000"/>
            <a:headEnd/>
            <a:tailEnd/>
          </a:ln>
        </p:spPr>
      </p:pic>
      <p:pic>
        <p:nvPicPr>
          <p:cNvPr id="12" name="Image 22" descr="Picto_Slideshare.gif">
            <a:hlinkClick r:id="rId31"/>
          </p:cNvPr>
          <p:cNvPicPr preferRelativeResize="0">
            <a:picLocks/>
          </p:cNvPicPr>
          <p:nvPr>
            <p:custDataLst>
              <p:tags r:id="rId12"/>
            </p:custDataLst>
          </p:nvPr>
        </p:nvPicPr>
        <p:blipFill>
          <a:blip r:embed="rId32" cstate="email"/>
          <a:srcRect l="4793" t="6316" r="5718" b="7969"/>
          <a:stretch>
            <a:fillRect/>
          </a:stretch>
        </p:blipFill>
        <p:spPr>
          <a:xfrm>
            <a:off x="15901235" y="8907063"/>
            <a:ext cx="430822" cy="357518"/>
          </a:xfrm>
          <a:prstGeom prst="roundRect">
            <a:avLst/>
          </a:prstGeom>
          <a:effectLst>
            <a:outerShdw blurRad="38100" dist="25400" dir="5400000" sx="98000" sy="98000" algn="t" rotWithShape="0">
              <a:schemeClr val="tx2">
                <a:alpha val="51000"/>
              </a:schemeClr>
            </a:outerShdw>
          </a:effectLst>
        </p:spPr>
      </p:pic>
      <p:graphicFrame>
        <p:nvGraphicFramePr>
          <p:cNvPr id="13" name="Object 3" hidden="1"/>
          <p:cNvGraphicFramePr>
            <a:graphicFrameLocks noChangeAspect="1"/>
          </p:cNvGraphicFramePr>
          <p:nvPr>
            <p:custDataLst>
              <p:tags r:id="rId13"/>
            </p:custDataLst>
          </p:nvPr>
        </p:nvGraphicFramePr>
        <p:xfrm>
          <a:off x="1" y="2"/>
          <a:ext cx="272562" cy="216895"/>
        </p:xfrm>
        <a:graphic>
          <a:graphicData uri="http://schemas.openxmlformats.org/presentationml/2006/ole">
            <mc:AlternateContent xmlns:mc="http://schemas.openxmlformats.org/markup-compatibility/2006">
              <mc:Choice xmlns:v="urn:schemas-microsoft-com:vml" Requires="v">
                <p:oleObj spid="_x0000_s50391" name="think-cell Slide" r:id="rId33" imgW="360" imgH="360" progId="">
                  <p:embed/>
                </p:oleObj>
              </mc:Choice>
              <mc:Fallback>
                <p:oleObj name="think-cell Slide" r:id="rId33" imgW="360" imgH="360" progId="">
                  <p:embed/>
                  <p:pic>
                    <p:nvPicPr>
                      <p:cNvPr id="0" name="Object 3"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 y="2"/>
                        <a:ext cx="272562" cy="2168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 351"/>
          <p:cNvGrpSpPr>
            <a:grpSpLocks/>
          </p:cNvGrpSpPr>
          <p:nvPr userDrawn="1">
            <p:custDataLst>
              <p:tags r:id="rId14"/>
            </p:custDataLst>
          </p:nvPr>
        </p:nvGrpSpPr>
        <p:grpSpPr bwMode="auto">
          <a:xfrm>
            <a:off x="10673863" y="4893236"/>
            <a:ext cx="6834554" cy="3179529"/>
            <a:chOff x="5511798" y="3584333"/>
            <a:chExt cx="4818106" cy="2816468"/>
          </a:xfrm>
        </p:grpSpPr>
        <p:grpSp>
          <p:nvGrpSpPr>
            <p:cNvPr id="15" name="Group 54"/>
            <p:cNvGrpSpPr>
              <a:grpSpLocks/>
            </p:cNvGrpSpPr>
            <p:nvPr userDrawn="1">
              <p:custDataLst>
                <p:tags r:id="rId16"/>
              </p:custDataLst>
            </p:nvPr>
          </p:nvGrpSpPr>
          <p:grpSpPr bwMode="auto">
            <a:xfrm>
              <a:off x="5511798" y="3584333"/>
              <a:ext cx="4818106" cy="2816468"/>
              <a:chOff x="-6346822" y="2366960"/>
              <a:chExt cx="5613397" cy="3281360"/>
            </a:xfrm>
          </p:grpSpPr>
          <p:grpSp>
            <p:nvGrpSpPr>
              <p:cNvPr id="16" name="Group 205"/>
              <p:cNvGrpSpPr>
                <a:grpSpLocks/>
              </p:cNvGrpSpPr>
              <p:nvPr/>
            </p:nvGrpSpPr>
            <p:grpSpPr bwMode="auto">
              <a:xfrm>
                <a:off x="-6170610" y="2416173"/>
                <a:ext cx="5135561" cy="3197223"/>
                <a:chOff x="-3887" y="1522"/>
                <a:chExt cx="3235" cy="2014"/>
              </a:xfrm>
            </p:grpSpPr>
            <p:sp>
              <p:nvSpPr>
                <p:cNvPr id="144" name="Freeform 5"/>
                <p:cNvSpPr>
                  <a:spLocks noEditPoints="1"/>
                </p:cNvSpPr>
                <p:nvPr/>
              </p:nvSpPr>
              <p:spPr bwMode="auto">
                <a:xfrm>
                  <a:off x="-2016" y="3070"/>
                  <a:ext cx="136" cy="2"/>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5" name="Freeform 6"/>
                <p:cNvSpPr>
                  <a:spLocks/>
                </p:cNvSpPr>
                <p:nvPr/>
              </p:nvSpPr>
              <p:spPr bwMode="auto">
                <a:xfrm>
                  <a:off x="-2718" y="2861"/>
                  <a:ext cx="12" cy="3"/>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6" name="Freeform 7"/>
                <p:cNvSpPr>
                  <a:spLocks/>
                </p:cNvSpPr>
                <p:nvPr/>
              </p:nvSpPr>
              <p:spPr bwMode="auto">
                <a:xfrm>
                  <a:off x="-1028" y="2861"/>
                  <a:ext cx="2" cy="3"/>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7" name="Freeform 8"/>
                <p:cNvSpPr>
                  <a:spLocks noEditPoints="1"/>
                </p:cNvSpPr>
                <p:nvPr/>
              </p:nvSpPr>
              <p:spPr bwMode="auto">
                <a:xfrm>
                  <a:off x="-2197" y="2222"/>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8" name="Freeform 9"/>
                <p:cNvSpPr>
                  <a:spLocks noEditPoints="1"/>
                </p:cNvSpPr>
                <p:nvPr/>
              </p:nvSpPr>
              <p:spPr bwMode="auto">
                <a:xfrm>
                  <a:off x="-3755" y="2222"/>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9" name="Freeform 10"/>
                <p:cNvSpPr>
                  <a:spLocks noEditPoints="1"/>
                </p:cNvSpPr>
                <p:nvPr/>
              </p:nvSpPr>
              <p:spPr bwMode="auto">
                <a:xfrm>
                  <a:off x="-2263" y="1682"/>
                  <a:ext cx="1069" cy="3"/>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0" name="Freeform 11"/>
                <p:cNvSpPr>
                  <a:spLocks noEditPoints="1"/>
                </p:cNvSpPr>
                <p:nvPr/>
              </p:nvSpPr>
              <p:spPr bwMode="auto">
                <a:xfrm>
                  <a:off x="-3519" y="1682"/>
                  <a:ext cx="531" cy="3"/>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1" name="Freeform 12"/>
                <p:cNvSpPr>
                  <a:spLocks/>
                </p:cNvSpPr>
                <p:nvPr/>
              </p:nvSpPr>
              <p:spPr bwMode="auto">
                <a:xfrm>
                  <a:off x="-1232" y="1987"/>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2" name="Freeform 13"/>
                <p:cNvSpPr>
                  <a:spLocks/>
                </p:cNvSpPr>
                <p:nvPr/>
              </p:nvSpPr>
              <p:spPr bwMode="auto">
                <a:xfrm>
                  <a:off x="-1116" y="2222"/>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3" name="Freeform 14"/>
                <p:cNvSpPr>
                  <a:spLocks noEditPoints="1"/>
                </p:cNvSpPr>
                <p:nvPr/>
              </p:nvSpPr>
              <p:spPr bwMode="auto">
                <a:xfrm>
                  <a:off x="-1103" y="2260"/>
                  <a:ext cx="171" cy="1016"/>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4" name="Freeform 15"/>
                <p:cNvSpPr>
                  <a:spLocks/>
                </p:cNvSpPr>
                <p:nvPr/>
              </p:nvSpPr>
              <p:spPr bwMode="auto">
                <a:xfrm>
                  <a:off x="-981" y="3070"/>
                  <a:ext cx="8" cy="2"/>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5" name="Freeform 16"/>
                <p:cNvSpPr>
                  <a:spLocks/>
                </p:cNvSpPr>
                <p:nvPr/>
              </p:nvSpPr>
              <p:spPr bwMode="auto">
                <a:xfrm>
                  <a:off x="-1028" y="2861"/>
                  <a:ext cx="5"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6" name="Freeform 17"/>
                <p:cNvSpPr>
                  <a:spLocks noEditPoints="1"/>
                </p:cNvSpPr>
                <p:nvPr/>
              </p:nvSpPr>
              <p:spPr bwMode="auto">
                <a:xfrm>
                  <a:off x="-1749" y="1524"/>
                  <a:ext cx="843" cy="1831"/>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7"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8" name="Freeform 19"/>
                <p:cNvSpPr>
                  <a:spLocks/>
                </p:cNvSpPr>
                <p:nvPr/>
              </p:nvSpPr>
              <p:spPr bwMode="auto">
                <a:xfrm>
                  <a:off x="-1499" y="1682"/>
                  <a:ext cx="9" cy="3"/>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9" name="Freeform 20"/>
                <p:cNvSpPr>
                  <a:spLocks noEditPoints="1"/>
                </p:cNvSpPr>
                <p:nvPr/>
              </p:nvSpPr>
              <p:spPr bwMode="auto">
                <a:xfrm>
                  <a:off x="-2620" y="2810"/>
                  <a:ext cx="179" cy="3"/>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0" name="Freeform 21"/>
                <p:cNvSpPr>
                  <a:spLocks noEditPoints="1"/>
                </p:cNvSpPr>
                <p:nvPr/>
              </p:nvSpPr>
              <p:spPr bwMode="auto">
                <a:xfrm>
                  <a:off x="-2620" y="2810"/>
                  <a:ext cx="179" cy="3"/>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1" name="Freeform 22"/>
                <p:cNvSpPr>
                  <a:spLocks/>
                </p:cNvSpPr>
                <p:nvPr/>
              </p:nvSpPr>
              <p:spPr bwMode="auto">
                <a:xfrm>
                  <a:off x="-1032" y="2810"/>
                  <a:ext cx="6" cy="3"/>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2" name="Freeform 23"/>
                <p:cNvSpPr>
                  <a:spLocks/>
                </p:cNvSpPr>
                <p:nvPr/>
              </p:nvSpPr>
              <p:spPr bwMode="auto">
                <a:xfrm>
                  <a:off x="-938"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3" name="Freeform 24"/>
                <p:cNvSpPr>
                  <a:spLocks noEditPoints="1"/>
                </p:cNvSpPr>
                <p:nvPr/>
              </p:nvSpPr>
              <p:spPr bwMode="auto">
                <a:xfrm>
                  <a:off x="-3887" y="3352"/>
                  <a:ext cx="396" cy="0"/>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4" name="Freeform 25"/>
                <p:cNvSpPr>
                  <a:spLocks noEditPoints="1"/>
                </p:cNvSpPr>
                <p:nvPr/>
              </p:nvSpPr>
              <p:spPr bwMode="auto">
                <a:xfrm>
                  <a:off x="-2903" y="3355"/>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5" name="Freeform 26"/>
                <p:cNvSpPr>
                  <a:spLocks noEditPoints="1"/>
                </p:cNvSpPr>
                <p:nvPr/>
              </p:nvSpPr>
              <p:spPr bwMode="auto">
                <a:xfrm>
                  <a:off x="-2019" y="3355"/>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6" name="Freeform 27"/>
                <p:cNvSpPr>
                  <a:spLocks/>
                </p:cNvSpPr>
                <p:nvPr/>
              </p:nvSpPr>
              <p:spPr bwMode="auto">
                <a:xfrm>
                  <a:off x="-912" y="3355"/>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7" name="Freeform 28"/>
                <p:cNvSpPr>
                  <a:spLocks/>
                </p:cNvSpPr>
                <p:nvPr/>
              </p:nvSpPr>
              <p:spPr bwMode="auto">
                <a:xfrm>
                  <a:off x="-808" y="3357"/>
                  <a:ext cx="2" cy="0"/>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8" name="Freeform 29"/>
                <p:cNvSpPr>
                  <a:spLocks/>
                </p:cNvSpPr>
                <p:nvPr/>
              </p:nvSpPr>
              <p:spPr bwMode="auto">
                <a:xfrm>
                  <a:off x="-104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9" name="Freeform 30"/>
                <p:cNvSpPr>
                  <a:spLocks/>
                </p:cNvSpPr>
                <p:nvPr/>
              </p:nvSpPr>
              <p:spPr bwMode="auto">
                <a:xfrm>
                  <a:off x="-1103" y="2256"/>
                  <a:ext cx="6"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0" name="Freeform 31"/>
                <p:cNvSpPr>
                  <a:spLocks/>
                </p:cNvSpPr>
                <p:nvPr/>
              </p:nvSpPr>
              <p:spPr bwMode="auto">
                <a:xfrm>
                  <a:off x="-2382" y="1987"/>
                  <a:ext cx="91"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1" name="Freeform 32"/>
                <p:cNvSpPr>
                  <a:spLocks/>
                </p:cNvSpPr>
                <p:nvPr/>
              </p:nvSpPr>
              <p:spPr bwMode="auto">
                <a:xfrm>
                  <a:off x="-2369" y="2222"/>
                  <a:ext cx="3"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2" name="Freeform 33"/>
                <p:cNvSpPr>
                  <a:spLocks noEditPoints="1"/>
                </p:cNvSpPr>
                <p:nvPr/>
              </p:nvSpPr>
              <p:spPr bwMode="auto">
                <a:xfrm>
                  <a:off x="-2417" y="1522"/>
                  <a:ext cx="414"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3" name="Freeform 34"/>
                <p:cNvSpPr>
                  <a:spLocks/>
                </p:cNvSpPr>
                <p:nvPr/>
              </p:nvSpPr>
              <p:spPr bwMode="auto">
                <a:xfrm>
                  <a:off x="-2210" y="1754"/>
                  <a:ext cx="6"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4" name="Freeform 35"/>
                <p:cNvSpPr>
                  <a:spLocks/>
                </p:cNvSpPr>
                <p:nvPr/>
              </p:nvSpPr>
              <p:spPr bwMode="auto">
                <a:xfrm>
                  <a:off x="-2417" y="2498"/>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5"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6" name="Freeform 37"/>
                <p:cNvSpPr>
                  <a:spLocks noEditPoints="1"/>
                </p:cNvSpPr>
                <p:nvPr/>
              </p:nvSpPr>
              <p:spPr bwMode="auto">
                <a:xfrm>
                  <a:off x="-2201" y="1987"/>
                  <a:ext cx="53"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7" name="Freeform 38"/>
                <p:cNvSpPr>
                  <a:spLocks/>
                </p:cNvSpPr>
                <p:nvPr/>
              </p:nvSpPr>
              <p:spPr bwMode="auto">
                <a:xfrm>
                  <a:off x="-2197" y="2222"/>
                  <a:ext cx="3"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8" name="Freeform 39"/>
                <p:cNvSpPr>
                  <a:spLocks noEditPoints="1"/>
                </p:cNvSpPr>
                <p:nvPr/>
              </p:nvSpPr>
              <p:spPr bwMode="auto">
                <a:xfrm>
                  <a:off x="-2222" y="2260"/>
                  <a:ext cx="85" cy="1016"/>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9" name="Freeform 40"/>
                <p:cNvSpPr>
                  <a:spLocks/>
                </p:cNvSpPr>
                <p:nvPr/>
              </p:nvSpPr>
              <p:spPr bwMode="auto">
                <a:xfrm>
                  <a:off x="-2171" y="3070"/>
                  <a:ext cx="5" cy="2"/>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0" name="Freeform 41"/>
                <p:cNvSpPr>
                  <a:spLocks/>
                </p:cNvSpPr>
                <p:nvPr/>
              </p:nvSpPr>
              <p:spPr bwMode="auto">
                <a:xfrm>
                  <a:off x="-2207" y="2861"/>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1" name="Freeform 42"/>
                <p:cNvSpPr>
                  <a:spLocks noEditPoints="1"/>
                </p:cNvSpPr>
                <p:nvPr/>
              </p:nvSpPr>
              <p:spPr bwMode="auto">
                <a:xfrm>
                  <a:off x="-2151" y="1522"/>
                  <a:ext cx="182" cy="1833"/>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2"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3" name="Freeform 44"/>
                <p:cNvSpPr>
                  <a:spLocks/>
                </p:cNvSpPr>
                <p:nvPr/>
              </p:nvSpPr>
              <p:spPr bwMode="auto">
                <a:xfrm>
                  <a:off x="-2210" y="2810"/>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4" name="Freeform 45"/>
                <p:cNvSpPr>
                  <a:spLocks/>
                </p:cNvSpPr>
                <p:nvPr/>
              </p:nvSpPr>
              <p:spPr bwMode="auto">
                <a:xfrm>
                  <a:off x="-2144"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5" name="Freeform 46"/>
                <p:cNvSpPr>
                  <a:spLocks/>
                </p:cNvSpPr>
                <p:nvPr/>
              </p:nvSpPr>
              <p:spPr bwMode="auto">
                <a:xfrm>
                  <a:off x="-2128" y="3357"/>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6" name="Freeform 47"/>
                <p:cNvSpPr>
                  <a:spLocks/>
                </p:cNvSpPr>
                <p:nvPr/>
              </p:nvSpPr>
              <p:spPr bwMode="auto">
                <a:xfrm>
                  <a:off x="-2128" y="3355"/>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7"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8" name="Freeform 49"/>
                <p:cNvSpPr>
                  <a:spLocks/>
                </p:cNvSpPr>
                <p:nvPr/>
              </p:nvSpPr>
              <p:spPr bwMode="auto">
                <a:xfrm>
                  <a:off x="-2201"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9" name="Freeform 50"/>
                <p:cNvSpPr>
                  <a:spLocks/>
                </p:cNvSpPr>
                <p:nvPr/>
              </p:nvSpPr>
              <p:spPr bwMode="auto">
                <a:xfrm>
                  <a:off x="-2019" y="1987"/>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0" name="Freeform 51"/>
                <p:cNvSpPr>
                  <a:spLocks/>
                </p:cNvSpPr>
                <p:nvPr/>
              </p:nvSpPr>
              <p:spPr bwMode="auto">
                <a:xfrm>
                  <a:off x="-2016" y="2222"/>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1" name="Freeform 52"/>
                <p:cNvSpPr>
                  <a:spLocks noEditPoints="1"/>
                </p:cNvSpPr>
                <p:nvPr/>
              </p:nvSpPr>
              <p:spPr bwMode="auto">
                <a:xfrm>
                  <a:off x="-2028" y="2260"/>
                  <a:ext cx="15" cy="1016"/>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2" name="Freeform 53"/>
                <p:cNvSpPr>
                  <a:spLocks/>
                </p:cNvSpPr>
                <p:nvPr/>
              </p:nvSpPr>
              <p:spPr bwMode="auto">
                <a:xfrm>
                  <a:off x="-2022" y="3070"/>
                  <a:ext cx="6" cy="2"/>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3" name="Freeform 54"/>
                <p:cNvSpPr>
                  <a:spLocks/>
                </p:cNvSpPr>
                <p:nvPr/>
              </p:nvSpPr>
              <p:spPr bwMode="auto">
                <a:xfrm>
                  <a:off x="-2027" y="2861"/>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4" name="Freeform 55"/>
                <p:cNvSpPr>
                  <a:spLocks noEditPoints="1"/>
                </p:cNvSpPr>
                <p:nvPr/>
              </p:nvSpPr>
              <p:spPr bwMode="auto">
                <a:xfrm>
                  <a:off x="-2024" y="1522"/>
                  <a:ext cx="92" cy="1833"/>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5" name="Freeform 56"/>
                <p:cNvSpPr>
                  <a:spLocks/>
                </p:cNvSpPr>
                <p:nvPr/>
              </p:nvSpPr>
              <p:spPr bwMode="auto">
                <a:xfrm>
                  <a:off x="-1984" y="1754"/>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6" name="Freeform 57"/>
                <p:cNvSpPr>
                  <a:spLocks/>
                </p:cNvSpPr>
                <p:nvPr/>
              </p:nvSpPr>
              <p:spPr bwMode="auto">
                <a:xfrm>
                  <a:off x="-2027"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7" name="Freeform 58"/>
                <p:cNvSpPr>
                  <a:spLocks/>
                </p:cNvSpPr>
                <p:nvPr/>
              </p:nvSpPr>
              <p:spPr bwMode="auto">
                <a:xfrm>
                  <a:off x="-2024" y="3276"/>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8" name="Freeform 59"/>
                <p:cNvSpPr>
                  <a:spLocks/>
                </p:cNvSpPr>
                <p:nvPr/>
              </p:nvSpPr>
              <p:spPr bwMode="auto">
                <a:xfrm>
                  <a:off x="-2027" y="3357"/>
                  <a:ext cx="8" cy="37"/>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9" name="Freeform 60"/>
                <p:cNvSpPr>
                  <a:spLocks/>
                </p:cNvSpPr>
                <p:nvPr/>
              </p:nvSpPr>
              <p:spPr bwMode="auto">
                <a:xfrm>
                  <a:off x="-2024" y="3355"/>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0"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1" name="Freeform 62"/>
                <p:cNvSpPr>
                  <a:spLocks/>
                </p:cNvSpPr>
                <p:nvPr/>
              </p:nvSpPr>
              <p:spPr bwMode="auto">
                <a:xfrm>
                  <a:off x="-2019" y="2256"/>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2" name="Freeform 63"/>
                <p:cNvSpPr>
                  <a:spLocks/>
                </p:cNvSpPr>
                <p:nvPr/>
              </p:nvSpPr>
              <p:spPr bwMode="auto">
                <a:xfrm>
                  <a:off x="-1840" y="1987"/>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3" name="Freeform 64"/>
                <p:cNvSpPr>
                  <a:spLocks/>
                </p:cNvSpPr>
                <p:nvPr/>
              </p:nvSpPr>
              <p:spPr bwMode="auto">
                <a:xfrm>
                  <a:off x="-1830" y="2222"/>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4" name="Freeform 65"/>
                <p:cNvSpPr>
                  <a:spLocks noEditPoints="1"/>
                </p:cNvSpPr>
                <p:nvPr/>
              </p:nvSpPr>
              <p:spPr bwMode="auto">
                <a:xfrm>
                  <a:off x="-1912" y="2260"/>
                  <a:ext cx="83" cy="1016"/>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5" name="Freeform 66"/>
                <p:cNvSpPr>
                  <a:spLocks/>
                </p:cNvSpPr>
                <p:nvPr/>
              </p:nvSpPr>
              <p:spPr bwMode="auto">
                <a:xfrm>
                  <a:off x="-1880" y="3070"/>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6" name="Freeform 67"/>
                <p:cNvSpPr>
                  <a:spLocks noEditPoints="1"/>
                </p:cNvSpPr>
                <p:nvPr/>
              </p:nvSpPr>
              <p:spPr bwMode="auto">
                <a:xfrm>
                  <a:off x="-1934" y="1522"/>
                  <a:ext cx="100" cy="1833"/>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7"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8" name="Freeform 69"/>
                <p:cNvSpPr>
                  <a:spLocks/>
                </p:cNvSpPr>
                <p:nvPr/>
              </p:nvSpPr>
              <p:spPr bwMode="auto">
                <a:xfrm>
                  <a:off x="-1868" y="1682"/>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9" name="Freeform 70"/>
                <p:cNvSpPr>
                  <a:spLocks/>
                </p:cNvSpPr>
                <p:nvPr/>
              </p:nvSpPr>
              <p:spPr bwMode="auto">
                <a:xfrm>
                  <a:off x="-1842"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0" name="Freeform 71"/>
                <p:cNvSpPr>
                  <a:spLocks/>
                </p:cNvSpPr>
                <p:nvPr/>
              </p:nvSpPr>
              <p:spPr bwMode="auto">
                <a:xfrm>
                  <a:off x="-1912"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1" name="Freeform 72"/>
                <p:cNvSpPr>
                  <a:spLocks/>
                </p:cNvSpPr>
                <p:nvPr/>
              </p:nvSpPr>
              <p:spPr bwMode="auto">
                <a:xfrm>
                  <a:off x="-1946" y="3355"/>
                  <a:ext cx="18" cy="37"/>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2" name="Freeform 73"/>
                <p:cNvSpPr>
                  <a:spLocks/>
                </p:cNvSpPr>
                <p:nvPr/>
              </p:nvSpPr>
              <p:spPr bwMode="auto">
                <a:xfrm>
                  <a:off x="-1934" y="3355"/>
                  <a:ext cx="9"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3"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4"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5" name="Freeform 76"/>
                <p:cNvSpPr>
                  <a:spLocks noEditPoints="1"/>
                </p:cNvSpPr>
                <p:nvPr/>
              </p:nvSpPr>
              <p:spPr bwMode="auto">
                <a:xfrm>
                  <a:off x="-1664" y="1683"/>
                  <a:ext cx="238"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6" name="Freeform 77"/>
                <p:cNvSpPr>
                  <a:spLocks/>
                </p:cNvSpPr>
                <p:nvPr/>
              </p:nvSpPr>
              <p:spPr bwMode="auto">
                <a:xfrm>
                  <a:off x="-1614" y="1754"/>
                  <a:ext cx="6"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7" name="Freeform 78"/>
                <p:cNvSpPr>
                  <a:spLocks/>
                </p:cNvSpPr>
                <p:nvPr/>
              </p:nvSpPr>
              <p:spPr bwMode="auto">
                <a:xfrm>
                  <a:off x="-1667" y="1682"/>
                  <a:ext cx="6" cy="3"/>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8" name="Freeform 79"/>
                <p:cNvSpPr>
                  <a:spLocks/>
                </p:cNvSpPr>
                <p:nvPr/>
              </p:nvSpPr>
              <p:spPr bwMode="auto">
                <a:xfrm>
                  <a:off x="-1429" y="2498"/>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9" name="Freeform 80"/>
                <p:cNvSpPr>
                  <a:spLocks/>
                </p:cNvSpPr>
                <p:nvPr/>
              </p:nvSpPr>
              <p:spPr bwMode="auto">
                <a:xfrm>
                  <a:off x="-1458"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0" name="Freeform 81"/>
                <p:cNvSpPr>
                  <a:spLocks/>
                </p:cNvSpPr>
                <p:nvPr/>
              </p:nvSpPr>
              <p:spPr bwMode="auto">
                <a:xfrm>
                  <a:off x="-1376" y="1987"/>
                  <a:ext cx="100"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1" name="Freeform 82"/>
                <p:cNvSpPr>
                  <a:spLocks/>
                </p:cNvSpPr>
                <p:nvPr/>
              </p:nvSpPr>
              <p:spPr bwMode="auto">
                <a:xfrm>
                  <a:off x="-1288" y="2222"/>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2" name="Freeform 83"/>
                <p:cNvSpPr>
                  <a:spLocks noEditPoints="1"/>
                </p:cNvSpPr>
                <p:nvPr/>
              </p:nvSpPr>
              <p:spPr bwMode="auto">
                <a:xfrm>
                  <a:off x="-1281" y="2260"/>
                  <a:ext cx="232" cy="1016"/>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3" name="Freeform 84"/>
                <p:cNvSpPr>
                  <a:spLocks/>
                </p:cNvSpPr>
                <p:nvPr/>
              </p:nvSpPr>
              <p:spPr bwMode="auto">
                <a:xfrm>
                  <a:off x="-1120" y="3070"/>
                  <a:ext cx="6"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4" name="Freeform 85"/>
                <p:cNvSpPr>
                  <a:spLocks/>
                </p:cNvSpPr>
                <p:nvPr/>
              </p:nvSpPr>
              <p:spPr bwMode="auto">
                <a:xfrm>
                  <a:off x="-1196" y="2861"/>
                  <a:ext cx="8"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5" name="Freeform 86"/>
                <p:cNvSpPr>
                  <a:spLocks noEditPoints="1"/>
                </p:cNvSpPr>
                <p:nvPr/>
              </p:nvSpPr>
              <p:spPr bwMode="auto">
                <a:xfrm>
                  <a:off x="-1774" y="1524"/>
                  <a:ext cx="766" cy="1831"/>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6"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7" name="Rectangle 88"/>
                <p:cNvSpPr>
                  <a:spLocks noChangeArrowheads="1"/>
                </p:cNvSpPr>
                <p:nvPr/>
              </p:nvSpPr>
              <p:spPr bwMode="auto">
                <a:xfrm>
                  <a:off x="-1575" y="1683"/>
                  <a:ext cx="2" cy="2"/>
                </a:xfrm>
                <a:prstGeom prst="rect">
                  <a:avLst/>
                </a:prstGeom>
                <a:solidFill>
                  <a:srgbClr val="FFFFFF"/>
                </a:solidFill>
                <a:ln w="9525">
                  <a:noFill/>
                  <a:miter lim="800000"/>
                  <a:headEnd/>
                  <a:tailEnd/>
                </a:ln>
              </p:spPr>
              <p:txBody>
                <a:bodyPr/>
                <a:lstStyle/>
                <a:p>
                  <a:pPr defTabSz="1710840" fontAlgn="auto">
                    <a:spcBef>
                      <a:spcPts val="0"/>
                    </a:spcBef>
                    <a:spcAft>
                      <a:spcPts val="0"/>
                    </a:spcAft>
                    <a:defRPr/>
                  </a:pPr>
                  <a:endParaRPr lang="en-US" dirty="0">
                    <a:latin typeface="+mn-lt"/>
                    <a:cs typeface="+mn-cs"/>
                  </a:endParaRPr>
                </a:p>
              </p:txBody>
            </p:sp>
            <p:sp>
              <p:nvSpPr>
                <p:cNvPr id="228" name="Freeform 89"/>
                <p:cNvSpPr>
                  <a:spLocks/>
                </p:cNvSpPr>
                <p:nvPr/>
              </p:nvSpPr>
              <p:spPr bwMode="auto">
                <a:xfrm>
                  <a:off x="-1575" y="1683"/>
                  <a:ext cx="2" cy="2"/>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9" name="Freeform 90"/>
                <p:cNvSpPr>
                  <a:spLocks/>
                </p:cNvSpPr>
                <p:nvPr/>
              </p:nvSpPr>
              <p:spPr bwMode="auto">
                <a:xfrm>
                  <a:off x="-1210"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0" name="Freeform 91"/>
                <p:cNvSpPr>
                  <a:spLocks/>
                </p:cNvSpPr>
                <p:nvPr/>
              </p:nvSpPr>
              <p:spPr bwMode="auto">
                <a:xfrm>
                  <a:off x="-1056" y="3276"/>
                  <a:ext cx="9"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1" name="Freeform 92"/>
                <p:cNvSpPr>
                  <a:spLocks/>
                </p:cNvSpPr>
                <p:nvPr/>
              </p:nvSpPr>
              <p:spPr bwMode="auto">
                <a:xfrm>
                  <a:off x="-1014" y="3357"/>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2" name="Freeform 93"/>
                <p:cNvSpPr>
                  <a:spLocks/>
                </p:cNvSpPr>
                <p:nvPr/>
              </p:nvSpPr>
              <p:spPr bwMode="auto">
                <a:xfrm>
                  <a:off x="-1014" y="3355"/>
                  <a:ext cx="8"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3"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4" name="Freeform 95"/>
                <p:cNvSpPr>
                  <a:spLocks/>
                </p:cNvSpPr>
                <p:nvPr/>
              </p:nvSpPr>
              <p:spPr bwMode="auto">
                <a:xfrm>
                  <a:off x="-1281"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5" name="Freeform 96"/>
                <p:cNvSpPr>
                  <a:spLocks noEditPoints="1"/>
                </p:cNvSpPr>
                <p:nvPr/>
              </p:nvSpPr>
              <p:spPr bwMode="auto">
                <a:xfrm>
                  <a:off x="-1636" y="1524"/>
                  <a:ext cx="819" cy="460"/>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6" name="Freeform 97"/>
                <p:cNvSpPr>
                  <a:spLocks/>
                </p:cNvSpPr>
                <p:nvPr/>
              </p:nvSpPr>
              <p:spPr bwMode="auto">
                <a:xfrm>
                  <a:off x="-1070" y="1754"/>
                  <a:ext cx="9"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7" name="Freeform 98"/>
                <p:cNvSpPr>
                  <a:spLocks/>
                </p:cNvSpPr>
                <p:nvPr/>
              </p:nvSpPr>
              <p:spPr bwMode="auto">
                <a:xfrm>
                  <a:off x="-1205" y="1682"/>
                  <a:ext cx="9" cy="3"/>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8" name="Freeform 99"/>
                <p:cNvSpPr>
                  <a:spLocks/>
                </p:cNvSpPr>
                <p:nvPr/>
              </p:nvSpPr>
              <p:spPr bwMode="auto">
                <a:xfrm>
                  <a:off x="-955" y="1987"/>
                  <a:ext cx="217"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9" name="Freeform 100"/>
                <p:cNvSpPr>
                  <a:spLocks/>
                </p:cNvSpPr>
                <p:nvPr/>
              </p:nvSpPr>
              <p:spPr bwMode="auto">
                <a:xfrm>
                  <a:off x="-761" y="2222"/>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0" name="Freeform 101"/>
                <p:cNvSpPr>
                  <a:spLocks noEditPoints="1"/>
                </p:cNvSpPr>
                <p:nvPr/>
              </p:nvSpPr>
              <p:spPr bwMode="auto">
                <a:xfrm>
                  <a:off x="-741" y="2260"/>
                  <a:ext cx="89" cy="1016"/>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1" name="Freeform 102"/>
                <p:cNvSpPr>
                  <a:spLocks/>
                </p:cNvSpPr>
                <p:nvPr/>
              </p:nvSpPr>
              <p:spPr bwMode="auto">
                <a:xfrm>
                  <a:off x="-685" y="3070"/>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2" name="Freeform 103"/>
                <p:cNvSpPr>
                  <a:spLocks/>
                </p:cNvSpPr>
                <p:nvPr/>
              </p:nvSpPr>
              <p:spPr bwMode="auto">
                <a:xfrm>
                  <a:off x="-659" y="2861"/>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3" name="Freeform 104"/>
                <p:cNvSpPr>
                  <a:spLocks noEditPoints="1"/>
                </p:cNvSpPr>
                <p:nvPr/>
              </p:nvSpPr>
              <p:spPr bwMode="auto">
                <a:xfrm>
                  <a:off x="-1681" y="1524"/>
                  <a:ext cx="990" cy="1876"/>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4"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5" name="Freeform 106"/>
                <p:cNvSpPr>
                  <a:spLocks/>
                </p:cNvSpPr>
                <p:nvPr/>
              </p:nvSpPr>
              <p:spPr bwMode="auto">
                <a:xfrm>
                  <a:off x="-1296" y="1682"/>
                  <a:ext cx="5" cy="3"/>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6" name="Freeform 107"/>
                <p:cNvSpPr>
                  <a:spLocks/>
                </p:cNvSpPr>
                <p:nvPr/>
              </p:nvSpPr>
              <p:spPr bwMode="auto">
                <a:xfrm>
                  <a:off x="-656" y="2810"/>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7" name="Freeform 108"/>
                <p:cNvSpPr>
                  <a:spLocks/>
                </p:cNvSpPr>
                <p:nvPr/>
              </p:nvSpPr>
              <p:spPr bwMode="auto">
                <a:xfrm>
                  <a:off x="-697"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8" name="Freeform 109"/>
                <p:cNvSpPr>
                  <a:spLocks/>
                </p:cNvSpPr>
                <p:nvPr/>
              </p:nvSpPr>
              <p:spPr bwMode="auto">
                <a:xfrm>
                  <a:off x="-711" y="3355"/>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9"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0" name="Freeform 111"/>
                <p:cNvSpPr>
                  <a:spLocks/>
                </p:cNvSpPr>
                <p:nvPr/>
              </p:nvSpPr>
              <p:spPr bwMode="auto">
                <a:xfrm>
                  <a:off x="-744" y="2256"/>
                  <a:ext cx="9"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1" name="Freeform 112"/>
                <p:cNvSpPr>
                  <a:spLocks noEditPoints="1"/>
                </p:cNvSpPr>
                <p:nvPr/>
              </p:nvSpPr>
              <p:spPr bwMode="auto">
                <a:xfrm>
                  <a:off x="-1099" y="1987"/>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2" name="Freeform 113"/>
                <p:cNvSpPr>
                  <a:spLocks/>
                </p:cNvSpPr>
                <p:nvPr/>
              </p:nvSpPr>
              <p:spPr bwMode="auto">
                <a:xfrm>
                  <a:off x="-943" y="2222"/>
                  <a:ext cx="8"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3" name="Freeform 114"/>
                <p:cNvSpPr>
                  <a:spLocks noEditPoints="1"/>
                </p:cNvSpPr>
                <p:nvPr/>
              </p:nvSpPr>
              <p:spPr bwMode="auto">
                <a:xfrm>
                  <a:off x="-923" y="2260"/>
                  <a:ext cx="108" cy="1016"/>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4" name="Freeform 115"/>
                <p:cNvSpPr>
                  <a:spLocks/>
                </p:cNvSpPr>
                <p:nvPr/>
              </p:nvSpPr>
              <p:spPr bwMode="auto">
                <a:xfrm>
                  <a:off x="-835" y="3070"/>
                  <a:ext cx="3"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5" name="Freeform 116"/>
                <p:cNvSpPr>
                  <a:spLocks noEditPoints="1"/>
                </p:cNvSpPr>
                <p:nvPr/>
              </p:nvSpPr>
              <p:spPr bwMode="auto">
                <a:xfrm>
                  <a:off x="-1711" y="1524"/>
                  <a:ext cx="905" cy="1833"/>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6" name="Freeform 117"/>
                <p:cNvSpPr>
                  <a:spLocks/>
                </p:cNvSpPr>
                <p:nvPr/>
              </p:nvSpPr>
              <p:spPr bwMode="auto">
                <a:xfrm>
                  <a:off x="-1296" y="1754"/>
                  <a:ext cx="8"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7" name="Freeform 118"/>
                <p:cNvSpPr>
                  <a:spLocks/>
                </p:cNvSpPr>
                <p:nvPr/>
              </p:nvSpPr>
              <p:spPr bwMode="auto">
                <a:xfrm>
                  <a:off x="-843"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8"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9" name="Freeform 120"/>
                <p:cNvSpPr>
                  <a:spLocks/>
                </p:cNvSpPr>
                <p:nvPr/>
              </p:nvSpPr>
              <p:spPr bwMode="auto">
                <a:xfrm>
                  <a:off x="-809" y="3357"/>
                  <a:ext cx="3" cy="0"/>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0" name="Freeform 121"/>
                <p:cNvSpPr>
                  <a:spLocks/>
                </p:cNvSpPr>
                <p:nvPr/>
              </p:nvSpPr>
              <p:spPr bwMode="auto">
                <a:xfrm>
                  <a:off x="-809" y="3355"/>
                  <a:ext cx="3"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1"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2" name="Freeform 123"/>
                <p:cNvSpPr>
                  <a:spLocks/>
                </p:cNvSpPr>
                <p:nvPr/>
              </p:nvSpPr>
              <p:spPr bwMode="auto">
                <a:xfrm>
                  <a:off x="-923" y="2256"/>
                  <a:ext cx="6"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3" name="Freeform 124"/>
                <p:cNvSpPr>
                  <a:spLocks noEditPoints="1"/>
                </p:cNvSpPr>
                <p:nvPr/>
              </p:nvSpPr>
              <p:spPr bwMode="auto">
                <a:xfrm>
                  <a:off x="-2699" y="2452"/>
                  <a:ext cx="106" cy="824"/>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4" name="Freeform 125"/>
                <p:cNvSpPr>
                  <a:spLocks/>
                </p:cNvSpPr>
                <p:nvPr/>
              </p:nvSpPr>
              <p:spPr bwMode="auto">
                <a:xfrm>
                  <a:off x="-2667" y="3070"/>
                  <a:ext cx="8" cy="2"/>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5" name="Freeform 126"/>
                <p:cNvSpPr>
                  <a:spLocks/>
                </p:cNvSpPr>
                <p:nvPr/>
              </p:nvSpPr>
              <p:spPr bwMode="auto">
                <a:xfrm>
                  <a:off x="-2796" y="3278"/>
                  <a:ext cx="102" cy="260"/>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6" name="Freeform 127"/>
                <p:cNvSpPr>
                  <a:spLocks/>
                </p:cNvSpPr>
                <p:nvPr/>
              </p:nvSpPr>
              <p:spPr bwMode="auto">
                <a:xfrm>
                  <a:off x="-2623" y="2810"/>
                  <a:ext cx="3" cy="3"/>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7" name="Freeform 128"/>
                <p:cNvSpPr>
                  <a:spLocks/>
                </p:cNvSpPr>
                <p:nvPr/>
              </p:nvSpPr>
              <p:spPr bwMode="auto">
                <a:xfrm>
                  <a:off x="-2702" y="3276"/>
                  <a:ext cx="8"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8" name="Freeform 129"/>
                <p:cNvSpPr>
                  <a:spLocks/>
                </p:cNvSpPr>
                <p:nvPr/>
              </p:nvSpPr>
              <p:spPr bwMode="auto">
                <a:xfrm>
                  <a:off x="-2718" y="3355"/>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9" name="Freeform 130"/>
                <p:cNvSpPr>
                  <a:spLocks/>
                </p:cNvSpPr>
                <p:nvPr/>
              </p:nvSpPr>
              <p:spPr bwMode="auto">
                <a:xfrm>
                  <a:off x="-2601"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0" name="Freeform 131"/>
                <p:cNvSpPr>
                  <a:spLocks noEditPoints="1"/>
                </p:cNvSpPr>
                <p:nvPr/>
              </p:nvSpPr>
              <p:spPr bwMode="auto">
                <a:xfrm>
                  <a:off x="-3769" y="1987"/>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1" name="Freeform 132"/>
                <p:cNvSpPr>
                  <a:spLocks/>
                </p:cNvSpPr>
                <p:nvPr/>
              </p:nvSpPr>
              <p:spPr bwMode="auto">
                <a:xfrm>
                  <a:off x="-3760" y="222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2"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3" name="Freeform 134"/>
                <p:cNvSpPr>
                  <a:spLocks/>
                </p:cNvSpPr>
                <p:nvPr/>
              </p:nvSpPr>
              <p:spPr bwMode="auto">
                <a:xfrm>
                  <a:off x="-3566" y="1754"/>
                  <a:ext cx="8"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4" name="Freeform 135"/>
                <p:cNvSpPr>
                  <a:spLocks/>
                </p:cNvSpPr>
                <p:nvPr/>
              </p:nvSpPr>
              <p:spPr bwMode="auto">
                <a:xfrm>
                  <a:off x="-3513" y="1682"/>
                  <a:ext cx="6" cy="3"/>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5" name="Freeform 136"/>
                <p:cNvSpPr>
                  <a:spLocks noEditPoints="1"/>
                </p:cNvSpPr>
                <p:nvPr/>
              </p:nvSpPr>
              <p:spPr bwMode="auto">
                <a:xfrm>
                  <a:off x="-3801" y="2260"/>
                  <a:ext cx="35" cy="1016"/>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6" name="Freeform 137"/>
                <p:cNvSpPr>
                  <a:spLocks/>
                </p:cNvSpPr>
                <p:nvPr/>
              </p:nvSpPr>
              <p:spPr bwMode="auto">
                <a:xfrm>
                  <a:off x="-3795" y="3070"/>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7" name="Freeform 138"/>
                <p:cNvSpPr>
                  <a:spLocks/>
                </p:cNvSpPr>
                <p:nvPr/>
              </p:nvSpPr>
              <p:spPr bwMode="auto">
                <a:xfrm>
                  <a:off x="-3798" y="2861"/>
                  <a:ext cx="5" cy="3"/>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8" name="Freeform 139"/>
                <p:cNvSpPr>
                  <a:spLocks/>
                </p:cNvSpPr>
                <p:nvPr/>
              </p:nvSpPr>
              <p:spPr bwMode="auto">
                <a:xfrm>
                  <a:off x="-3793" y="3278"/>
                  <a:ext cx="15" cy="246"/>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9" name="Freeform 140"/>
                <p:cNvSpPr>
                  <a:spLocks/>
                </p:cNvSpPr>
                <p:nvPr/>
              </p:nvSpPr>
              <p:spPr bwMode="auto">
                <a:xfrm>
                  <a:off x="-3798" y="2810"/>
                  <a:ext cx="5" cy="3"/>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0"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1" name="Freeform 142"/>
                <p:cNvSpPr>
                  <a:spLocks/>
                </p:cNvSpPr>
                <p:nvPr/>
              </p:nvSpPr>
              <p:spPr bwMode="auto">
                <a:xfrm>
                  <a:off x="-3790" y="3352"/>
                  <a:ext cx="5" cy="0"/>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2" name="Freeform 143"/>
                <p:cNvSpPr>
                  <a:spLocks/>
                </p:cNvSpPr>
                <p:nvPr/>
              </p:nvSpPr>
              <p:spPr bwMode="auto">
                <a:xfrm>
                  <a:off x="-3801"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3" name="Freeform 144"/>
                <p:cNvSpPr>
                  <a:spLocks/>
                </p:cNvSpPr>
                <p:nvPr/>
              </p:nvSpPr>
              <p:spPr bwMode="auto">
                <a:xfrm>
                  <a:off x="-3769" y="2256"/>
                  <a:ext cx="6"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4" name="Freeform 145"/>
                <p:cNvSpPr>
                  <a:spLocks noEditPoints="1"/>
                </p:cNvSpPr>
                <p:nvPr/>
              </p:nvSpPr>
              <p:spPr bwMode="auto">
                <a:xfrm>
                  <a:off x="-3669" y="1987"/>
                  <a:ext cx="168" cy="1289"/>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5" name="Freeform 146"/>
                <p:cNvSpPr>
                  <a:spLocks/>
                </p:cNvSpPr>
                <p:nvPr/>
              </p:nvSpPr>
              <p:spPr bwMode="auto">
                <a:xfrm>
                  <a:off x="-3642" y="3070"/>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6" name="Freeform 147"/>
                <p:cNvSpPr>
                  <a:spLocks/>
                </p:cNvSpPr>
                <p:nvPr/>
              </p:nvSpPr>
              <p:spPr bwMode="auto">
                <a:xfrm>
                  <a:off x="-3607" y="2861"/>
                  <a:ext cx="2" cy="3"/>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7"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8" name="Freeform 149"/>
                <p:cNvSpPr>
                  <a:spLocks/>
                </p:cNvSpPr>
                <p:nvPr/>
              </p:nvSpPr>
              <p:spPr bwMode="auto">
                <a:xfrm>
                  <a:off x="-3440" y="1754"/>
                  <a:ext cx="6"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9" name="Freeform 150"/>
                <p:cNvSpPr>
                  <a:spLocks/>
                </p:cNvSpPr>
                <p:nvPr/>
              </p:nvSpPr>
              <p:spPr bwMode="auto">
                <a:xfrm>
                  <a:off x="-3608"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0" name="Freeform 151"/>
                <p:cNvSpPr>
                  <a:spLocks/>
                </p:cNvSpPr>
                <p:nvPr/>
              </p:nvSpPr>
              <p:spPr bwMode="auto">
                <a:xfrm>
                  <a:off x="-3672" y="3276"/>
                  <a:ext cx="6"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1" name="Freeform 152"/>
                <p:cNvSpPr>
                  <a:spLocks/>
                </p:cNvSpPr>
                <p:nvPr/>
              </p:nvSpPr>
              <p:spPr bwMode="auto">
                <a:xfrm>
                  <a:off x="-3689" y="3352"/>
                  <a:ext cx="5" cy="0"/>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2" name="Freeform 153"/>
                <p:cNvSpPr>
                  <a:spLocks/>
                </p:cNvSpPr>
                <p:nvPr/>
              </p:nvSpPr>
              <p:spPr bwMode="auto">
                <a:xfrm>
                  <a:off x="-3607"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3" name="Freeform 154"/>
                <p:cNvSpPr>
                  <a:spLocks/>
                </p:cNvSpPr>
                <p:nvPr/>
              </p:nvSpPr>
              <p:spPr bwMode="auto">
                <a:xfrm>
                  <a:off x="-358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4" name="Freeform 155"/>
                <p:cNvSpPr>
                  <a:spLocks noEditPoints="1"/>
                </p:cNvSpPr>
                <p:nvPr/>
              </p:nvSpPr>
              <p:spPr bwMode="auto">
                <a:xfrm>
                  <a:off x="-3395" y="1987"/>
                  <a:ext cx="44"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5" name="Freeform 156"/>
                <p:cNvSpPr>
                  <a:spLocks/>
                </p:cNvSpPr>
                <p:nvPr/>
              </p:nvSpPr>
              <p:spPr bwMode="auto">
                <a:xfrm>
                  <a:off x="-3393" y="222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6" name="Freeform 157"/>
                <p:cNvSpPr>
                  <a:spLocks noEditPoints="1"/>
                </p:cNvSpPr>
                <p:nvPr/>
              </p:nvSpPr>
              <p:spPr bwMode="auto">
                <a:xfrm>
                  <a:off x="-3355" y="1522"/>
                  <a:ext cx="118"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7" name="Freeform 158"/>
                <p:cNvSpPr>
                  <a:spLocks/>
                </p:cNvSpPr>
                <p:nvPr/>
              </p:nvSpPr>
              <p:spPr bwMode="auto">
                <a:xfrm>
                  <a:off x="-3334" y="1754"/>
                  <a:ext cx="8"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8" name="Freeform 159"/>
                <p:cNvSpPr>
                  <a:spLocks/>
                </p:cNvSpPr>
                <p:nvPr/>
              </p:nvSpPr>
              <p:spPr bwMode="auto">
                <a:xfrm>
                  <a:off x="-3314" y="168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9" name="Freeform 160"/>
                <p:cNvSpPr>
                  <a:spLocks noEditPoints="1"/>
                </p:cNvSpPr>
                <p:nvPr/>
              </p:nvSpPr>
              <p:spPr bwMode="auto">
                <a:xfrm>
                  <a:off x="-3557" y="2260"/>
                  <a:ext cx="167" cy="1016"/>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0" name="Freeform 161"/>
                <p:cNvSpPr>
                  <a:spLocks/>
                </p:cNvSpPr>
                <p:nvPr/>
              </p:nvSpPr>
              <p:spPr bwMode="auto">
                <a:xfrm>
                  <a:off x="-3495" y="3070"/>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1" name="Freeform 162"/>
                <p:cNvSpPr>
                  <a:spLocks/>
                </p:cNvSpPr>
                <p:nvPr/>
              </p:nvSpPr>
              <p:spPr bwMode="auto">
                <a:xfrm>
                  <a:off x="-3434" y="2861"/>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2" name="Freeform 163"/>
                <p:cNvSpPr>
                  <a:spLocks noEditPoints="1"/>
                </p:cNvSpPr>
                <p:nvPr/>
              </p:nvSpPr>
              <p:spPr bwMode="auto">
                <a:xfrm>
                  <a:off x="-3630" y="3278"/>
                  <a:ext cx="76" cy="156"/>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3" name="Freeform 164"/>
                <p:cNvSpPr>
                  <a:spLocks/>
                </p:cNvSpPr>
                <p:nvPr/>
              </p:nvSpPr>
              <p:spPr bwMode="auto">
                <a:xfrm>
                  <a:off x="-3422" y="2810"/>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4" name="Freeform 165"/>
                <p:cNvSpPr>
                  <a:spLocks/>
                </p:cNvSpPr>
                <p:nvPr/>
              </p:nvSpPr>
              <p:spPr bwMode="auto">
                <a:xfrm>
                  <a:off x="-3558" y="3276"/>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5" name="Freeform 166"/>
                <p:cNvSpPr>
                  <a:spLocks/>
                </p:cNvSpPr>
                <p:nvPr/>
              </p:nvSpPr>
              <p:spPr bwMode="auto">
                <a:xfrm>
                  <a:off x="-3589" y="3352"/>
                  <a:ext cx="5" cy="0"/>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6" name="Freeform 167"/>
                <p:cNvSpPr>
                  <a:spLocks/>
                </p:cNvSpPr>
                <p:nvPr/>
              </p:nvSpPr>
              <p:spPr bwMode="auto">
                <a:xfrm>
                  <a:off x="-3401"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7"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8" name="Freeform 169"/>
                <p:cNvSpPr>
                  <a:spLocks/>
                </p:cNvSpPr>
                <p:nvPr/>
              </p:nvSpPr>
              <p:spPr bwMode="auto">
                <a:xfrm>
                  <a:off x="-3200" y="1987"/>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9" name="Freeform 170"/>
                <p:cNvSpPr>
                  <a:spLocks/>
                </p:cNvSpPr>
                <p:nvPr/>
              </p:nvSpPr>
              <p:spPr bwMode="auto">
                <a:xfrm>
                  <a:off x="-3200" y="2222"/>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0" name="Freeform 171"/>
                <p:cNvSpPr>
                  <a:spLocks noEditPoints="1"/>
                </p:cNvSpPr>
                <p:nvPr/>
              </p:nvSpPr>
              <p:spPr bwMode="auto">
                <a:xfrm>
                  <a:off x="-3203" y="1524"/>
                  <a:ext cx="8"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1" name="Freeform 172"/>
                <p:cNvSpPr>
                  <a:spLocks/>
                </p:cNvSpPr>
                <p:nvPr/>
              </p:nvSpPr>
              <p:spPr bwMode="auto">
                <a:xfrm>
                  <a:off x="-3203" y="1754"/>
                  <a:ext cx="3"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2" name="Freeform 173"/>
                <p:cNvSpPr>
                  <a:spLocks/>
                </p:cNvSpPr>
                <p:nvPr/>
              </p:nvSpPr>
              <p:spPr bwMode="auto">
                <a:xfrm>
                  <a:off x="-3197"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3" name="Freeform 174"/>
                <p:cNvSpPr>
                  <a:spLocks/>
                </p:cNvSpPr>
                <p:nvPr/>
              </p:nvSpPr>
              <p:spPr bwMode="auto">
                <a:xfrm>
                  <a:off x="-3200"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4" name="Freeform 175"/>
                <p:cNvSpPr>
                  <a:spLocks noEditPoints="1"/>
                </p:cNvSpPr>
                <p:nvPr/>
              </p:nvSpPr>
              <p:spPr bwMode="auto">
                <a:xfrm>
                  <a:off x="-3161" y="1524"/>
                  <a:ext cx="152" cy="733"/>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5"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6" name="Freeform 177"/>
                <p:cNvSpPr>
                  <a:spLocks/>
                </p:cNvSpPr>
                <p:nvPr/>
              </p:nvSpPr>
              <p:spPr bwMode="auto">
                <a:xfrm>
                  <a:off x="-3116" y="1682"/>
                  <a:ext cx="5" cy="3"/>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7" name="Line 178"/>
                <p:cNvSpPr>
                  <a:spLocks noChangeShapeType="1"/>
                </p:cNvSpPr>
                <p:nvPr/>
              </p:nvSpPr>
              <p:spPr bwMode="auto">
                <a:xfrm>
                  <a:off x="-3111" y="1682"/>
                  <a:ext cx="2" cy="0"/>
                </a:xfrm>
                <a:prstGeom prst="line">
                  <a:avLst/>
                </a:pr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8" name="Line 179"/>
                <p:cNvSpPr>
                  <a:spLocks noChangeShapeType="1"/>
                </p:cNvSpPr>
                <p:nvPr/>
              </p:nvSpPr>
              <p:spPr bwMode="auto">
                <a:xfrm>
                  <a:off x="-3111" y="1682"/>
                  <a:ext cx="2" cy="0"/>
                </a:xfrm>
                <a:prstGeom prst="line">
                  <a:avLst/>
                </a:pr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9" name="Freeform 180"/>
                <p:cNvSpPr>
                  <a:spLocks noEditPoints="1"/>
                </p:cNvSpPr>
                <p:nvPr/>
              </p:nvSpPr>
              <p:spPr bwMode="auto">
                <a:xfrm>
                  <a:off x="-3014" y="2260"/>
                  <a:ext cx="92" cy="1016"/>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0" name="Freeform 181"/>
                <p:cNvSpPr>
                  <a:spLocks/>
                </p:cNvSpPr>
                <p:nvPr/>
              </p:nvSpPr>
              <p:spPr bwMode="auto">
                <a:xfrm>
                  <a:off x="-2958" y="3070"/>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1" name="Freeform 182"/>
                <p:cNvSpPr>
                  <a:spLocks/>
                </p:cNvSpPr>
                <p:nvPr/>
              </p:nvSpPr>
              <p:spPr bwMode="auto">
                <a:xfrm>
                  <a:off x="-2988" y="2861"/>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2" name="Freeform 183"/>
                <p:cNvSpPr>
                  <a:spLocks/>
                </p:cNvSpPr>
                <p:nvPr/>
              </p:nvSpPr>
              <p:spPr bwMode="auto">
                <a:xfrm>
                  <a:off x="-2926" y="3278"/>
                  <a:ext cx="23" cy="77"/>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3" name="Freeform 184"/>
                <p:cNvSpPr>
                  <a:spLocks/>
                </p:cNvSpPr>
                <p:nvPr/>
              </p:nvSpPr>
              <p:spPr bwMode="auto">
                <a:xfrm>
                  <a:off x="-2996" y="2810"/>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4" name="Freeform 185"/>
                <p:cNvSpPr>
                  <a:spLocks/>
                </p:cNvSpPr>
                <p:nvPr/>
              </p:nvSpPr>
              <p:spPr bwMode="auto">
                <a:xfrm>
                  <a:off x="-2926"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5" name="Freeform 186"/>
                <p:cNvSpPr>
                  <a:spLocks/>
                </p:cNvSpPr>
                <p:nvPr/>
              </p:nvSpPr>
              <p:spPr bwMode="auto">
                <a:xfrm>
                  <a:off x="-2908" y="3357"/>
                  <a:ext cx="20"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6" name="Freeform 187"/>
                <p:cNvSpPr>
                  <a:spLocks/>
                </p:cNvSpPr>
                <p:nvPr/>
              </p:nvSpPr>
              <p:spPr bwMode="auto">
                <a:xfrm>
                  <a:off x="-2908" y="3355"/>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7"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8"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9" name="Freeform 190"/>
                <p:cNvSpPr>
                  <a:spLocks/>
                </p:cNvSpPr>
                <p:nvPr/>
              </p:nvSpPr>
              <p:spPr bwMode="auto">
                <a:xfrm>
                  <a:off x="-2903" y="1987"/>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0" name="Freeform 191"/>
                <p:cNvSpPr>
                  <a:spLocks/>
                </p:cNvSpPr>
                <p:nvPr/>
              </p:nvSpPr>
              <p:spPr bwMode="auto">
                <a:xfrm>
                  <a:off x="-2832" y="222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1" name="Freeform 192"/>
                <p:cNvSpPr>
                  <a:spLocks noEditPoints="1"/>
                </p:cNvSpPr>
                <p:nvPr/>
              </p:nvSpPr>
              <p:spPr bwMode="auto">
                <a:xfrm>
                  <a:off x="-3112" y="1522"/>
                  <a:ext cx="214"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2" name="Freeform 193"/>
                <p:cNvSpPr>
                  <a:spLocks/>
                </p:cNvSpPr>
                <p:nvPr/>
              </p:nvSpPr>
              <p:spPr bwMode="auto">
                <a:xfrm>
                  <a:off x="-2962" y="1754"/>
                  <a:ext cx="8"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3" name="Freeform 194"/>
                <p:cNvSpPr>
                  <a:spLocks/>
                </p:cNvSpPr>
                <p:nvPr/>
              </p:nvSpPr>
              <p:spPr bwMode="auto">
                <a:xfrm>
                  <a:off x="-2990" y="1682"/>
                  <a:ext cx="2" cy="3"/>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4" name="Freeform 195"/>
                <p:cNvSpPr>
                  <a:spLocks/>
                </p:cNvSpPr>
                <p:nvPr/>
              </p:nvSpPr>
              <p:spPr bwMode="auto">
                <a:xfrm>
                  <a:off x="-2996" y="1682"/>
                  <a:ext cx="6" cy="3"/>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5" name="Freeform 196"/>
                <p:cNvSpPr>
                  <a:spLocks noEditPoints="1"/>
                </p:cNvSpPr>
                <p:nvPr/>
              </p:nvSpPr>
              <p:spPr bwMode="auto">
                <a:xfrm>
                  <a:off x="-2824" y="2260"/>
                  <a:ext cx="26" cy="1016"/>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6" name="Freeform 197"/>
                <p:cNvSpPr>
                  <a:spLocks/>
                </p:cNvSpPr>
                <p:nvPr/>
              </p:nvSpPr>
              <p:spPr bwMode="auto">
                <a:xfrm>
                  <a:off x="-2811" y="3070"/>
                  <a:ext cx="5" cy="2"/>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7" name="Freeform 198"/>
                <p:cNvSpPr>
                  <a:spLocks/>
                </p:cNvSpPr>
                <p:nvPr/>
              </p:nvSpPr>
              <p:spPr bwMode="auto">
                <a:xfrm>
                  <a:off x="-2811" y="3278"/>
                  <a:ext cx="5" cy="77"/>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8" name="Freeform 199"/>
                <p:cNvSpPr>
                  <a:spLocks/>
                </p:cNvSpPr>
                <p:nvPr/>
              </p:nvSpPr>
              <p:spPr bwMode="auto">
                <a:xfrm>
                  <a:off x="-2803"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9" name="Freeform 200"/>
                <p:cNvSpPr>
                  <a:spLocks/>
                </p:cNvSpPr>
                <p:nvPr/>
              </p:nvSpPr>
              <p:spPr bwMode="auto">
                <a:xfrm>
                  <a:off x="-2811" y="3276"/>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0" name="Freeform 201"/>
                <p:cNvSpPr>
                  <a:spLocks/>
                </p:cNvSpPr>
                <p:nvPr/>
              </p:nvSpPr>
              <p:spPr bwMode="auto">
                <a:xfrm>
                  <a:off x="-2811" y="3357"/>
                  <a:ext cx="5"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1" name="Freeform 202"/>
                <p:cNvSpPr>
                  <a:spLocks/>
                </p:cNvSpPr>
                <p:nvPr/>
              </p:nvSpPr>
              <p:spPr bwMode="auto">
                <a:xfrm>
                  <a:off x="-2811" y="3355"/>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2"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3" name="Freeform 204"/>
                <p:cNvSpPr>
                  <a:spLocks/>
                </p:cNvSpPr>
                <p:nvPr/>
              </p:nvSpPr>
              <p:spPr bwMode="auto">
                <a:xfrm>
                  <a:off x="-2824" y="2256"/>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grpSp>
          <p:sp>
            <p:nvSpPr>
              <p:cNvPr id="50" name="Freeform 206"/>
              <p:cNvSpPr>
                <a:spLocks/>
              </p:cNvSpPr>
              <p:nvPr/>
            </p:nvSpPr>
            <p:spPr bwMode="auto">
              <a:xfrm>
                <a:off x="-4871258" y="2416156"/>
                <a:ext cx="349031" cy="368969"/>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1" name="Freeform 207"/>
              <p:cNvSpPr>
                <a:spLocks/>
              </p:cNvSpPr>
              <p:nvPr/>
            </p:nvSpPr>
            <p:spPr bwMode="auto">
              <a:xfrm>
                <a:off x="-4608883" y="2671974"/>
                <a:ext cx="4814" cy="2459"/>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2" name="Freeform 208"/>
              <p:cNvSpPr>
                <a:spLocks/>
              </p:cNvSpPr>
              <p:nvPr/>
            </p:nvSpPr>
            <p:spPr bwMode="auto">
              <a:xfrm>
                <a:off x="-4818302" y="2418615"/>
                <a:ext cx="481423" cy="366510"/>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3" name="Freeform 209"/>
              <p:cNvSpPr>
                <a:spLocks/>
              </p:cNvSpPr>
              <p:nvPr/>
            </p:nvSpPr>
            <p:spPr bwMode="auto">
              <a:xfrm>
                <a:off x="-4435571" y="2669513"/>
                <a:ext cx="4814" cy="2461"/>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4" name="Freeform 210"/>
              <p:cNvSpPr>
                <a:spLocks noEditPoints="1"/>
              </p:cNvSpPr>
              <p:nvPr/>
            </p:nvSpPr>
            <p:spPr bwMode="auto">
              <a:xfrm>
                <a:off x="-2680782" y="3151632"/>
                <a:ext cx="72214" cy="430464"/>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5" name="Freeform 211"/>
              <p:cNvSpPr>
                <a:spLocks/>
              </p:cNvSpPr>
              <p:nvPr/>
            </p:nvSpPr>
            <p:spPr bwMode="auto">
              <a:xfrm>
                <a:off x="-2623011" y="3527981"/>
                <a:ext cx="7221" cy="4920"/>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6" name="Freeform 212"/>
              <p:cNvSpPr>
                <a:spLocks noEditPoints="1"/>
              </p:cNvSpPr>
              <p:nvPr/>
            </p:nvSpPr>
            <p:spPr bwMode="auto">
              <a:xfrm>
                <a:off x="-2810766" y="3587016"/>
                <a:ext cx="233490" cy="1613622"/>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7" name="Freeform 213"/>
              <p:cNvSpPr>
                <a:spLocks/>
              </p:cNvSpPr>
              <p:nvPr/>
            </p:nvSpPr>
            <p:spPr bwMode="auto">
              <a:xfrm>
                <a:off x="-2702447" y="4871026"/>
                <a:ext cx="7222" cy="4920"/>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8" name="Freeform 214"/>
              <p:cNvSpPr>
                <a:spLocks noEditPoints="1"/>
              </p:cNvSpPr>
              <p:nvPr/>
            </p:nvSpPr>
            <p:spPr bwMode="auto">
              <a:xfrm>
                <a:off x="-2955193" y="2418615"/>
                <a:ext cx="281632" cy="2954209"/>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9" name="Freeform 215"/>
              <p:cNvSpPr>
                <a:spLocks/>
              </p:cNvSpPr>
              <p:nvPr/>
            </p:nvSpPr>
            <p:spPr bwMode="auto">
              <a:xfrm>
                <a:off x="-2777067" y="2785124"/>
                <a:ext cx="7221"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0" name="Freeform 216"/>
              <p:cNvSpPr>
                <a:spLocks/>
              </p:cNvSpPr>
              <p:nvPr/>
            </p:nvSpPr>
            <p:spPr bwMode="auto">
              <a:xfrm>
                <a:off x="-2613383" y="4460241"/>
                <a:ext cx="12035" cy="2461"/>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1" name="Freeform 217"/>
              <p:cNvSpPr>
                <a:spLocks/>
              </p:cNvSpPr>
              <p:nvPr/>
            </p:nvSpPr>
            <p:spPr bwMode="auto">
              <a:xfrm>
                <a:off x="-2815581" y="5200638"/>
                <a:ext cx="12035" cy="2459"/>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2" name="Freeform 218"/>
              <p:cNvSpPr>
                <a:spLocks/>
              </p:cNvSpPr>
              <p:nvPr/>
            </p:nvSpPr>
            <p:spPr bwMode="auto">
              <a:xfrm>
                <a:off x="-2875759" y="5323628"/>
                <a:ext cx="4814" cy="4920"/>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3" name="Freeform 219"/>
              <p:cNvSpPr>
                <a:spLocks/>
              </p:cNvSpPr>
              <p:nvPr/>
            </p:nvSpPr>
            <p:spPr bwMode="auto">
              <a:xfrm>
                <a:off x="-2591719" y="3965824"/>
                <a:ext cx="9628" cy="4920"/>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4" name="Freeform 220"/>
              <p:cNvSpPr>
                <a:spLocks/>
              </p:cNvSpPr>
              <p:nvPr/>
            </p:nvSpPr>
            <p:spPr bwMode="auto">
              <a:xfrm>
                <a:off x="-2615791" y="3582096"/>
                <a:ext cx="7222" cy="4920"/>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5" name="Freeform 221"/>
              <p:cNvSpPr>
                <a:spLocks/>
              </p:cNvSpPr>
              <p:nvPr/>
            </p:nvSpPr>
            <p:spPr bwMode="auto">
              <a:xfrm>
                <a:off x="-5802814" y="3149173"/>
                <a:ext cx="12036" cy="2459"/>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6" name="Freeform 222"/>
              <p:cNvSpPr>
                <a:spLocks/>
              </p:cNvSpPr>
              <p:nvPr/>
            </p:nvSpPr>
            <p:spPr bwMode="auto">
              <a:xfrm>
                <a:off x="-5566916" y="3149173"/>
                <a:ext cx="9628"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7" name="Freeform 223"/>
              <p:cNvSpPr>
                <a:spLocks/>
              </p:cNvSpPr>
              <p:nvPr/>
            </p:nvSpPr>
            <p:spPr bwMode="auto">
              <a:xfrm>
                <a:off x="-5326204" y="3149173"/>
                <a:ext cx="7222"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8" name="Freeform 224"/>
              <p:cNvSpPr>
                <a:spLocks/>
              </p:cNvSpPr>
              <p:nvPr/>
            </p:nvSpPr>
            <p:spPr bwMode="auto">
              <a:xfrm>
                <a:off x="-5080678" y="3149173"/>
                <a:ext cx="4814" cy="2459"/>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9" name="Freeform 225"/>
              <p:cNvSpPr>
                <a:spLocks/>
              </p:cNvSpPr>
              <p:nvPr/>
            </p:nvSpPr>
            <p:spPr bwMode="auto">
              <a:xfrm>
                <a:off x="-4837559" y="3149173"/>
                <a:ext cx="7221"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0" name="Freeform 226"/>
              <p:cNvSpPr>
                <a:spLocks/>
              </p:cNvSpPr>
              <p:nvPr/>
            </p:nvSpPr>
            <p:spPr bwMode="auto">
              <a:xfrm>
                <a:off x="-4608883" y="3149173"/>
                <a:ext cx="7222"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1" name="Freeform 227"/>
              <p:cNvSpPr>
                <a:spLocks/>
              </p:cNvSpPr>
              <p:nvPr/>
            </p:nvSpPr>
            <p:spPr bwMode="auto">
              <a:xfrm>
                <a:off x="-1956240" y="3149173"/>
                <a:ext cx="7222"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2" name="Freeform 228"/>
              <p:cNvSpPr>
                <a:spLocks/>
              </p:cNvSpPr>
              <p:nvPr/>
            </p:nvSpPr>
            <p:spPr bwMode="auto">
              <a:xfrm>
                <a:off x="-3641222" y="3149173"/>
                <a:ext cx="4814"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3" name="Freeform 229"/>
              <p:cNvSpPr>
                <a:spLocks/>
              </p:cNvSpPr>
              <p:nvPr/>
            </p:nvSpPr>
            <p:spPr bwMode="auto">
              <a:xfrm>
                <a:off x="-3422174" y="3149173"/>
                <a:ext cx="12035" cy="2459"/>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4" name="Freeform 230"/>
              <p:cNvSpPr>
                <a:spLocks/>
              </p:cNvSpPr>
              <p:nvPr/>
            </p:nvSpPr>
            <p:spPr bwMode="auto">
              <a:xfrm>
                <a:off x="-3171834" y="3149173"/>
                <a:ext cx="7221" cy="2459"/>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5" name="Freeform 231"/>
              <p:cNvSpPr>
                <a:spLocks/>
              </p:cNvSpPr>
              <p:nvPr/>
            </p:nvSpPr>
            <p:spPr bwMode="auto">
              <a:xfrm>
                <a:off x="-2921494" y="3149173"/>
                <a:ext cx="9628"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6" name="Freeform 232"/>
              <p:cNvSpPr>
                <a:spLocks/>
              </p:cNvSpPr>
              <p:nvPr/>
            </p:nvSpPr>
            <p:spPr bwMode="auto">
              <a:xfrm>
                <a:off x="-2399150" y="3149173"/>
                <a:ext cx="4814" cy="2459"/>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7" name="Freeform 233"/>
              <p:cNvSpPr>
                <a:spLocks/>
              </p:cNvSpPr>
              <p:nvPr/>
            </p:nvSpPr>
            <p:spPr bwMode="auto">
              <a:xfrm>
                <a:off x="-2187324" y="3149173"/>
                <a:ext cx="12036" cy="2459"/>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8" name="Freeform 234"/>
              <p:cNvSpPr>
                <a:spLocks/>
              </p:cNvSpPr>
              <p:nvPr/>
            </p:nvSpPr>
            <p:spPr bwMode="auto">
              <a:xfrm>
                <a:off x="-1515737" y="3149173"/>
                <a:ext cx="9628" cy="2459"/>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9" name="Freeform 235"/>
              <p:cNvSpPr>
                <a:spLocks/>
              </p:cNvSpPr>
              <p:nvPr/>
            </p:nvSpPr>
            <p:spPr bwMode="auto">
              <a:xfrm>
                <a:off x="-1746821" y="3149173"/>
                <a:ext cx="9628" cy="2459"/>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0" name="Freeform 236"/>
              <p:cNvSpPr>
                <a:spLocks/>
              </p:cNvSpPr>
              <p:nvPr/>
            </p:nvSpPr>
            <p:spPr bwMode="auto">
              <a:xfrm>
                <a:off x="-2680782" y="3149173"/>
                <a:ext cx="7221"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1"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2" name="Freeform 238"/>
              <p:cNvSpPr>
                <a:spLocks noEditPoints="1"/>
              </p:cNvSpPr>
              <p:nvPr/>
            </p:nvSpPr>
            <p:spPr bwMode="auto">
              <a:xfrm>
                <a:off x="-4912180" y="4871026"/>
                <a:ext cx="917112" cy="4920"/>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3" name="Freeform 239"/>
              <p:cNvSpPr>
                <a:spLocks noEditPoints="1"/>
              </p:cNvSpPr>
              <p:nvPr/>
            </p:nvSpPr>
            <p:spPr bwMode="auto">
              <a:xfrm>
                <a:off x="-3672514" y="4871026"/>
                <a:ext cx="1172265" cy="4920"/>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4" name="Freeform 240"/>
              <p:cNvSpPr>
                <a:spLocks noEditPoints="1"/>
              </p:cNvSpPr>
              <p:nvPr/>
            </p:nvSpPr>
            <p:spPr bwMode="auto">
              <a:xfrm>
                <a:off x="-2071782" y="4871026"/>
                <a:ext cx="1239666" cy="4920"/>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5" name="Freeform 241"/>
              <p:cNvSpPr>
                <a:spLocks noEditPoints="1"/>
              </p:cNvSpPr>
              <p:nvPr/>
            </p:nvSpPr>
            <p:spPr bwMode="auto">
              <a:xfrm>
                <a:off x="-6245723" y="4871026"/>
                <a:ext cx="919519" cy="4920"/>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6" name="Freeform 242"/>
              <p:cNvSpPr>
                <a:spLocks/>
              </p:cNvSpPr>
              <p:nvPr/>
            </p:nvSpPr>
            <p:spPr bwMode="auto">
              <a:xfrm>
                <a:off x="-5020500" y="4541414"/>
                <a:ext cx="7221" cy="2459"/>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7" name="Freeform 243"/>
              <p:cNvSpPr>
                <a:spLocks noEditPoints="1"/>
              </p:cNvSpPr>
              <p:nvPr/>
            </p:nvSpPr>
            <p:spPr bwMode="auto">
              <a:xfrm>
                <a:off x="-3780835" y="4541414"/>
                <a:ext cx="1408164" cy="2459"/>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8" name="Freeform 244"/>
              <p:cNvSpPr>
                <a:spLocks/>
              </p:cNvSpPr>
              <p:nvPr/>
            </p:nvSpPr>
            <p:spPr bwMode="auto">
              <a:xfrm>
                <a:off x="-2175287" y="4541414"/>
                <a:ext cx="0" cy="2459"/>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9" name="Freeform 245"/>
              <p:cNvSpPr>
                <a:spLocks/>
              </p:cNvSpPr>
              <p:nvPr/>
            </p:nvSpPr>
            <p:spPr bwMode="auto">
              <a:xfrm>
                <a:off x="-6310714" y="4541414"/>
                <a:ext cx="4814" cy="2459"/>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0" name="Freeform 246"/>
              <p:cNvSpPr>
                <a:spLocks noEditPoints="1"/>
              </p:cNvSpPr>
              <p:nvPr/>
            </p:nvSpPr>
            <p:spPr bwMode="auto">
              <a:xfrm>
                <a:off x="-4062467" y="3527981"/>
                <a:ext cx="3134066" cy="4920"/>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1" name="Freeform 247"/>
              <p:cNvSpPr>
                <a:spLocks noEditPoints="1"/>
              </p:cNvSpPr>
              <p:nvPr/>
            </p:nvSpPr>
            <p:spPr bwMode="auto">
              <a:xfrm>
                <a:off x="-6245723" y="3527981"/>
                <a:ext cx="2043643" cy="4920"/>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2" name="Freeform 248"/>
              <p:cNvSpPr>
                <a:spLocks/>
              </p:cNvSpPr>
              <p:nvPr/>
            </p:nvSpPr>
            <p:spPr bwMode="auto">
              <a:xfrm>
                <a:off x="-3691771" y="2785124"/>
                <a:ext cx="9628" cy="2459"/>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3" name="Freeform 249"/>
              <p:cNvSpPr>
                <a:spLocks noEditPoints="1"/>
              </p:cNvSpPr>
              <p:nvPr/>
            </p:nvSpPr>
            <p:spPr bwMode="auto">
              <a:xfrm>
                <a:off x="-5836513" y="2785124"/>
                <a:ext cx="1314286" cy="2459"/>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4" name="Freeform 250"/>
              <p:cNvSpPr>
                <a:spLocks/>
              </p:cNvSpPr>
              <p:nvPr/>
            </p:nvSpPr>
            <p:spPr bwMode="auto">
              <a:xfrm>
                <a:off x="-3672514" y="2669513"/>
                <a:ext cx="4814" cy="2461"/>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5" name="Freeform 251"/>
              <p:cNvSpPr>
                <a:spLocks/>
              </p:cNvSpPr>
              <p:nvPr/>
            </p:nvSpPr>
            <p:spPr bwMode="auto">
              <a:xfrm>
                <a:off x="-1308725" y="3146713"/>
                <a:ext cx="7221" cy="2461"/>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6" name="Freeform 252"/>
              <p:cNvSpPr>
                <a:spLocks/>
              </p:cNvSpPr>
              <p:nvPr/>
            </p:nvSpPr>
            <p:spPr bwMode="auto">
              <a:xfrm>
                <a:off x="-5737821" y="2669513"/>
                <a:ext cx="2406" cy="2461"/>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7" name="Freeform 253"/>
              <p:cNvSpPr>
                <a:spLocks noEditPoints="1"/>
              </p:cNvSpPr>
              <p:nvPr/>
            </p:nvSpPr>
            <p:spPr bwMode="auto">
              <a:xfrm>
                <a:off x="-5034942" y="4460241"/>
                <a:ext cx="1162637" cy="2461"/>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8" name="Freeform 254"/>
              <p:cNvSpPr>
                <a:spLocks noEditPoints="1"/>
              </p:cNvSpPr>
              <p:nvPr/>
            </p:nvSpPr>
            <p:spPr bwMode="auto">
              <a:xfrm>
                <a:off x="-3795278" y="4460241"/>
                <a:ext cx="1449084" cy="2461"/>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9" name="Freeform 255"/>
              <p:cNvSpPr>
                <a:spLocks noEditPoints="1"/>
              </p:cNvSpPr>
              <p:nvPr/>
            </p:nvSpPr>
            <p:spPr bwMode="auto">
              <a:xfrm>
                <a:off x="-2199359" y="4460241"/>
                <a:ext cx="1434642" cy="2461"/>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0" name="Freeform 256"/>
              <p:cNvSpPr>
                <a:spLocks noEditPoints="1"/>
              </p:cNvSpPr>
              <p:nvPr/>
            </p:nvSpPr>
            <p:spPr bwMode="auto">
              <a:xfrm>
                <a:off x="-6315529" y="4460241"/>
                <a:ext cx="1167451" cy="2461"/>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1" name="Freeform 257"/>
              <p:cNvSpPr>
                <a:spLocks noEditPoints="1"/>
              </p:cNvSpPr>
              <p:nvPr/>
            </p:nvSpPr>
            <p:spPr bwMode="auto">
              <a:xfrm>
                <a:off x="-6212023" y="5200638"/>
                <a:ext cx="748614" cy="2459"/>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2" name="Freeform 258"/>
              <p:cNvSpPr>
                <a:spLocks noEditPoints="1"/>
              </p:cNvSpPr>
              <p:nvPr/>
            </p:nvSpPr>
            <p:spPr bwMode="auto">
              <a:xfrm>
                <a:off x="-4837559" y="5200638"/>
                <a:ext cx="741392" cy="2459"/>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3" name="Freeform 259"/>
              <p:cNvSpPr>
                <a:spLocks noEditPoints="1"/>
              </p:cNvSpPr>
              <p:nvPr/>
            </p:nvSpPr>
            <p:spPr bwMode="auto">
              <a:xfrm>
                <a:off x="-3593080" y="5200638"/>
                <a:ext cx="926741" cy="2459"/>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4" name="Freeform 260"/>
              <p:cNvSpPr>
                <a:spLocks noEditPoints="1"/>
              </p:cNvSpPr>
              <p:nvPr/>
            </p:nvSpPr>
            <p:spPr bwMode="auto">
              <a:xfrm>
                <a:off x="-1879213" y="5200638"/>
                <a:ext cx="967661" cy="2459"/>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5" name="Freeform 261"/>
              <p:cNvSpPr>
                <a:spLocks noEditPoints="1"/>
              </p:cNvSpPr>
              <p:nvPr/>
            </p:nvSpPr>
            <p:spPr bwMode="auto">
              <a:xfrm>
                <a:off x="-6175916" y="5318708"/>
                <a:ext cx="633071" cy="2459"/>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6" name="Freeform 262"/>
              <p:cNvSpPr>
                <a:spLocks noEditPoints="1"/>
              </p:cNvSpPr>
              <p:nvPr/>
            </p:nvSpPr>
            <p:spPr bwMode="auto">
              <a:xfrm>
                <a:off x="-4779788" y="5323628"/>
                <a:ext cx="625850" cy="4920"/>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7" name="Freeform 263"/>
              <p:cNvSpPr>
                <a:spLocks noEditPoints="1"/>
              </p:cNvSpPr>
              <p:nvPr/>
            </p:nvSpPr>
            <p:spPr bwMode="auto">
              <a:xfrm>
                <a:off x="-3537716" y="5323628"/>
                <a:ext cx="791941" cy="4920"/>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8" name="Freeform 264"/>
              <p:cNvSpPr>
                <a:spLocks/>
              </p:cNvSpPr>
              <p:nvPr/>
            </p:nvSpPr>
            <p:spPr bwMode="auto">
              <a:xfrm>
                <a:off x="-1766077" y="5323628"/>
                <a:ext cx="7221" cy="4920"/>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9" name="Freeform 265"/>
              <p:cNvSpPr>
                <a:spLocks noEditPoints="1"/>
              </p:cNvSpPr>
              <p:nvPr/>
            </p:nvSpPr>
            <p:spPr bwMode="auto">
              <a:xfrm>
                <a:off x="-6344414" y="3965824"/>
                <a:ext cx="5591732" cy="4920"/>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0" name="Freeform 266"/>
              <p:cNvSpPr>
                <a:spLocks noEditPoints="1"/>
              </p:cNvSpPr>
              <p:nvPr/>
            </p:nvSpPr>
            <p:spPr bwMode="auto">
              <a:xfrm>
                <a:off x="-6264980" y="3582096"/>
                <a:ext cx="2074935" cy="4920"/>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1" name="Freeform 267"/>
              <p:cNvSpPr>
                <a:spLocks noEditPoints="1"/>
              </p:cNvSpPr>
              <p:nvPr/>
            </p:nvSpPr>
            <p:spPr bwMode="auto">
              <a:xfrm>
                <a:off x="-4079318" y="3582096"/>
                <a:ext cx="3184617" cy="4920"/>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2" name="Freeform 268"/>
              <p:cNvSpPr>
                <a:spLocks/>
              </p:cNvSpPr>
              <p:nvPr/>
            </p:nvSpPr>
            <p:spPr bwMode="auto">
              <a:xfrm>
                <a:off x="-3833792" y="4088813"/>
                <a:ext cx="2408" cy="2459"/>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3" name="Freeform 269"/>
              <p:cNvSpPr>
                <a:spLocks/>
              </p:cNvSpPr>
              <p:nvPr/>
            </p:nvSpPr>
            <p:spPr bwMode="auto">
              <a:xfrm>
                <a:off x="-2269166" y="4044537"/>
                <a:ext cx="2408" cy="2459"/>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4" name="Freeform 270"/>
              <p:cNvSpPr>
                <a:spLocks/>
              </p:cNvSpPr>
              <p:nvPr/>
            </p:nvSpPr>
            <p:spPr bwMode="auto">
              <a:xfrm>
                <a:off x="-1301505" y="3146713"/>
                <a:ext cx="7222" cy="2461"/>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5" name="Freeform 271"/>
              <p:cNvSpPr>
                <a:spLocks/>
              </p:cNvSpPr>
              <p:nvPr/>
            </p:nvSpPr>
            <p:spPr bwMode="auto">
              <a:xfrm>
                <a:off x="-4139495" y="3892030"/>
                <a:ext cx="9628" cy="2459"/>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6" name="Freeform 272"/>
              <p:cNvSpPr>
                <a:spLocks/>
              </p:cNvSpPr>
              <p:nvPr/>
            </p:nvSpPr>
            <p:spPr bwMode="auto">
              <a:xfrm>
                <a:off x="-5075864" y="4002720"/>
                <a:ext cx="2408" cy="2461"/>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7" name="Freeform 273"/>
              <p:cNvSpPr>
                <a:spLocks/>
              </p:cNvSpPr>
              <p:nvPr/>
            </p:nvSpPr>
            <p:spPr bwMode="auto">
              <a:xfrm>
                <a:off x="-4529448" y="2785124"/>
                <a:ext cx="7221" cy="2459"/>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8" name="Freeform 274"/>
              <p:cNvSpPr>
                <a:spLocks/>
              </p:cNvSpPr>
              <p:nvPr/>
            </p:nvSpPr>
            <p:spPr bwMode="auto">
              <a:xfrm>
                <a:off x="-4524634" y="2785124"/>
                <a:ext cx="2406" cy="2459"/>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9" name="Freeform 275"/>
              <p:cNvSpPr>
                <a:spLocks/>
              </p:cNvSpPr>
              <p:nvPr/>
            </p:nvSpPr>
            <p:spPr bwMode="auto">
              <a:xfrm>
                <a:off x="-4341693" y="2785124"/>
                <a:ext cx="4814" cy="2459"/>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0" name="Freeform 276"/>
              <p:cNvSpPr>
                <a:spLocks noEditPoints="1"/>
              </p:cNvSpPr>
              <p:nvPr/>
            </p:nvSpPr>
            <p:spPr bwMode="auto">
              <a:xfrm>
                <a:off x="-6036303" y="3149173"/>
                <a:ext cx="1660911" cy="2459"/>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1" name="Freeform 277"/>
              <p:cNvSpPr>
                <a:spLocks/>
              </p:cNvSpPr>
              <p:nvPr/>
            </p:nvSpPr>
            <p:spPr bwMode="auto">
              <a:xfrm>
                <a:off x="-1303911" y="3149173"/>
                <a:ext cx="7221" cy="2459"/>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2" name="Freeform 278"/>
              <p:cNvSpPr>
                <a:spLocks/>
              </p:cNvSpPr>
              <p:nvPr/>
            </p:nvSpPr>
            <p:spPr bwMode="auto">
              <a:xfrm>
                <a:off x="-1301505" y="3149173"/>
                <a:ext cx="4814" cy="2459"/>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3" name="Freeform 279"/>
              <p:cNvSpPr>
                <a:spLocks/>
              </p:cNvSpPr>
              <p:nvPr/>
            </p:nvSpPr>
            <p:spPr bwMode="auto">
              <a:xfrm>
                <a:off x="-3872306" y="3149173"/>
                <a:ext cx="4814" cy="2459"/>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4" name="Freeform 280"/>
              <p:cNvSpPr>
                <a:spLocks/>
              </p:cNvSpPr>
              <p:nvPr/>
            </p:nvSpPr>
            <p:spPr bwMode="auto">
              <a:xfrm>
                <a:off x="-5675236" y="2593261"/>
                <a:ext cx="1612768" cy="2508986"/>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5" name="Freeform 281"/>
              <p:cNvSpPr>
                <a:spLocks/>
              </p:cNvSpPr>
              <p:nvPr/>
            </p:nvSpPr>
            <p:spPr bwMode="auto">
              <a:xfrm>
                <a:off x="-5010871" y="2548984"/>
                <a:ext cx="231083" cy="18694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6" name="Freeform 282"/>
              <p:cNvSpPr>
                <a:spLocks/>
              </p:cNvSpPr>
              <p:nvPr/>
            </p:nvSpPr>
            <p:spPr bwMode="auto">
              <a:xfrm>
                <a:off x="-4938658" y="2428454"/>
                <a:ext cx="385139" cy="341912"/>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7" name="Freeform 283"/>
              <p:cNvSpPr>
                <a:spLocks/>
              </p:cNvSpPr>
              <p:nvPr/>
            </p:nvSpPr>
            <p:spPr bwMode="auto">
              <a:xfrm>
                <a:off x="-3747136" y="2502248"/>
                <a:ext cx="2043643" cy="2208892"/>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8" name="Freeform 284"/>
              <p:cNvSpPr>
                <a:spLocks/>
              </p:cNvSpPr>
              <p:nvPr/>
            </p:nvSpPr>
            <p:spPr bwMode="auto">
              <a:xfrm>
                <a:off x="-3751950" y="2445673"/>
                <a:ext cx="507902" cy="324692"/>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9" name="Freeform 285"/>
              <p:cNvSpPr>
                <a:spLocks/>
              </p:cNvSpPr>
              <p:nvPr/>
            </p:nvSpPr>
            <p:spPr bwMode="auto">
              <a:xfrm>
                <a:off x="-1826256" y="3864971"/>
                <a:ext cx="149241" cy="223842"/>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0" name="Freeform 286"/>
              <p:cNvSpPr>
                <a:spLocks/>
              </p:cNvSpPr>
              <p:nvPr/>
            </p:nvSpPr>
            <p:spPr bwMode="auto">
              <a:xfrm>
                <a:off x="-2038082" y="3899408"/>
                <a:ext cx="180535" cy="250899"/>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1" name="Freeform 287"/>
              <p:cNvSpPr>
                <a:spLocks/>
              </p:cNvSpPr>
              <p:nvPr/>
            </p:nvSpPr>
            <p:spPr bwMode="auto">
              <a:xfrm>
                <a:off x="-1486852" y="4024859"/>
                <a:ext cx="305703" cy="201703"/>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2" name="Freeform 288"/>
              <p:cNvSpPr>
                <a:spLocks/>
              </p:cNvSpPr>
              <p:nvPr/>
            </p:nvSpPr>
            <p:spPr bwMode="auto">
              <a:xfrm>
                <a:off x="-1710715" y="4251159"/>
                <a:ext cx="572894" cy="568211"/>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3" name="Freeform 289"/>
              <p:cNvSpPr>
                <a:spLocks/>
              </p:cNvSpPr>
              <p:nvPr/>
            </p:nvSpPr>
            <p:spPr bwMode="auto">
              <a:xfrm>
                <a:off x="-5229920" y="2526846"/>
                <a:ext cx="50550" cy="46737"/>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4" name="Freeform 290"/>
              <p:cNvSpPr>
                <a:spLocks/>
              </p:cNvSpPr>
              <p:nvPr/>
            </p:nvSpPr>
            <p:spPr bwMode="auto">
              <a:xfrm>
                <a:off x="-5172149" y="2558824"/>
                <a:ext cx="86656" cy="56574"/>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5" name="Freeform 291"/>
              <p:cNvSpPr>
                <a:spLocks/>
              </p:cNvSpPr>
              <p:nvPr/>
            </p:nvSpPr>
            <p:spPr bwMode="auto">
              <a:xfrm>
                <a:off x="-5030128" y="2418615"/>
                <a:ext cx="79434" cy="91013"/>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6" name="Freeform 292"/>
              <p:cNvSpPr>
                <a:spLocks/>
              </p:cNvSpPr>
              <p:nvPr/>
            </p:nvSpPr>
            <p:spPr bwMode="auto">
              <a:xfrm>
                <a:off x="-5054199" y="2553904"/>
                <a:ext cx="113134" cy="127909"/>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7" name="Freeform 293"/>
              <p:cNvSpPr>
                <a:spLocks/>
              </p:cNvSpPr>
              <p:nvPr/>
            </p:nvSpPr>
            <p:spPr bwMode="auto">
              <a:xfrm>
                <a:off x="-5126413" y="2482569"/>
                <a:ext cx="52957" cy="61496"/>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8" name="Freeform 294"/>
              <p:cNvSpPr>
                <a:spLocks/>
              </p:cNvSpPr>
              <p:nvPr/>
            </p:nvSpPr>
            <p:spPr bwMode="auto">
              <a:xfrm>
                <a:off x="-4844781" y="3505842"/>
                <a:ext cx="117949" cy="98392"/>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9" name="Freeform 295"/>
              <p:cNvSpPr>
                <a:spLocks/>
              </p:cNvSpPr>
              <p:nvPr/>
            </p:nvSpPr>
            <p:spPr bwMode="auto">
              <a:xfrm>
                <a:off x="-4454828" y="2664594"/>
                <a:ext cx="96285" cy="56576"/>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0" name="Freeform 296"/>
              <p:cNvSpPr>
                <a:spLocks/>
              </p:cNvSpPr>
              <p:nvPr/>
            </p:nvSpPr>
            <p:spPr bwMode="auto">
              <a:xfrm>
                <a:off x="-3431802" y="2822020"/>
                <a:ext cx="86656" cy="164807"/>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1" name="Freeform 297"/>
              <p:cNvSpPr>
                <a:spLocks/>
              </p:cNvSpPr>
              <p:nvPr/>
            </p:nvSpPr>
            <p:spPr bwMode="auto">
              <a:xfrm>
                <a:off x="-3487167" y="2888436"/>
                <a:ext cx="64993" cy="66414"/>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2" name="Freeform 298"/>
              <p:cNvSpPr>
                <a:spLocks/>
              </p:cNvSpPr>
              <p:nvPr/>
            </p:nvSpPr>
            <p:spPr bwMode="auto">
              <a:xfrm>
                <a:off x="-5085493" y="2418615"/>
                <a:ext cx="9628" cy="158410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a:lstStyle/>
              <a:p>
                <a:pPr defTabSz="1710840" fontAlgn="auto">
                  <a:spcBef>
                    <a:spcPts val="0"/>
                  </a:spcBef>
                  <a:spcAft>
                    <a:spcPts val="0"/>
                  </a:spcAft>
                  <a:defRPr/>
                </a:pPr>
                <a:endParaRPr lang="en-US" dirty="0">
                  <a:latin typeface="+mn-lt"/>
                  <a:cs typeface="+mn-cs"/>
                </a:endParaRPr>
              </a:p>
            </p:txBody>
          </p:sp>
          <p:sp>
            <p:nvSpPr>
              <p:cNvPr id="143" name="Freeform 299"/>
              <p:cNvSpPr>
                <a:spLocks/>
              </p:cNvSpPr>
              <p:nvPr/>
            </p:nvSpPr>
            <p:spPr bwMode="auto">
              <a:xfrm>
                <a:off x="-2902237" y="2418615"/>
                <a:ext cx="647514" cy="1648059"/>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a:lstStyle/>
              <a:p>
                <a:pPr defTabSz="1710840" fontAlgn="auto">
                  <a:spcBef>
                    <a:spcPts val="0"/>
                  </a:spcBef>
                  <a:spcAft>
                    <a:spcPts val="0"/>
                  </a:spcAft>
                  <a:defRPr/>
                </a:pPr>
                <a:endParaRPr lang="en-US" dirty="0">
                  <a:latin typeface="+mn-lt"/>
                  <a:cs typeface="+mn-cs"/>
                </a:endParaRPr>
              </a:p>
            </p:txBody>
          </p:sp>
        </p:grpSp>
        <p:grpSp>
          <p:nvGrpSpPr>
            <p:cNvPr id="49" name="Group 21"/>
            <p:cNvGrpSpPr>
              <a:grpSpLocks/>
            </p:cNvGrpSpPr>
            <p:nvPr userDrawn="1">
              <p:custDataLst>
                <p:tags r:id="rId17"/>
              </p:custDataLst>
            </p:nvPr>
          </p:nvGrpSpPr>
          <p:grpSpPr bwMode="auto">
            <a:xfrm>
              <a:off x="6450012" y="3926681"/>
              <a:ext cx="3425033" cy="1653383"/>
              <a:chOff x="6450011" y="3926681"/>
              <a:chExt cx="3425034" cy="1653383"/>
            </a:xfrm>
          </p:grpSpPr>
          <p:sp>
            <p:nvSpPr>
              <p:cNvPr id="17" name="Oval 22"/>
              <p:cNvSpPr/>
              <p:nvPr/>
            </p:nvSpPr>
            <p:spPr>
              <a:xfrm>
                <a:off x="6821694" y="4042484"/>
                <a:ext cx="55785"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18" name="Oval 23"/>
              <p:cNvSpPr/>
              <p:nvPr/>
            </p:nvSpPr>
            <p:spPr>
              <a:xfrm>
                <a:off x="6449799" y="4283171"/>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19" name="Oval 24"/>
              <p:cNvSpPr/>
              <p:nvPr/>
            </p:nvSpPr>
            <p:spPr>
              <a:xfrm>
                <a:off x="6528310" y="4500635"/>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0" name="Oval 25"/>
              <p:cNvSpPr/>
              <p:nvPr/>
            </p:nvSpPr>
            <p:spPr>
              <a:xfrm>
                <a:off x="6685332" y="4680095"/>
                <a:ext cx="55785"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1" name="Oval 26"/>
              <p:cNvSpPr/>
              <p:nvPr/>
            </p:nvSpPr>
            <p:spPr>
              <a:xfrm>
                <a:off x="7234911" y="5150914"/>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2" name="Oval 27"/>
              <p:cNvSpPr/>
              <p:nvPr/>
            </p:nvSpPr>
            <p:spPr>
              <a:xfrm>
                <a:off x="6968386" y="5484499"/>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3" name="Oval 28"/>
              <p:cNvSpPr/>
              <p:nvPr/>
            </p:nvSpPr>
            <p:spPr>
              <a:xfrm>
                <a:off x="7121277" y="5524613"/>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4" name="Oval 29"/>
              <p:cNvSpPr/>
              <p:nvPr/>
            </p:nvSpPr>
            <p:spPr>
              <a:xfrm>
                <a:off x="9819582" y="5476054"/>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5" name="Oval 30"/>
              <p:cNvSpPr/>
              <p:nvPr/>
            </p:nvSpPr>
            <p:spPr>
              <a:xfrm>
                <a:off x="9272069" y="4965120"/>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6" name="Oval 31"/>
              <p:cNvSpPr/>
              <p:nvPr/>
            </p:nvSpPr>
            <p:spPr>
              <a:xfrm>
                <a:off x="9323722" y="4696985"/>
                <a:ext cx="55784"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7" name="Oval 32"/>
              <p:cNvSpPr/>
              <p:nvPr/>
            </p:nvSpPr>
            <p:spPr>
              <a:xfrm>
                <a:off x="9410497" y="4726543"/>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8" name="Oval 33"/>
              <p:cNvSpPr/>
              <p:nvPr/>
            </p:nvSpPr>
            <p:spPr>
              <a:xfrm>
                <a:off x="9418761" y="4589310"/>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9" name="Oval 34"/>
              <p:cNvSpPr/>
              <p:nvPr/>
            </p:nvSpPr>
            <p:spPr>
              <a:xfrm>
                <a:off x="9096452" y="4399293"/>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0" name="Oval 35"/>
              <p:cNvSpPr/>
              <p:nvPr/>
            </p:nvSpPr>
            <p:spPr>
              <a:xfrm>
                <a:off x="8933231" y="4684318"/>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1" name="Oval 36"/>
              <p:cNvSpPr/>
              <p:nvPr/>
            </p:nvSpPr>
            <p:spPr>
              <a:xfrm>
                <a:off x="8600592" y="4547084"/>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2" name="Oval 37"/>
              <p:cNvSpPr/>
              <p:nvPr/>
            </p:nvSpPr>
            <p:spPr>
              <a:xfrm>
                <a:off x="8612989" y="4673762"/>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3" name="Oval 38"/>
              <p:cNvSpPr/>
              <p:nvPr/>
            </p:nvSpPr>
            <p:spPr>
              <a:xfrm>
                <a:off x="8369191" y="4378180"/>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4" name="Oval 39"/>
              <p:cNvSpPr/>
              <p:nvPr/>
            </p:nvSpPr>
            <p:spPr>
              <a:xfrm>
                <a:off x="7844406" y="4437297"/>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5" name="Oval 40"/>
              <p:cNvSpPr/>
              <p:nvPr/>
            </p:nvSpPr>
            <p:spPr>
              <a:xfrm>
                <a:off x="7914653" y="4259948"/>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6" name="Oval 41"/>
              <p:cNvSpPr/>
              <p:nvPr/>
            </p:nvSpPr>
            <p:spPr>
              <a:xfrm>
                <a:off x="7982833" y="4259948"/>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7" name="Oval 42"/>
              <p:cNvSpPr/>
              <p:nvPr/>
            </p:nvSpPr>
            <p:spPr>
              <a:xfrm>
                <a:off x="8053080" y="4173384"/>
                <a:ext cx="55785"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8" name="Oval 43"/>
              <p:cNvSpPr/>
              <p:nvPr/>
            </p:nvSpPr>
            <p:spPr>
              <a:xfrm>
                <a:off x="8030353" y="4048818"/>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9" name="Oval 44"/>
              <p:cNvSpPr/>
              <p:nvPr/>
            </p:nvSpPr>
            <p:spPr>
              <a:xfrm>
                <a:off x="8137790" y="3926363"/>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0" name="Oval 45"/>
              <p:cNvSpPr/>
              <p:nvPr/>
            </p:nvSpPr>
            <p:spPr>
              <a:xfrm>
                <a:off x="8212169" y="3966477"/>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1" name="Oval 46"/>
              <p:cNvSpPr/>
              <p:nvPr/>
            </p:nvSpPr>
            <p:spPr>
              <a:xfrm>
                <a:off x="8146054" y="4034039"/>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2" name="Oval 47"/>
              <p:cNvSpPr/>
              <p:nvPr/>
            </p:nvSpPr>
            <p:spPr>
              <a:xfrm>
                <a:off x="8086137" y="4124825"/>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3" name="Oval 48"/>
              <p:cNvSpPr/>
              <p:nvPr/>
            </p:nvSpPr>
            <p:spPr>
              <a:xfrm>
                <a:off x="8150186" y="4116380"/>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4" name="Oval 49"/>
              <p:cNvSpPr/>
              <p:nvPr/>
            </p:nvSpPr>
            <p:spPr>
              <a:xfrm>
                <a:off x="8205970" y="4148048"/>
                <a:ext cx="53718"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5" name="Oval 50"/>
              <p:cNvSpPr/>
              <p:nvPr/>
            </p:nvSpPr>
            <p:spPr>
              <a:xfrm>
                <a:off x="8241094" y="4198720"/>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6" name="Oval 51"/>
              <p:cNvSpPr/>
              <p:nvPr/>
            </p:nvSpPr>
            <p:spPr>
              <a:xfrm>
                <a:off x="8243159" y="4259948"/>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7" name="Oval 52"/>
              <p:cNvSpPr/>
              <p:nvPr/>
            </p:nvSpPr>
            <p:spPr>
              <a:xfrm>
                <a:off x="8170847" y="4276838"/>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8" name="Oval 53"/>
              <p:cNvSpPr/>
              <p:nvPr/>
            </p:nvSpPr>
            <p:spPr>
              <a:xfrm>
                <a:off x="8129525" y="4202942"/>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grpSp>
      </p:grpSp>
      <p:sp>
        <p:nvSpPr>
          <p:cNvPr id="344" name="Rectangle 9"/>
          <p:cNvSpPr>
            <a:spLocks noChangeArrowheads="1"/>
          </p:cNvSpPr>
          <p:nvPr userDrawn="1">
            <p:custDataLst>
              <p:tags r:id="rId15"/>
            </p:custDataLst>
          </p:nvPr>
        </p:nvSpPr>
        <p:spPr bwMode="gray">
          <a:xfrm>
            <a:off x="2063932" y="5430750"/>
            <a:ext cx="7864320" cy="3568301"/>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lIns="643068" tIns="91014" rIns="385841" bIns="257227" anchor="b"/>
          <a:lstStyle/>
          <a:p>
            <a:pPr algn="just" defTabSz="1863050" fontAlgn="auto">
              <a:spcBef>
                <a:spcPts val="0"/>
              </a:spcBef>
              <a:spcAft>
                <a:spcPts val="0"/>
              </a:spcAft>
              <a:defRPr/>
            </a:pPr>
            <a:r>
              <a:rPr lang="en-US" sz="3200" b="1" dirty="0">
                <a:solidFill>
                  <a:schemeClr val="bg1"/>
                </a:solidFill>
                <a:latin typeface="Arial"/>
                <a:cs typeface="Arial"/>
              </a:rPr>
              <a:t>About Capgemini</a:t>
            </a:r>
            <a:endParaRPr lang="en-US" sz="1800" dirty="0">
              <a:solidFill>
                <a:schemeClr val="bg1"/>
              </a:solidFill>
            </a:endParaRPr>
          </a:p>
          <a:p>
            <a:pPr algn="just" defTabSz="1710840" fontAlgn="auto">
              <a:spcBef>
                <a:spcPts val="0"/>
              </a:spcBef>
              <a:spcAft>
                <a:spcPts val="0"/>
              </a:spcAft>
              <a:defRPr/>
            </a:pPr>
            <a:endParaRPr lang="en-US" sz="1800" dirty="0">
              <a:solidFill>
                <a:schemeClr val="bg1"/>
              </a:solidFill>
            </a:endParaRPr>
          </a:p>
          <a:p>
            <a:pPr algn="just" defTabSz="1710840" fontAlgn="auto">
              <a:spcBef>
                <a:spcPts val="0"/>
              </a:spcBef>
              <a:spcAft>
                <a:spcPts val="0"/>
              </a:spcAft>
              <a:defRPr/>
            </a:pPr>
            <a:r>
              <a:rPr lang="en-US" sz="1800" dirty="0">
                <a:solidFill>
                  <a:schemeClr val="bg1"/>
                </a:solidFill>
              </a:rPr>
              <a:t>With more than 120,000 people in 40 countries, Capgemini is one of the world's foremost providers of consulting, technology and outsourcing services. The Group reported 2011 global revenues of EUR 9.7 billion.</a:t>
            </a:r>
          </a:p>
          <a:p>
            <a:pPr algn="just" defTabSz="1710840" fontAlgn="auto">
              <a:spcBef>
                <a:spcPts val="0"/>
              </a:spcBef>
              <a:spcAft>
                <a:spcPts val="0"/>
              </a:spcAft>
              <a:defRPr/>
            </a:pPr>
            <a:r>
              <a:rPr lang="en-US" sz="1800" dirty="0">
                <a:solidFill>
                  <a:schemeClr val="bg1"/>
                </a:solidFill>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800" dirty="0" err="1">
                <a:solidFill>
                  <a:schemeClr val="bg1"/>
                </a:solidFill>
              </a:rPr>
              <a:t>Experience</a:t>
            </a:r>
            <a:r>
              <a:rPr lang="en-US" sz="1800" baseline="30000" dirty="0" err="1">
                <a:solidFill>
                  <a:schemeClr val="bg1"/>
                </a:solidFill>
              </a:rPr>
              <a:t>TM</a:t>
            </a:r>
            <a:r>
              <a:rPr lang="en-US" sz="1800" dirty="0">
                <a:solidFill>
                  <a:schemeClr val="bg1"/>
                </a:solidFill>
              </a:rPr>
              <a:t>, and draws on </a:t>
            </a:r>
            <a:r>
              <a:rPr lang="en-US" sz="1800" dirty="0" err="1">
                <a:solidFill>
                  <a:schemeClr val="bg1"/>
                </a:solidFill>
              </a:rPr>
              <a:t>Rightshore</a:t>
            </a:r>
            <a:r>
              <a:rPr lang="en-US" sz="1800" b="1" baseline="30000" dirty="0">
                <a:solidFill>
                  <a:schemeClr val="bg1"/>
                </a:solidFill>
              </a:rPr>
              <a:t> ®</a:t>
            </a:r>
            <a:r>
              <a:rPr lang="en-US" sz="1800" dirty="0">
                <a:solidFill>
                  <a:schemeClr val="bg1"/>
                </a:solidFill>
              </a:rPr>
              <a:t>, its worldwide delivery model.</a:t>
            </a:r>
          </a:p>
          <a:p>
            <a:pPr algn="just" defTabSz="1710840" fontAlgn="auto">
              <a:spcBef>
                <a:spcPts val="0"/>
              </a:spcBef>
              <a:spcAft>
                <a:spcPts val="0"/>
              </a:spcAft>
              <a:defRPr/>
            </a:pPr>
            <a:endParaRPr lang="en-US" sz="1900" dirty="0">
              <a:solidFill>
                <a:schemeClr val="bg1"/>
              </a:solidFill>
            </a:endParaRPr>
          </a:p>
          <a:p>
            <a:pPr algn="just" defTabSz="1710840" fontAlgn="auto">
              <a:spcBef>
                <a:spcPts val="0"/>
              </a:spcBef>
              <a:spcAft>
                <a:spcPts val="0"/>
              </a:spcAft>
              <a:defRPr/>
            </a:pPr>
            <a:r>
              <a:rPr lang="en-US" sz="1600" i="1" dirty="0" err="1">
                <a:solidFill>
                  <a:schemeClr val="bg1"/>
                </a:solidFill>
              </a:rPr>
              <a:t>Rightshore</a:t>
            </a:r>
            <a:r>
              <a:rPr lang="en-US" sz="1600" i="1" baseline="30000" dirty="0">
                <a:solidFill>
                  <a:schemeClr val="bg1"/>
                </a:solidFill>
              </a:rPr>
              <a:t>®</a:t>
            </a:r>
            <a:r>
              <a:rPr lang="en-US" sz="1600" i="1" dirty="0">
                <a:solidFill>
                  <a:schemeClr val="bg1"/>
                </a:solidFill>
              </a:rPr>
              <a:t> is a trademark belonging to Capgemini</a:t>
            </a:r>
            <a:endParaRPr lang="en-US" sz="1600" b="1" kern="0" noProof="1">
              <a:solidFill>
                <a:schemeClr val="bg1"/>
              </a:solidFill>
            </a:endParaRPr>
          </a:p>
        </p:txBody>
      </p:sp>
      <p:pic>
        <p:nvPicPr>
          <p:cNvPr id="345" name="Image 351" descr="CBE_Label_ppt.png"/>
          <p:cNvPicPr>
            <a:picLocks noChangeAspect="1"/>
          </p:cNvPicPr>
          <p:nvPr userDrawn="1"/>
        </p:nvPicPr>
        <p:blipFill>
          <a:blip r:embed="rId34" cstate="print"/>
          <a:srcRect/>
          <a:stretch>
            <a:fillRect/>
          </a:stretch>
        </p:blipFill>
        <p:spPr bwMode="auto">
          <a:xfrm>
            <a:off x="1603132" y="5207852"/>
            <a:ext cx="958360" cy="784156"/>
          </a:xfrm>
          <a:prstGeom prst="rect">
            <a:avLst/>
          </a:prstGeom>
          <a:noFill/>
          <a:ln w="9525">
            <a:noFill/>
            <a:miter lim="800000"/>
            <a:headEnd/>
            <a:tailEnd/>
          </a:ln>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7" cstate="screen"/>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2339"/>
            <a:ext cx="16459200" cy="1716088"/>
          </a:xfrm>
          <a:prstGeom prst="rect">
            <a:avLst/>
          </a:prstGeom>
        </p:spPr>
        <p:txBody>
          <a:bodyPr vert="horz" lIns="91241" tIns="45640" rIns="91241" bIns="45640" rtlCol="0" anchor="ctr">
            <a:normAutofit/>
          </a:body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Text Placeholder 2"/>
          <p:cNvSpPr>
            <a:spLocks noGrp="1"/>
          </p:cNvSpPr>
          <p:nvPr>
            <p:ph type="body" idx="1"/>
          </p:nvPr>
        </p:nvSpPr>
        <p:spPr>
          <a:xfrm>
            <a:off x="914400" y="2402525"/>
            <a:ext cx="16459200" cy="6795230"/>
          </a:xfrm>
          <a:prstGeom prst="rect">
            <a:avLst/>
          </a:prstGeom>
        </p:spPr>
        <p:txBody>
          <a:bodyPr vert="horz" lIns="91241" tIns="45640" rIns="91241" bIns="45640" rtlCol="0">
            <a:normAutofit/>
          </a:body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pic>
        <p:nvPicPr>
          <p:cNvPr id="4" name="image5.png" descr="D:\Users\jehiggin\Documents\My Received Files\capblanc.png"/>
          <p:cNvPicPr/>
          <p:nvPr userDrawn="1"/>
        </p:nvPicPr>
        <p:blipFill>
          <a:blip r:embed="rId28"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5" name="Shape 23"/>
          <p:cNvSpPr/>
          <p:nvPr userDrawn="1"/>
        </p:nvSpPr>
        <p:spPr>
          <a:xfrm>
            <a:off x="3239344" y="9499715"/>
            <a:ext cx="13537504" cy="452928"/>
          </a:xfrm>
          <a:prstGeom prst="rect">
            <a:avLst/>
          </a:prstGeom>
          <a:ln w="12700">
            <a:miter lim="400000"/>
          </a:ln>
          <a:extLst>
            <a:ext uri="{C572A759-6A51-4108-AA02-DFA0A04FC94B}">
              <ma14:wrappingTextBoxFlag xmlns="" xmlns:ma14="http://schemas.microsoft.com/office/mac/drawingml/2011/main" val="1"/>
            </a:ext>
          </a:extLst>
        </p:spPr>
        <p:txBody>
          <a:bodyPr wrap="square" lIns="71874" tIns="71874" rIns="71874" bIns="71874" anchor="b">
            <a:spAutoFit/>
          </a:bodyPr>
          <a:lstStyle>
            <a:lvl1pPr algn="ctr" defTabSz="995362">
              <a:lnSpc>
                <a:spcPct val="90000"/>
              </a:lnSpc>
              <a:defRPr sz="700">
                <a:solidFill>
                  <a:srgbClr val="595959"/>
                </a:solidFill>
              </a:defRPr>
            </a:lvl1pPr>
          </a:lstStyle>
          <a:p>
            <a:pPr marL="0" marR="0" lvl="0" indent="0" algn="ctr" defTabSz="912560" rtl="0" eaLnBrk="1" fontAlgn="auto" latinLnBrk="0" hangingPunct="1">
              <a:lnSpc>
                <a:spcPct val="100000"/>
              </a:lnSpc>
              <a:spcBef>
                <a:spcPts val="0"/>
              </a:spcBef>
              <a:spcAft>
                <a:spcPts val="0"/>
              </a:spcAft>
              <a:buClrTx/>
              <a:buSzTx/>
              <a:buFontTx/>
              <a:buNone/>
              <a:tabLst/>
              <a:defRPr/>
            </a:pPr>
            <a:r>
              <a:rPr lang="en-US" sz="2000" dirty="0" err="1" smtClean="0">
                <a:solidFill>
                  <a:schemeClr val="tx1">
                    <a:lumMod val="60000"/>
                    <a:lumOff val="40000"/>
                  </a:schemeClr>
                </a:solidFill>
                <a:latin typeface="Calibri" pitchFamily="34" charset="0"/>
              </a:rPr>
              <a:t>Soutenance</a:t>
            </a:r>
            <a:r>
              <a:rPr lang="en-US" sz="2000" baseline="0" dirty="0" smtClean="0">
                <a:solidFill>
                  <a:schemeClr val="tx1">
                    <a:lumMod val="60000"/>
                    <a:lumOff val="40000"/>
                  </a:schemeClr>
                </a:solidFill>
                <a:latin typeface="Calibri" pitchFamily="34" charset="0"/>
              </a:rPr>
              <a:t> de fin </a:t>
            </a:r>
            <a:r>
              <a:rPr lang="en-US" sz="2000" baseline="0" dirty="0" err="1" smtClean="0">
                <a:solidFill>
                  <a:schemeClr val="tx1">
                    <a:lumMod val="60000"/>
                    <a:lumOff val="40000"/>
                  </a:schemeClr>
                </a:solidFill>
                <a:latin typeface="Calibri" pitchFamily="34" charset="0"/>
              </a:rPr>
              <a:t>d’études</a:t>
            </a:r>
            <a:r>
              <a:rPr lang="en-US" sz="2000" baseline="0" dirty="0" smtClean="0">
                <a:solidFill>
                  <a:schemeClr val="tx1">
                    <a:lumMod val="60000"/>
                    <a:lumOff val="40000"/>
                  </a:schemeClr>
                </a:solidFill>
                <a:latin typeface="Calibri" pitchFamily="34" charset="0"/>
              </a:rPr>
              <a:t> – Tantely RANDRIA. – </a:t>
            </a:r>
            <a:r>
              <a:rPr lang="fr-FR" sz="2000" baseline="0" smtClean="0">
                <a:solidFill>
                  <a:schemeClr val="tx1">
                    <a:lumMod val="60000"/>
                    <a:lumOff val="40000"/>
                  </a:schemeClr>
                </a:solidFill>
                <a:latin typeface="Calibri" pitchFamily="34" charset="0"/>
              </a:rPr>
              <a:t>UFR Sciences et techniques Nantes</a:t>
            </a:r>
            <a:r>
              <a:rPr lang="en-US" sz="2000" baseline="0" smtClean="0">
                <a:solidFill>
                  <a:schemeClr val="tx1">
                    <a:lumMod val="60000"/>
                    <a:lumOff val="40000"/>
                  </a:schemeClr>
                </a:solidFill>
                <a:latin typeface="Calibri" pitchFamily="34" charset="0"/>
              </a:rPr>
              <a:t> – 07 juillet 2017</a:t>
            </a:r>
            <a:endParaRPr lang="en-US" sz="2000" dirty="0">
              <a:solidFill>
                <a:schemeClr val="tx1">
                  <a:lumMod val="60000"/>
                  <a:lumOff val="40000"/>
                </a:schemeClr>
              </a:solidFill>
              <a:latin typeface="Calibri" pitchFamily="34" charset="0"/>
            </a:endParaRPr>
          </a:p>
        </p:txBody>
      </p:sp>
      <p:sp>
        <p:nvSpPr>
          <p:cNvPr id="6"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3802551601"/>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781" r:id="rId3"/>
    <p:sldLayoutId id="2147483830" r:id="rId4"/>
    <p:sldLayoutId id="2147483777" r:id="rId5"/>
    <p:sldLayoutId id="2147483780" r:id="rId6"/>
    <p:sldLayoutId id="2147483782" r:id="rId7"/>
    <p:sldLayoutId id="2147483779" r:id="rId8"/>
    <p:sldLayoutId id="2147483778" r:id="rId9"/>
    <p:sldLayoutId id="2147483737" r:id="rId10"/>
    <p:sldLayoutId id="2147483774" r:id="rId11"/>
    <p:sldLayoutId id="2147483775" r:id="rId12"/>
    <p:sldLayoutId id="2147483825" r:id="rId13"/>
    <p:sldLayoutId id="2147483826" r:id="rId14"/>
    <p:sldLayoutId id="2147483812" r:id="rId15"/>
    <p:sldLayoutId id="2147483813" r:id="rId16"/>
    <p:sldLayoutId id="2147483814" r:id="rId17"/>
    <p:sldLayoutId id="2147483815" r:id="rId18"/>
    <p:sldLayoutId id="2147483816" r:id="rId19"/>
    <p:sldLayoutId id="2147483818" r:id="rId20"/>
    <p:sldLayoutId id="2147483819" r:id="rId21"/>
    <p:sldLayoutId id="2147483821" r:id="rId22"/>
    <p:sldLayoutId id="2147483822" r:id="rId23"/>
    <p:sldLayoutId id="2147483823" r:id="rId24"/>
    <p:sldLayoutId id="2147483829" r:id="rId25"/>
  </p:sldLayoutIdLst>
  <p:transition>
    <p:push/>
  </p:transition>
  <p:timing>
    <p:tnLst>
      <p:par>
        <p:cTn id="1" dur="indefinite" restart="never" nodeType="tmRoot"/>
      </p:par>
    </p:tnLst>
  </p:timing>
  <p:hf hdr="0"/>
  <p:txStyles>
    <p:titleStyle>
      <a:lvl1pPr algn="l" defTabSz="912604" rtl="0" eaLnBrk="1" latinLnBrk="0" hangingPunct="1">
        <a:spcBef>
          <a:spcPct val="0"/>
        </a:spcBef>
        <a:buNone/>
        <a:defRPr sz="6400" kern="1200">
          <a:solidFill>
            <a:srgbClr val="02AFE9"/>
          </a:solidFill>
          <a:latin typeface="+mj-lt"/>
          <a:ea typeface="+mj-ea"/>
          <a:cs typeface="Arial" pitchFamily="34" charset="0"/>
        </a:defRPr>
      </a:lvl1pPr>
    </p:titleStyle>
    <p:bodyStyle>
      <a:lvl1pPr marL="684467" indent="-684467" algn="l" defTabSz="912604" rtl="0" eaLnBrk="1" latinLnBrk="0" hangingPunct="1">
        <a:spcBef>
          <a:spcPct val="20000"/>
        </a:spcBef>
        <a:buFont typeface="Arial"/>
        <a:buChar char="•"/>
        <a:defRPr sz="5600" kern="1200">
          <a:solidFill>
            <a:schemeClr val="tx1">
              <a:lumMod val="65000"/>
              <a:lumOff val="35000"/>
            </a:schemeClr>
          </a:solidFill>
          <a:latin typeface="Segoe UI" pitchFamily="34" charset="0"/>
          <a:ea typeface="Segoe UI" pitchFamily="34" charset="0"/>
          <a:cs typeface="Segoe UI" pitchFamily="34" charset="0"/>
        </a:defRPr>
      </a:lvl1pPr>
      <a:lvl2pPr marL="1483005" indent="-570369" algn="l" defTabSz="912604" rtl="0" eaLnBrk="1" latinLnBrk="0" hangingPunct="1">
        <a:spcBef>
          <a:spcPct val="20000"/>
        </a:spcBef>
        <a:buFont typeface="Arial"/>
        <a:buChar char="–"/>
        <a:defRPr sz="4800" kern="1200">
          <a:solidFill>
            <a:schemeClr val="tx1">
              <a:lumMod val="65000"/>
              <a:lumOff val="35000"/>
            </a:schemeClr>
          </a:solidFill>
          <a:latin typeface="Segoe UI" pitchFamily="34" charset="0"/>
          <a:ea typeface="Segoe UI" pitchFamily="34" charset="0"/>
          <a:cs typeface="Segoe UI" pitchFamily="34"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pitchFamily="34" charset="0"/>
          <a:ea typeface="Segoe UI" pitchFamily="34" charset="0"/>
          <a:cs typeface="Segoe UI" pitchFamily="34" charset="0"/>
        </a:defRPr>
      </a:lvl3pPr>
      <a:lvl4pPr marL="319415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4pPr>
      <a:lvl5pPr marL="410676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p:bodyStyle>
    <p:otherStyle>
      <a:defPPr>
        <a:defRPr lang="en-US"/>
      </a:defPPr>
      <a:lvl1pPr marL="0" algn="l" defTabSz="912604" rtl="0" eaLnBrk="1" latinLnBrk="0" hangingPunct="1">
        <a:defRPr sz="3600" kern="1200">
          <a:solidFill>
            <a:schemeClr val="tx1"/>
          </a:solidFill>
          <a:latin typeface="+mn-lt"/>
          <a:ea typeface="+mn-ea"/>
          <a:cs typeface="+mn-cs"/>
        </a:defRPr>
      </a:lvl1pPr>
      <a:lvl2pPr marL="912604" algn="l" defTabSz="912604" rtl="0" eaLnBrk="1" latinLnBrk="0" hangingPunct="1">
        <a:defRPr sz="3600" kern="1200">
          <a:solidFill>
            <a:schemeClr val="tx1"/>
          </a:solidFill>
          <a:latin typeface="+mn-lt"/>
          <a:ea typeface="+mn-ea"/>
          <a:cs typeface="+mn-cs"/>
        </a:defRPr>
      </a:lvl2pPr>
      <a:lvl3pPr marL="1825231" algn="l" defTabSz="912604" rtl="0" eaLnBrk="1" latinLnBrk="0" hangingPunct="1">
        <a:defRPr sz="3600" kern="1200">
          <a:solidFill>
            <a:schemeClr val="tx1"/>
          </a:solidFill>
          <a:latin typeface="+mn-lt"/>
          <a:ea typeface="+mn-ea"/>
          <a:cs typeface="+mn-cs"/>
        </a:defRPr>
      </a:lvl3pPr>
      <a:lvl4pPr marL="2737851" algn="l" defTabSz="912604" rtl="0" eaLnBrk="1" latinLnBrk="0" hangingPunct="1">
        <a:defRPr sz="3600" kern="1200">
          <a:solidFill>
            <a:schemeClr val="tx1"/>
          </a:solidFill>
          <a:latin typeface="+mn-lt"/>
          <a:ea typeface="+mn-ea"/>
          <a:cs typeface="+mn-cs"/>
        </a:defRPr>
      </a:lvl4pPr>
      <a:lvl5pPr marL="3650455" algn="l" defTabSz="912604" rtl="0" eaLnBrk="1" latinLnBrk="0" hangingPunct="1">
        <a:defRPr sz="3600" kern="1200">
          <a:solidFill>
            <a:schemeClr val="tx1"/>
          </a:solidFill>
          <a:latin typeface="+mn-lt"/>
          <a:ea typeface="+mn-ea"/>
          <a:cs typeface="+mn-cs"/>
        </a:defRPr>
      </a:lvl5pPr>
      <a:lvl6pPr marL="4563077" algn="l" defTabSz="912604" rtl="0" eaLnBrk="1" latinLnBrk="0" hangingPunct="1">
        <a:defRPr sz="3600" kern="1200">
          <a:solidFill>
            <a:schemeClr val="tx1"/>
          </a:solidFill>
          <a:latin typeface="+mn-lt"/>
          <a:ea typeface="+mn-ea"/>
          <a:cs typeface="+mn-cs"/>
        </a:defRPr>
      </a:lvl6pPr>
      <a:lvl7pPr marL="5475696" algn="l" defTabSz="912604" rtl="0" eaLnBrk="1" latinLnBrk="0" hangingPunct="1">
        <a:defRPr sz="3600" kern="1200">
          <a:solidFill>
            <a:schemeClr val="tx1"/>
          </a:solidFill>
          <a:latin typeface="+mn-lt"/>
          <a:ea typeface="+mn-ea"/>
          <a:cs typeface="+mn-cs"/>
        </a:defRPr>
      </a:lvl7pPr>
      <a:lvl8pPr marL="6388308" algn="l" defTabSz="912604" rtl="0" eaLnBrk="1" latinLnBrk="0" hangingPunct="1">
        <a:defRPr sz="3600" kern="1200">
          <a:solidFill>
            <a:schemeClr val="tx1"/>
          </a:solidFill>
          <a:latin typeface="+mn-lt"/>
          <a:ea typeface="+mn-ea"/>
          <a:cs typeface="+mn-cs"/>
        </a:defRPr>
      </a:lvl8pPr>
      <a:lvl9pPr marL="7300918" algn="l" defTabSz="912604"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comments" Target="../comments/comment1.xml"/><Relationship Id="rId4" Type="http://schemas.openxmlformats.org/officeDocument/2006/relationships/image" Target="../media/image1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22.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ous-titre 2"/>
          <p:cNvSpPr txBox="1">
            <a:spLocks/>
          </p:cNvSpPr>
          <p:nvPr/>
        </p:nvSpPr>
        <p:spPr>
          <a:xfrm>
            <a:off x="919605" y="6865520"/>
            <a:ext cx="5881250" cy="2175835"/>
          </a:xfrm>
          <a:prstGeom prst="rect">
            <a:avLst/>
          </a:prstGeom>
        </p:spPr>
        <p:txBody>
          <a:bodyPr vert="horz" lIns="0" tIns="45640" rIns="792082" bIns="45640" rtlCol="0">
            <a:normAutofit/>
          </a:bodyPr>
          <a:lstStyle>
            <a:lvl1pPr marL="0" indent="0" algn="ctr" defTabSz="912604" rtl="0" eaLnBrk="1" latinLnBrk="0" hangingPunct="1">
              <a:spcBef>
                <a:spcPct val="20000"/>
              </a:spcBef>
              <a:buFont typeface="Arial"/>
              <a:buNone/>
              <a:defRPr sz="3200" kern="1200">
                <a:solidFill>
                  <a:schemeClr val="tx1">
                    <a:tint val="75000"/>
                  </a:schemeClr>
                </a:solidFill>
                <a:latin typeface="Segoe UI Light" pitchFamily="34" charset="0"/>
                <a:ea typeface="Segoe UI" pitchFamily="34" charset="0"/>
                <a:cs typeface="Segoe UI" pitchFamily="34" charset="0"/>
              </a:defRPr>
            </a:lvl1pPr>
            <a:lvl2pPr marL="914490" indent="0" algn="ctr" defTabSz="912604" rtl="0" eaLnBrk="1" latinLnBrk="0" hangingPunct="1">
              <a:spcBef>
                <a:spcPct val="20000"/>
              </a:spcBef>
              <a:buFont typeface="Arial"/>
              <a:buNone/>
              <a:defRPr sz="4800" kern="1200">
                <a:solidFill>
                  <a:schemeClr val="tx1">
                    <a:tint val="75000"/>
                  </a:schemeClr>
                </a:solidFill>
                <a:latin typeface="Segoe UI" pitchFamily="34" charset="0"/>
                <a:ea typeface="Segoe UI" pitchFamily="34" charset="0"/>
                <a:cs typeface="Segoe UI" pitchFamily="34" charset="0"/>
              </a:defRPr>
            </a:lvl2pPr>
            <a:lvl3pPr marL="1828985" indent="0" algn="ctr" defTabSz="912604" rtl="0" eaLnBrk="1" latinLnBrk="0" hangingPunct="1">
              <a:spcBef>
                <a:spcPct val="20000"/>
              </a:spcBef>
              <a:buFont typeface="Arial"/>
              <a:buNone/>
              <a:defRPr sz="4000" kern="1200">
                <a:solidFill>
                  <a:schemeClr val="tx1">
                    <a:tint val="75000"/>
                  </a:schemeClr>
                </a:solidFill>
                <a:latin typeface="Segoe UI" pitchFamily="34" charset="0"/>
                <a:ea typeface="Segoe UI" pitchFamily="34" charset="0"/>
                <a:cs typeface="Segoe UI" pitchFamily="34" charset="0"/>
              </a:defRPr>
            </a:lvl3pPr>
            <a:lvl4pPr marL="2743475" indent="0" algn="ctr" defTabSz="912604" rtl="0" eaLnBrk="1" latinLnBrk="0" hangingPunct="1">
              <a:spcBef>
                <a:spcPct val="20000"/>
              </a:spcBef>
              <a:buFont typeface="Arial"/>
              <a:buNone/>
              <a:defRPr sz="3600" kern="1200">
                <a:solidFill>
                  <a:schemeClr val="tx1">
                    <a:tint val="75000"/>
                  </a:schemeClr>
                </a:solidFill>
                <a:latin typeface="Segoe UI" pitchFamily="34" charset="0"/>
                <a:ea typeface="Segoe UI" pitchFamily="34" charset="0"/>
                <a:cs typeface="Segoe UI" pitchFamily="34" charset="0"/>
              </a:defRPr>
            </a:lvl4pPr>
            <a:lvl5pPr marL="3657965" indent="0" algn="ctr" defTabSz="912604" rtl="0" eaLnBrk="1" latinLnBrk="0" hangingPunct="1">
              <a:spcBef>
                <a:spcPct val="20000"/>
              </a:spcBef>
              <a:buFont typeface="Arial"/>
              <a:buNone/>
              <a:defRPr sz="3600" kern="1200">
                <a:solidFill>
                  <a:schemeClr val="tx1">
                    <a:tint val="75000"/>
                  </a:schemeClr>
                </a:solidFill>
                <a:latin typeface="Segoe UI" pitchFamily="34" charset="0"/>
                <a:ea typeface="Segoe UI" pitchFamily="34" charset="0"/>
                <a:cs typeface="Segoe UI" pitchFamily="34" charset="0"/>
              </a:defRPr>
            </a:lvl5pPr>
            <a:lvl6pPr marL="4572455"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6pPr>
            <a:lvl7pPr marL="5486948"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7pPr>
            <a:lvl8pPr marL="6401438"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8pPr>
            <a:lvl9pPr marL="7315930"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9pPr>
          </a:lstStyle>
          <a:p>
            <a:pPr algn="l"/>
            <a:endParaRPr lang="fr-FR" sz="2000" b="1" dirty="0" smtClean="0">
              <a:solidFill>
                <a:schemeClr val="bg1"/>
              </a:solidFill>
            </a:endParaRPr>
          </a:p>
        </p:txBody>
      </p:sp>
      <p:sp>
        <p:nvSpPr>
          <p:cNvPr id="14" name="Titre 1"/>
          <p:cNvSpPr txBox="1">
            <a:spLocks/>
          </p:cNvSpPr>
          <p:nvPr/>
        </p:nvSpPr>
        <p:spPr>
          <a:xfrm>
            <a:off x="92352" y="2411958"/>
            <a:ext cx="8423920" cy="4411231"/>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
            </a:r>
            <a:br>
              <a:rPr lang="fr-FR" sz="3200" b="1" dirty="0" smtClean="0">
                <a:ea typeface="+mn-ea"/>
                <a:cs typeface="Segoe" pitchFamily="34" charset="0"/>
              </a:rPr>
            </a:br>
            <a:r>
              <a:rPr lang="fr-FR" sz="3200" b="1" dirty="0" smtClean="0">
                <a:ea typeface="+mn-ea"/>
                <a:cs typeface="Segoe" pitchFamily="34" charset="0"/>
              </a:rPr>
              <a:t/>
            </a:r>
            <a:br>
              <a:rPr lang="fr-FR" sz="3200" b="1" dirty="0" smtClean="0">
                <a:ea typeface="+mn-ea"/>
                <a:cs typeface="Segoe" pitchFamily="34" charset="0"/>
              </a:rPr>
            </a:br>
            <a:r>
              <a:rPr lang="fr-FR" sz="5400" dirty="0" smtClean="0"/>
              <a:t>Tantely RANDRIA.</a:t>
            </a:r>
            <a:r>
              <a:rPr lang="fr-FR" sz="3200" dirty="0" smtClean="0"/>
              <a:t/>
            </a:r>
            <a:br>
              <a:rPr lang="fr-FR" sz="3200" dirty="0" smtClean="0"/>
            </a:br>
            <a:r>
              <a:rPr lang="fr-FR" sz="3200" dirty="0" smtClean="0"/>
              <a:t/>
            </a:r>
            <a:br>
              <a:rPr lang="fr-FR" sz="3200" dirty="0" smtClean="0"/>
            </a:br>
            <a:r>
              <a:rPr lang="fr-FR" sz="3200" dirty="0" smtClean="0"/>
              <a:t/>
            </a:r>
            <a:br>
              <a:rPr lang="fr-FR" sz="3200" dirty="0" smtClean="0"/>
            </a:br>
            <a:r>
              <a:rPr lang="fr-FR" sz="3200" dirty="0" smtClean="0"/>
              <a:t>Tuteur entreprise : Xavier DENOYES</a:t>
            </a:r>
            <a:br>
              <a:rPr lang="fr-FR" sz="3200" dirty="0" smtClean="0"/>
            </a:br>
            <a:r>
              <a:rPr lang="fr-FR" sz="3200" dirty="0" smtClean="0"/>
              <a:t>Tuteur école : </a:t>
            </a:r>
            <a:r>
              <a:rPr lang="fr-FR" sz="3200" dirty="0" err="1" smtClean="0"/>
              <a:t>Oussalah</a:t>
            </a:r>
            <a:r>
              <a:rPr lang="fr-FR" sz="3200" dirty="0" smtClean="0"/>
              <a:t> Mourad</a:t>
            </a:r>
            <a:endParaRPr lang="fr-FR" sz="3200" b="1" dirty="0">
              <a:ea typeface="+mn-ea"/>
              <a:cs typeface="Segoe" pitchFamily="34" charset="0"/>
            </a:endParaRPr>
          </a:p>
        </p:txBody>
      </p:sp>
      <p:pic>
        <p:nvPicPr>
          <p:cNvPr id="10" name="image5.png" descr="D:\Users\jehiggin\Documents\My Received Files\capblanc.png"/>
          <p:cNvPicPr/>
          <p:nvPr/>
        </p:nvPicPr>
        <p:blipFill>
          <a:blip r:embed="rId3" cstate="print">
            <a:duotone>
              <a:prstClr val="black"/>
              <a:schemeClr val="tx2">
                <a:tint val="45000"/>
                <a:satMod val="400000"/>
              </a:schemeClr>
            </a:duotone>
            <a:lum bright="-40000" contrast="-40000"/>
            <a:extLst/>
          </a:blip>
          <a:stretch>
            <a:fillRect/>
          </a:stretch>
        </p:blipFill>
        <p:spPr>
          <a:xfrm>
            <a:off x="5615609" y="8638542"/>
            <a:ext cx="3888432" cy="1257444"/>
          </a:xfrm>
          <a:prstGeom prst="rect">
            <a:avLst/>
          </a:prstGeom>
          <a:ln w="12700">
            <a:miter lim="400000"/>
          </a:ln>
        </p:spPr>
      </p:pic>
      <p:pic>
        <p:nvPicPr>
          <p:cNvPr id="6" name="Image 5" descr="D:\PERSO\RAPPORT\logo.gif"/>
          <p:cNvPicPr/>
          <p:nvPr/>
        </p:nvPicPr>
        <p:blipFill>
          <a:blip r:embed="rId4">
            <a:extLst>
              <a:ext uri="{28A0092B-C50C-407E-A947-70E740481C1C}">
                <a14:useLocalDpi xmlns:a14="http://schemas.microsoft.com/office/drawing/2010/main" val="0"/>
              </a:ext>
            </a:extLst>
          </a:blip>
          <a:srcRect/>
          <a:stretch>
            <a:fillRect/>
          </a:stretch>
        </p:blipFill>
        <p:spPr bwMode="auto">
          <a:xfrm>
            <a:off x="91100" y="8214796"/>
            <a:ext cx="4300372" cy="1830009"/>
          </a:xfrm>
          <a:prstGeom prst="rect">
            <a:avLst/>
          </a:prstGeom>
          <a:solidFill>
            <a:srgbClr val="FFFFFF"/>
          </a:solidFill>
          <a:ln>
            <a:noFill/>
          </a:ln>
        </p:spPr>
      </p:pic>
      <p:sp>
        <p:nvSpPr>
          <p:cNvPr id="3" name="Rectangle 2"/>
          <p:cNvSpPr>
            <a:spLocks noChangeArrowheads="1"/>
          </p:cNvSpPr>
          <p:nvPr/>
        </p:nvSpPr>
        <p:spPr bwMode="auto">
          <a:xfrm>
            <a:off x="668310" y="424191"/>
            <a:ext cx="16969710" cy="523220"/>
          </a:xfrm>
          <a:prstGeom prst="rect">
            <a:avLst/>
          </a:prstGeom>
          <a:solidFill>
            <a:schemeClr val="tx2">
              <a:lumMod val="20000"/>
              <a:lumOff val="8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R</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é</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alisation d</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une version majeure d</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une application de gestion de r</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é</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gimes de champ de tir (SERT)</a:t>
            </a:r>
            <a:endParaRPr kumimoji="0" lang="fr-FR" altLang="fr-FR" sz="1800" b="1" i="0" u="none" strike="noStrike" cap="none" normalizeH="0" baseline="0" dirty="0" smtClean="0">
              <a:ln>
                <a:noFill/>
              </a:ln>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927544685"/>
      </p:ext>
    </p:extLst>
  </p:cSld>
  <p:clrMapOvr>
    <a:masterClrMapping/>
  </p:clrMapOvr>
  <p:transition>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idx="4294967295"/>
          </p:nvPr>
        </p:nvSpPr>
        <p:spPr>
          <a:xfrm>
            <a:off x="0" y="-446088"/>
            <a:ext cx="16459200" cy="1717676"/>
          </a:xfrm>
        </p:spPr>
        <p:txBody>
          <a:bodyPr/>
          <a:lstStyle/>
          <a:p>
            <a:r>
              <a:rPr lang="fr-FR" dirty="0" smtClean="0"/>
              <a:t>Plan</a:t>
            </a:r>
            <a:endParaRPr lang="fr-FR" dirty="0"/>
          </a:p>
        </p:txBody>
      </p:sp>
      <p:sp>
        <p:nvSpPr>
          <p:cNvPr id="3" name="ZoneTexte 2"/>
          <p:cNvSpPr txBox="1"/>
          <p:nvPr/>
        </p:nvSpPr>
        <p:spPr>
          <a:xfrm>
            <a:off x="806542" y="971798"/>
            <a:ext cx="17619240" cy="8833187"/>
          </a:xfrm>
          <a:prstGeom prst="rect">
            <a:avLst/>
          </a:prstGeom>
          <a:noFill/>
        </p:spPr>
        <p:txBody>
          <a:bodyPr wrap="square" rtlCol="0">
            <a:spAutoFit/>
          </a:bodyPr>
          <a:lstStyle/>
          <a:p>
            <a:pPr marL="742950" indent="-742950">
              <a:buAutoNum type="arabicPeriod"/>
            </a:pPr>
            <a:r>
              <a:rPr lang="fr-FR" dirty="0" smtClean="0"/>
              <a:t>Le groupe </a:t>
            </a:r>
            <a:r>
              <a:rPr lang="fr-FR" dirty="0" err="1" smtClean="0"/>
              <a:t>Capgemini</a:t>
            </a:r>
            <a:endParaRPr lang="fr-FR" dirty="0" smtClean="0"/>
          </a:p>
          <a:p>
            <a:pPr marL="742950" indent="-742950">
              <a:buAutoNum type="arabicPeriod"/>
            </a:pPr>
            <a:endParaRPr lang="fr-FR" dirty="0" smtClean="0"/>
          </a:p>
          <a:p>
            <a:pPr marL="742950" indent="-742950">
              <a:buAutoNum type="arabicPeriod"/>
            </a:pPr>
            <a:r>
              <a:rPr lang="fr-FR" dirty="0" smtClean="0"/>
              <a:t>Mon projet de stage</a:t>
            </a:r>
          </a:p>
          <a:p>
            <a:pPr marL="1655784" lvl="1" indent="-742950"/>
            <a:r>
              <a:rPr lang="fr-FR" sz="2800" dirty="0" smtClean="0"/>
              <a:t>2.1 Projet SERT</a:t>
            </a:r>
          </a:p>
          <a:p>
            <a:pPr marL="1655784" lvl="1" indent="-742950"/>
            <a:r>
              <a:rPr lang="fr-FR" sz="2800" dirty="0" smtClean="0"/>
              <a:t>2.2 Analyse de l’existant</a:t>
            </a:r>
          </a:p>
          <a:p>
            <a:pPr marL="1655784" lvl="1" indent="-742950"/>
            <a:r>
              <a:rPr lang="fr-FR" sz="2800" dirty="0" smtClean="0"/>
              <a:t>2.3 Objectifs du projet</a:t>
            </a:r>
          </a:p>
          <a:p>
            <a:pPr marL="1655784" lvl="1" indent="-742950"/>
            <a:r>
              <a:rPr lang="fr-FR" sz="2800" dirty="0" smtClean="0"/>
              <a:t>2.4 Missions</a:t>
            </a:r>
          </a:p>
          <a:p>
            <a:pPr marL="1655784" lvl="1" indent="-742950"/>
            <a:endParaRPr lang="fr-FR" sz="2800" dirty="0" smtClean="0"/>
          </a:p>
          <a:p>
            <a:pPr marL="742950" indent="-742950">
              <a:buAutoNum type="arabicPeriod"/>
            </a:pPr>
            <a:r>
              <a:rPr lang="fr-FR" dirty="0" smtClean="0"/>
              <a:t>Réalisation</a:t>
            </a:r>
          </a:p>
          <a:p>
            <a:pPr marL="1655784" lvl="1" indent="-742950"/>
            <a:r>
              <a:rPr lang="fr-FR" sz="2800" dirty="0" smtClean="0"/>
              <a:t>3.1 </a:t>
            </a:r>
            <a:r>
              <a:rPr lang="fr-FR" sz="2800" dirty="0" smtClean="0"/>
              <a:t>Montée </a:t>
            </a:r>
            <a:r>
              <a:rPr lang="fr-FR" sz="2800" dirty="0" smtClean="0"/>
              <a:t>en compétence sur SERT</a:t>
            </a:r>
          </a:p>
          <a:p>
            <a:pPr marL="1655784" lvl="1" indent="-742950"/>
            <a:r>
              <a:rPr lang="fr-FR" sz="2800" dirty="0" smtClean="0"/>
              <a:t>3.2 Intégration de </a:t>
            </a:r>
            <a:r>
              <a:rPr lang="fr-FR" sz="2800" dirty="0" err="1" smtClean="0"/>
              <a:t>JavaFX</a:t>
            </a:r>
            <a:r>
              <a:rPr lang="fr-FR" sz="2800" dirty="0" smtClean="0"/>
              <a:t> avec Swing</a:t>
            </a:r>
          </a:p>
          <a:p>
            <a:pPr marL="1655784" lvl="1" indent="-742950"/>
            <a:r>
              <a:rPr lang="fr-FR" sz="2800" dirty="0" smtClean="0"/>
              <a:t>3.3 Les évolutions développées</a:t>
            </a:r>
          </a:p>
          <a:p>
            <a:pPr marL="1655784" lvl="1" indent="-742950"/>
            <a:r>
              <a:rPr lang="fr-FR" sz="2800" dirty="0" smtClean="0"/>
              <a:t>3.4 Tests et correctifs</a:t>
            </a:r>
          </a:p>
          <a:p>
            <a:pPr marL="1655784" lvl="1" indent="-742950"/>
            <a:r>
              <a:rPr lang="fr-FR" sz="2800" dirty="0" smtClean="0"/>
              <a:t>3.5 Contraintes et problèmes rencontrés</a:t>
            </a:r>
          </a:p>
          <a:p>
            <a:pPr marL="1655784" lvl="1" indent="-742950"/>
            <a:endParaRPr lang="fr-FR" dirty="0" smtClean="0"/>
          </a:p>
          <a:p>
            <a:pPr marL="742950" indent="-742950">
              <a:buAutoNum type="arabicPeriod"/>
            </a:pPr>
            <a:r>
              <a:rPr lang="fr-FR" dirty="0" smtClean="0"/>
              <a:t>Conclusion</a:t>
            </a:r>
          </a:p>
          <a:p>
            <a:pPr marL="742950" indent="-742950">
              <a:buAutoNum type="arabicPeriod"/>
            </a:pPr>
            <a:endParaRPr lang="fr-FR" dirty="0" smtClean="0"/>
          </a:p>
          <a:p>
            <a:pPr marL="742950" indent="-742950">
              <a:buAutoNum type="arabicPeriod"/>
            </a:pPr>
            <a:endParaRPr lang="fr-FR"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1. Le groupe Capgemini</a:t>
            </a:r>
            <a:endParaRPr lang="fr-FR" dirty="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custDataLst>
              <p:tags r:id="rId1"/>
            </p:custDataLst>
          </p:nvPr>
        </p:nvSpPr>
        <p:spPr>
          <a:xfrm>
            <a:off x="914400" y="322656"/>
            <a:ext cx="16459200" cy="1716088"/>
          </a:xfrm>
        </p:spPr>
        <p:txBody>
          <a:bodyPr vert="horz" lIns="507148" tIns="56349" rIns="281750" bIns="56349" rtlCol="0" anchor="ctr">
            <a:noAutofit/>
          </a:bodyPr>
          <a:lstStyle/>
          <a:p>
            <a:pPr defTabSz="1558521">
              <a:lnSpc>
                <a:spcPct val="85000"/>
              </a:lnSpc>
            </a:pPr>
            <a:r>
              <a:rPr lang="fr-FR" sz="7200" dirty="0" smtClean="0"/>
              <a:t>Une entreprise en constante évolution</a:t>
            </a:r>
            <a:endParaRPr lang="fr-FR" sz="7200" dirty="0"/>
          </a:p>
        </p:txBody>
      </p:sp>
      <p:sp>
        <p:nvSpPr>
          <p:cNvPr id="684" name="Rectangle 683"/>
          <p:cNvSpPr/>
          <p:nvPr/>
        </p:nvSpPr>
        <p:spPr>
          <a:xfrm>
            <a:off x="1511152" y="2844006"/>
            <a:ext cx="15553728" cy="4524315"/>
          </a:xfrm>
          <a:prstGeom prst="rect">
            <a:avLst/>
          </a:prstGeom>
        </p:spPr>
        <p:txBody>
          <a:bodyPr wrap="square">
            <a:spAutoFit/>
          </a:bodyPr>
          <a:lstStyle/>
          <a:p>
            <a:pPr marL="165100" lvl="1" indent="-165100" algn="just">
              <a:buClr>
                <a:srgbClr val="0098C7"/>
              </a:buClr>
            </a:pPr>
            <a:r>
              <a:rPr lang="fr-FR" sz="4800" dirty="0" smtClean="0">
                <a:solidFill>
                  <a:srgbClr val="828282"/>
                </a:solidFill>
              </a:rPr>
              <a:t> 1ère ESN de France et Top 15 mondial</a:t>
            </a:r>
          </a:p>
          <a:p>
            <a:pPr marL="165100" lvl="1" indent="-165100" algn="just">
              <a:buClr>
                <a:srgbClr val="0098C7"/>
              </a:buClr>
            </a:pPr>
            <a:endParaRPr lang="fr-FR" sz="4800" dirty="0" smtClean="0">
              <a:solidFill>
                <a:srgbClr val="828282"/>
              </a:solidFill>
            </a:endParaRPr>
          </a:p>
          <a:p>
            <a:pPr marL="165100" lvl="1" indent="-165100" algn="just">
              <a:buClr>
                <a:srgbClr val="0098C7"/>
              </a:buClr>
            </a:pPr>
            <a:r>
              <a:rPr lang="fr-FR" sz="4800" dirty="0" smtClean="0">
                <a:solidFill>
                  <a:srgbClr val="828282"/>
                </a:solidFill>
              </a:rPr>
              <a:t> </a:t>
            </a:r>
            <a:r>
              <a:rPr lang="fr-FR" sz="4800" dirty="0">
                <a:solidFill>
                  <a:srgbClr val="828282"/>
                </a:solidFill>
              </a:rPr>
              <a:t>200 000 collaborateurs </a:t>
            </a:r>
            <a:r>
              <a:rPr lang="fr-FR" sz="4800" dirty="0" smtClean="0">
                <a:solidFill>
                  <a:srgbClr val="828282"/>
                </a:solidFill>
              </a:rPr>
              <a:t>dans </a:t>
            </a:r>
            <a:r>
              <a:rPr lang="fr-FR" sz="4800" dirty="0" smtClean="0">
                <a:solidFill>
                  <a:srgbClr val="828282"/>
                </a:solidFill>
              </a:rPr>
              <a:t>plus de 40 </a:t>
            </a:r>
            <a:r>
              <a:rPr lang="fr-FR" sz="4800" dirty="0" smtClean="0">
                <a:solidFill>
                  <a:srgbClr val="828282"/>
                </a:solidFill>
              </a:rPr>
              <a:t>pays</a:t>
            </a:r>
          </a:p>
          <a:p>
            <a:pPr marL="165100" lvl="1" indent="-165100" algn="just">
              <a:buClr>
                <a:srgbClr val="0098C7"/>
              </a:buClr>
            </a:pPr>
            <a:endParaRPr lang="fr-FR" sz="4800" dirty="0" smtClean="0">
              <a:solidFill>
                <a:srgbClr val="828282"/>
              </a:solidFill>
            </a:endParaRPr>
          </a:p>
          <a:p>
            <a:pPr marL="165100" lvl="1" indent="-165100" algn="just">
              <a:buClr>
                <a:srgbClr val="0098C7"/>
              </a:buClr>
            </a:pPr>
            <a:endParaRPr lang="fr-FR" sz="4800" dirty="0" smtClean="0">
              <a:solidFill>
                <a:srgbClr val="828282"/>
              </a:solidFill>
            </a:endParaRPr>
          </a:p>
          <a:p>
            <a:pPr marL="165100" lvl="1" indent="-165100" algn="just">
              <a:buClr>
                <a:srgbClr val="0098C7"/>
              </a:buClr>
            </a:pPr>
            <a:r>
              <a:rPr lang="fr-FR" sz="4800" dirty="0" smtClean="0">
                <a:solidFill>
                  <a:srgbClr val="828282"/>
                </a:solidFill>
              </a:rPr>
              <a:t> Chiffre d’affaires : 12,5 milliards d’euros en 2016</a:t>
            </a:r>
          </a:p>
        </p:txBody>
      </p:sp>
      <p:sp>
        <p:nvSpPr>
          <p:cNvPr id="109570" name="AutoShape 2" descr="https://image.freepik.com/icones-gratuites/cercle-medaille-avec-une-couronne-et-le-numero-1-signe_318-47404.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109571" name="Picture 3" descr="D:\Users\mdrion\Documents\Perso\cercle-medaille-avec-une-couronne-et-le-numero-1-signe_318-47404.jpg"/>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61930" y="2691214"/>
            <a:ext cx="1304940" cy="1304940"/>
          </a:xfrm>
          <a:prstGeom prst="rect">
            <a:avLst/>
          </a:prstGeom>
          <a:noFill/>
        </p:spPr>
      </p:pic>
      <p:sp>
        <p:nvSpPr>
          <p:cNvPr id="686" name="Organigramme : Connecteur 685"/>
          <p:cNvSpPr/>
          <p:nvPr/>
        </p:nvSpPr>
        <p:spPr>
          <a:xfrm>
            <a:off x="368972" y="4309924"/>
            <a:ext cx="1101211" cy="1101208"/>
          </a:xfrm>
          <a:prstGeom prst="flowChartConnector">
            <a:avLst/>
          </a:prstGeom>
          <a:solidFill>
            <a:schemeClr val="bg1"/>
          </a:solidFill>
          <a:ln w="12700">
            <a:solidFill>
              <a:srgbClr val="828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57756" rtl="0" eaLnBrk="1" latinLnBrk="0" hangingPunct="1">
              <a:defRPr sz="1900" kern="1200">
                <a:solidFill>
                  <a:schemeClr val="lt1"/>
                </a:solidFill>
                <a:latin typeface="+mn-lt"/>
                <a:ea typeface="+mn-ea"/>
                <a:cs typeface="+mn-cs"/>
              </a:defRPr>
            </a:lvl1pPr>
            <a:lvl2pPr marL="478878" algn="l" defTabSz="957756" rtl="0" eaLnBrk="1" latinLnBrk="0" hangingPunct="1">
              <a:defRPr sz="1900" kern="1200">
                <a:solidFill>
                  <a:schemeClr val="lt1"/>
                </a:solidFill>
                <a:latin typeface="+mn-lt"/>
                <a:ea typeface="+mn-ea"/>
                <a:cs typeface="+mn-cs"/>
              </a:defRPr>
            </a:lvl2pPr>
            <a:lvl3pPr marL="957756" algn="l" defTabSz="957756" rtl="0" eaLnBrk="1" latinLnBrk="0" hangingPunct="1">
              <a:defRPr sz="1900" kern="1200">
                <a:solidFill>
                  <a:schemeClr val="lt1"/>
                </a:solidFill>
                <a:latin typeface="+mn-lt"/>
                <a:ea typeface="+mn-ea"/>
                <a:cs typeface="+mn-cs"/>
              </a:defRPr>
            </a:lvl3pPr>
            <a:lvl4pPr marL="1436634" algn="l" defTabSz="957756" rtl="0" eaLnBrk="1" latinLnBrk="0" hangingPunct="1">
              <a:defRPr sz="1900" kern="1200">
                <a:solidFill>
                  <a:schemeClr val="lt1"/>
                </a:solidFill>
                <a:latin typeface="+mn-lt"/>
                <a:ea typeface="+mn-ea"/>
                <a:cs typeface="+mn-cs"/>
              </a:defRPr>
            </a:lvl4pPr>
            <a:lvl5pPr marL="1915510" algn="l" defTabSz="957756" rtl="0" eaLnBrk="1" latinLnBrk="0" hangingPunct="1">
              <a:defRPr sz="1900" kern="1200">
                <a:solidFill>
                  <a:schemeClr val="lt1"/>
                </a:solidFill>
                <a:latin typeface="+mn-lt"/>
                <a:ea typeface="+mn-ea"/>
                <a:cs typeface="+mn-cs"/>
              </a:defRPr>
            </a:lvl5pPr>
            <a:lvl6pPr marL="2394388" algn="l" defTabSz="957756" rtl="0" eaLnBrk="1" latinLnBrk="0" hangingPunct="1">
              <a:defRPr sz="1900" kern="1200">
                <a:solidFill>
                  <a:schemeClr val="lt1"/>
                </a:solidFill>
                <a:latin typeface="+mn-lt"/>
                <a:ea typeface="+mn-ea"/>
                <a:cs typeface="+mn-cs"/>
              </a:defRPr>
            </a:lvl6pPr>
            <a:lvl7pPr marL="2873265" algn="l" defTabSz="957756" rtl="0" eaLnBrk="1" latinLnBrk="0" hangingPunct="1">
              <a:defRPr sz="1900" kern="1200">
                <a:solidFill>
                  <a:schemeClr val="lt1"/>
                </a:solidFill>
                <a:latin typeface="+mn-lt"/>
                <a:ea typeface="+mn-ea"/>
                <a:cs typeface="+mn-cs"/>
              </a:defRPr>
            </a:lvl7pPr>
            <a:lvl8pPr marL="3352143" algn="l" defTabSz="957756" rtl="0" eaLnBrk="1" latinLnBrk="0" hangingPunct="1">
              <a:defRPr sz="1900" kern="1200">
                <a:solidFill>
                  <a:schemeClr val="lt1"/>
                </a:solidFill>
                <a:latin typeface="+mn-lt"/>
                <a:ea typeface="+mn-ea"/>
                <a:cs typeface="+mn-cs"/>
              </a:defRPr>
            </a:lvl8pPr>
            <a:lvl9pPr marL="3831021" algn="l" defTabSz="957756" rtl="0" eaLnBrk="1" latinLnBrk="0" hangingPunct="1">
              <a:defRPr sz="1900" kern="1200">
                <a:solidFill>
                  <a:schemeClr val="lt1"/>
                </a:solidFill>
                <a:latin typeface="+mn-lt"/>
                <a:ea typeface="+mn-ea"/>
                <a:cs typeface="+mn-cs"/>
              </a:defRPr>
            </a:lvl9pPr>
          </a:lstStyle>
          <a:p>
            <a:pPr algn="ctr"/>
            <a:endParaRPr lang="fr-FR" sz="1600">
              <a:solidFill>
                <a:srgbClr val="828282"/>
              </a:solidFill>
            </a:endParaRPr>
          </a:p>
        </p:txBody>
      </p:sp>
      <p:grpSp>
        <p:nvGrpSpPr>
          <p:cNvPr id="687" name="Groupe 686"/>
          <p:cNvGrpSpPr/>
          <p:nvPr/>
        </p:nvGrpSpPr>
        <p:grpSpPr>
          <a:xfrm>
            <a:off x="556514" y="4538287"/>
            <a:ext cx="687427" cy="716068"/>
            <a:chOff x="7277101" y="1771650"/>
            <a:chExt cx="381000" cy="396875"/>
          </a:xfrm>
          <a:noFill/>
        </p:grpSpPr>
        <p:sp>
          <p:nvSpPr>
            <p:cNvPr id="688" name="Freeform 496"/>
            <p:cNvSpPr>
              <a:spLocks/>
            </p:cNvSpPr>
            <p:nvPr/>
          </p:nvSpPr>
          <p:spPr bwMode="auto">
            <a:xfrm>
              <a:off x="7454901" y="1771650"/>
              <a:ext cx="203200" cy="325438"/>
            </a:xfrm>
            <a:custGeom>
              <a:avLst/>
              <a:gdLst/>
              <a:ahLst/>
              <a:cxnLst>
                <a:cxn ang="0">
                  <a:pos x="0" y="132"/>
                </a:cxn>
                <a:cxn ang="0">
                  <a:pos x="39" y="56"/>
                </a:cxn>
                <a:cxn ang="0">
                  <a:pos x="24" y="29"/>
                </a:cxn>
                <a:cxn ang="0">
                  <a:pos x="50" y="0"/>
                </a:cxn>
                <a:cxn ang="0">
                  <a:pos x="74" y="29"/>
                </a:cxn>
                <a:cxn ang="0">
                  <a:pos x="61" y="56"/>
                </a:cxn>
                <a:cxn ang="0">
                  <a:pos x="100" y="132"/>
                </a:cxn>
                <a:cxn ang="0">
                  <a:pos x="82" y="168"/>
                </a:cxn>
              </a:cxnLst>
              <a:rect l="0" t="0" r="r" b="b"/>
              <a:pathLst>
                <a:path w="105" h="168">
                  <a:moveTo>
                    <a:pt x="0" y="132"/>
                  </a:moveTo>
                  <a:cubicBezTo>
                    <a:pt x="0" y="95"/>
                    <a:pt x="10" y="64"/>
                    <a:pt x="39" y="56"/>
                  </a:cubicBezTo>
                  <a:cubicBezTo>
                    <a:pt x="32" y="50"/>
                    <a:pt x="24" y="39"/>
                    <a:pt x="24" y="29"/>
                  </a:cubicBezTo>
                  <a:cubicBezTo>
                    <a:pt x="24" y="12"/>
                    <a:pt x="35" y="0"/>
                    <a:pt x="50" y="0"/>
                  </a:cubicBezTo>
                  <a:cubicBezTo>
                    <a:pt x="63" y="0"/>
                    <a:pt x="74" y="12"/>
                    <a:pt x="74" y="29"/>
                  </a:cubicBezTo>
                  <a:cubicBezTo>
                    <a:pt x="74" y="39"/>
                    <a:pt x="68" y="50"/>
                    <a:pt x="61" y="56"/>
                  </a:cubicBezTo>
                  <a:cubicBezTo>
                    <a:pt x="91" y="64"/>
                    <a:pt x="100" y="95"/>
                    <a:pt x="100" y="132"/>
                  </a:cubicBezTo>
                  <a:cubicBezTo>
                    <a:pt x="100" y="132"/>
                    <a:pt x="105" y="164"/>
                    <a:pt x="82" y="16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89" name="Freeform 497"/>
            <p:cNvSpPr>
              <a:spLocks/>
            </p:cNvSpPr>
            <p:nvPr/>
          </p:nvSpPr>
          <p:spPr bwMode="auto">
            <a:xfrm>
              <a:off x="7524751" y="1892300"/>
              <a:ext cx="53975" cy="190500"/>
            </a:xfrm>
            <a:custGeom>
              <a:avLst/>
              <a:gdLst/>
              <a:ahLst/>
              <a:cxnLst>
                <a:cxn ang="0">
                  <a:pos x="14" y="98"/>
                </a:cxn>
                <a:cxn ang="0">
                  <a:pos x="1" y="84"/>
                </a:cxn>
                <a:cxn ang="0">
                  <a:pos x="9" y="10"/>
                </a:cxn>
                <a:cxn ang="0">
                  <a:pos x="6" y="0"/>
                </a:cxn>
                <a:cxn ang="0">
                  <a:pos x="21" y="0"/>
                </a:cxn>
                <a:cxn ang="0">
                  <a:pos x="19" y="10"/>
                </a:cxn>
                <a:cxn ang="0">
                  <a:pos x="28" y="85"/>
                </a:cxn>
                <a:cxn ang="0">
                  <a:pos x="21" y="92"/>
                </a:cxn>
              </a:cxnLst>
              <a:rect l="0" t="0" r="r" b="b"/>
              <a:pathLst>
                <a:path w="28" h="98">
                  <a:moveTo>
                    <a:pt x="14" y="98"/>
                  </a:moveTo>
                  <a:cubicBezTo>
                    <a:pt x="10" y="94"/>
                    <a:pt x="7" y="92"/>
                    <a:pt x="1" y="84"/>
                  </a:cubicBezTo>
                  <a:cubicBezTo>
                    <a:pt x="0" y="69"/>
                    <a:pt x="8" y="22"/>
                    <a:pt x="9" y="10"/>
                  </a:cubicBezTo>
                  <a:cubicBezTo>
                    <a:pt x="7" y="6"/>
                    <a:pt x="6" y="5"/>
                    <a:pt x="6" y="0"/>
                  </a:cubicBezTo>
                  <a:cubicBezTo>
                    <a:pt x="12" y="2"/>
                    <a:pt x="16" y="2"/>
                    <a:pt x="21" y="0"/>
                  </a:cubicBezTo>
                  <a:cubicBezTo>
                    <a:pt x="22" y="4"/>
                    <a:pt x="20" y="6"/>
                    <a:pt x="19" y="10"/>
                  </a:cubicBezTo>
                  <a:cubicBezTo>
                    <a:pt x="20" y="22"/>
                    <a:pt x="27" y="71"/>
                    <a:pt x="28" y="85"/>
                  </a:cubicBezTo>
                  <a:cubicBezTo>
                    <a:pt x="26" y="88"/>
                    <a:pt x="24" y="89"/>
                    <a:pt x="21" y="92"/>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0" name="Freeform 498"/>
            <p:cNvSpPr>
              <a:spLocks/>
            </p:cNvSpPr>
            <p:nvPr/>
          </p:nvSpPr>
          <p:spPr bwMode="auto">
            <a:xfrm>
              <a:off x="7288213" y="1819275"/>
              <a:ext cx="165100" cy="212725"/>
            </a:xfrm>
            <a:custGeom>
              <a:avLst/>
              <a:gdLst/>
              <a:ahLst/>
              <a:cxnLst>
                <a:cxn ang="0">
                  <a:pos x="0" y="105"/>
                </a:cxn>
                <a:cxn ang="0">
                  <a:pos x="33" y="47"/>
                </a:cxn>
                <a:cxn ang="0">
                  <a:pos x="21" y="24"/>
                </a:cxn>
                <a:cxn ang="0">
                  <a:pos x="42" y="0"/>
                </a:cxn>
                <a:cxn ang="0">
                  <a:pos x="63" y="24"/>
                </a:cxn>
                <a:cxn ang="0">
                  <a:pos x="52" y="47"/>
                </a:cxn>
                <a:cxn ang="0">
                  <a:pos x="85" y="110"/>
                </a:cxn>
              </a:cxnLst>
              <a:rect l="0" t="0" r="r" b="b"/>
              <a:pathLst>
                <a:path w="85" h="110">
                  <a:moveTo>
                    <a:pt x="0" y="105"/>
                  </a:moveTo>
                  <a:cubicBezTo>
                    <a:pt x="0" y="73"/>
                    <a:pt x="9" y="53"/>
                    <a:pt x="33" y="47"/>
                  </a:cubicBezTo>
                  <a:cubicBezTo>
                    <a:pt x="28" y="41"/>
                    <a:pt x="21" y="32"/>
                    <a:pt x="21" y="24"/>
                  </a:cubicBezTo>
                  <a:cubicBezTo>
                    <a:pt x="21" y="10"/>
                    <a:pt x="30" y="0"/>
                    <a:pt x="42" y="0"/>
                  </a:cubicBezTo>
                  <a:cubicBezTo>
                    <a:pt x="53" y="0"/>
                    <a:pt x="63" y="10"/>
                    <a:pt x="63" y="24"/>
                  </a:cubicBezTo>
                  <a:cubicBezTo>
                    <a:pt x="63" y="32"/>
                    <a:pt x="57" y="41"/>
                    <a:pt x="52" y="47"/>
                  </a:cubicBezTo>
                  <a:cubicBezTo>
                    <a:pt x="76" y="53"/>
                    <a:pt x="85" y="79"/>
                    <a:pt x="85" y="11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1" name="Freeform 499"/>
            <p:cNvSpPr>
              <a:spLocks/>
            </p:cNvSpPr>
            <p:nvPr/>
          </p:nvSpPr>
          <p:spPr bwMode="auto">
            <a:xfrm>
              <a:off x="7277101" y="2097087"/>
              <a:ext cx="111125" cy="71438"/>
            </a:xfrm>
            <a:custGeom>
              <a:avLst/>
              <a:gdLst/>
              <a:ahLst/>
              <a:cxnLst>
                <a:cxn ang="0">
                  <a:pos x="56" y="27"/>
                </a:cxn>
                <a:cxn ang="0">
                  <a:pos x="56" y="35"/>
                </a:cxn>
                <a:cxn ang="0">
                  <a:pos x="56" y="35"/>
                </a:cxn>
                <a:cxn ang="0">
                  <a:pos x="48" y="35"/>
                </a:cxn>
                <a:cxn ang="0">
                  <a:pos x="20" y="6"/>
                </a:cxn>
                <a:cxn ang="0">
                  <a:pos x="0" y="1"/>
                </a:cxn>
              </a:cxnLst>
              <a:rect l="0" t="0" r="r" b="b"/>
              <a:pathLst>
                <a:path w="58" h="37">
                  <a:moveTo>
                    <a:pt x="56" y="27"/>
                  </a:moveTo>
                  <a:cubicBezTo>
                    <a:pt x="58" y="29"/>
                    <a:pt x="58" y="32"/>
                    <a:pt x="56" y="35"/>
                  </a:cubicBezTo>
                  <a:cubicBezTo>
                    <a:pt x="56" y="35"/>
                    <a:pt x="56" y="35"/>
                    <a:pt x="56" y="35"/>
                  </a:cubicBezTo>
                  <a:cubicBezTo>
                    <a:pt x="54" y="37"/>
                    <a:pt x="50" y="37"/>
                    <a:pt x="48" y="35"/>
                  </a:cubicBezTo>
                  <a:cubicBezTo>
                    <a:pt x="48" y="35"/>
                    <a:pt x="28" y="10"/>
                    <a:pt x="20" y="6"/>
                  </a:cubicBezTo>
                  <a:cubicBezTo>
                    <a:pt x="9" y="0"/>
                    <a:pt x="0" y="1"/>
                    <a:pt x="0" y="1"/>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2" name="Freeform 500"/>
            <p:cNvSpPr>
              <a:spLocks/>
            </p:cNvSpPr>
            <p:nvPr/>
          </p:nvSpPr>
          <p:spPr bwMode="auto">
            <a:xfrm>
              <a:off x="7353301" y="2103437"/>
              <a:ext cx="55563" cy="52388"/>
            </a:xfrm>
            <a:custGeom>
              <a:avLst/>
              <a:gdLst/>
              <a:ahLst/>
              <a:cxnLst>
                <a:cxn ang="0">
                  <a:pos x="8" y="0"/>
                </a:cxn>
                <a:cxn ang="0">
                  <a:pos x="26" y="17"/>
                </a:cxn>
                <a:cxn ang="0">
                  <a:pos x="26" y="25"/>
                </a:cxn>
                <a:cxn ang="0">
                  <a:pos x="26" y="25"/>
                </a:cxn>
                <a:cxn ang="0">
                  <a:pos x="18" y="25"/>
                </a:cxn>
                <a:cxn ang="0">
                  <a:pos x="0" y="7"/>
                </a:cxn>
              </a:cxnLst>
              <a:rect l="0" t="0" r="r" b="b"/>
              <a:pathLst>
                <a:path w="28" h="27">
                  <a:moveTo>
                    <a:pt x="8" y="0"/>
                  </a:moveTo>
                  <a:cubicBezTo>
                    <a:pt x="26" y="17"/>
                    <a:pt x="26" y="17"/>
                    <a:pt x="26" y="17"/>
                  </a:cubicBezTo>
                  <a:cubicBezTo>
                    <a:pt x="28" y="19"/>
                    <a:pt x="28" y="23"/>
                    <a:pt x="26" y="25"/>
                  </a:cubicBezTo>
                  <a:cubicBezTo>
                    <a:pt x="26" y="25"/>
                    <a:pt x="26" y="25"/>
                    <a:pt x="26" y="25"/>
                  </a:cubicBezTo>
                  <a:cubicBezTo>
                    <a:pt x="24" y="27"/>
                    <a:pt x="20" y="27"/>
                    <a:pt x="18" y="25"/>
                  </a:cubicBezTo>
                  <a:cubicBezTo>
                    <a:pt x="0" y="7"/>
                    <a:pt x="0" y="7"/>
                    <a:pt x="0" y="7"/>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3" name="Freeform 501"/>
            <p:cNvSpPr>
              <a:spLocks/>
            </p:cNvSpPr>
            <p:nvPr/>
          </p:nvSpPr>
          <p:spPr bwMode="auto">
            <a:xfrm>
              <a:off x="7385051" y="2071687"/>
              <a:ext cx="68263" cy="69850"/>
            </a:xfrm>
            <a:custGeom>
              <a:avLst/>
              <a:gdLst/>
              <a:ahLst/>
              <a:cxnLst>
                <a:cxn ang="0">
                  <a:pos x="11" y="0"/>
                </a:cxn>
                <a:cxn ang="0">
                  <a:pos x="32" y="26"/>
                </a:cxn>
                <a:cxn ang="0">
                  <a:pos x="32" y="34"/>
                </a:cxn>
                <a:cxn ang="0">
                  <a:pos x="32" y="34"/>
                </a:cxn>
                <a:cxn ang="0">
                  <a:pos x="25" y="34"/>
                </a:cxn>
                <a:cxn ang="0">
                  <a:pos x="0" y="9"/>
                </a:cxn>
              </a:cxnLst>
              <a:rect l="0" t="0" r="r" b="b"/>
              <a:pathLst>
                <a:path w="35" h="36">
                  <a:moveTo>
                    <a:pt x="11" y="0"/>
                  </a:moveTo>
                  <a:cubicBezTo>
                    <a:pt x="32" y="26"/>
                    <a:pt x="32" y="26"/>
                    <a:pt x="32" y="26"/>
                  </a:cubicBezTo>
                  <a:cubicBezTo>
                    <a:pt x="35" y="29"/>
                    <a:pt x="35" y="32"/>
                    <a:pt x="32" y="34"/>
                  </a:cubicBezTo>
                  <a:cubicBezTo>
                    <a:pt x="32" y="34"/>
                    <a:pt x="32" y="34"/>
                    <a:pt x="32" y="34"/>
                  </a:cubicBezTo>
                  <a:cubicBezTo>
                    <a:pt x="30" y="36"/>
                    <a:pt x="27" y="36"/>
                    <a:pt x="25" y="34"/>
                  </a:cubicBezTo>
                  <a:cubicBezTo>
                    <a:pt x="0" y="9"/>
                    <a:pt x="0" y="9"/>
                    <a:pt x="0" y="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4" name="Freeform 502"/>
            <p:cNvSpPr>
              <a:spLocks/>
            </p:cNvSpPr>
            <p:nvPr/>
          </p:nvSpPr>
          <p:spPr bwMode="auto">
            <a:xfrm>
              <a:off x="7331076" y="2024062"/>
              <a:ext cx="171450" cy="58738"/>
            </a:xfrm>
            <a:custGeom>
              <a:avLst/>
              <a:gdLst/>
              <a:ahLst/>
              <a:cxnLst>
                <a:cxn ang="0">
                  <a:pos x="89" y="5"/>
                </a:cxn>
                <a:cxn ang="0">
                  <a:pos x="69" y="13"/>
                </a:cxn>
                <a:cxn ang="0">
                  <a:pos x="37" y="0"/>
                </a:cxn>
                <a:cxn ang="0">
                  <a:pos x="4" y="14"/>
                </a:cxn>
                <a:cxn ang="0">
                  <a:pos x="1" y="21"/>
                </a:cxn>
                <a:cxn ang="0">
                  <a:pos x="1" y="21"/>
                </a:cxn>
                <a:cxn ang="0">
                  <a:pos x="8" y="24"/>
                </a:cxn>
                <a:cxn ang="0">
                  <a:pos x="31" y="15"/>
                </a:cxn>
                <a:cxn ang="0">
                  <a:pos x="50" y="29"/>
                </a:cxn>
                <a:cxn ang="0">
                  <a:pos x="62" y="29"/>
                </a:cxn>
              </a:cxnLst>
              <a:rect l="0" t="0" r="r" b="b"/>
              <a:pathLst>
                <a:path w="89" h="30">
                  <a:moveTo>
                    <a:pt x="89" y="5"/>
                  </a:moveTo>
                  <a:cubicBezTo>
                    <a:pt x="89" y="5"/>
                    <a:pt x="75" y="13"/>
                    <a:pt x="69" y="13"/>
                  </a:cubicBezTo>
                  <a:cubicBezTo>
                    <a:pt x="60" y="12"/>
                    <a:pt x="46" y="1"/>
                    <a:pt x="37" y="0"/>
                  </a:cubicBezTo>
                  <a:cubicBezTo>
                    <a:pt x="31" y="0"/>
                    <a:pt x="4" y="14"/>
                    <a:pt x="4" y="14"/>
                  </a:cubicBezTo>
                  <a:cubicBezTo>
                    <a:pt x="1" y="15"/>
                    <a:pt x="0" y="19"/>
                    <a:pt x="1" y="21"/>
                  </a:cubicBezTo>
                  <a:cubicBezTo>
                    <a:pt x="1" y="21"/>
                    <a:pt x="1" y="21"/>
                    <a:pt x="1" y="21"/>
                  </a:cubicBezTo>
                  <a:cubicBezTo>
                    <a:pt x="2" y="24"/>
                    <a:pt x="6" y="25"/>
                    <a:pt x="8" y="24"/>
                  </a:cubicBezTo>
                  <a:cubicBezTo>
                    <a:pt x="31" y="15"/>
                    <a:pt x="31" y="15"/>
                    <a:pt x="31" y="15"/>
                  </a:cubicBezTo>
                  <a:cubicBezTo>
                    <a:pt x="31" y="15"/>
                    <a:pt x="41" y="27"/>
                    <a:pt x="50" y="29"/>
                  </a:cubicBezTo>
                  <a:cubicBezTo>
                    <a:pt x="58" y="30"/>
                    <a:pt x="62" y="29"/>
                    <a:pt x="62" y="2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5" name="Freeform 503"/>
            <p:cNvSpPr>
              <a:spLocks/>
            </p:cNvSpPr>
            <p:nvPr/>
          </p:nvSpPr>
          <p:spPr bwMode="auto">
            <a:xfrm>
              <a:off x="7405688" y="2125662"/>
              <a:ext cx="19050" cy="19050"/>
            </a:xfrm>
            <a:custGeom>
              <a:avLst/>
              <a:gdLst/>
              <a:ahLst/>
              <a:cxnLst>
                <a:cxn ang="0">
                  <a:pos x="8" y="0"/>
                </a:cxn>
                <a:cxn ang="0">
                  <a:pos x="8" y="8"/>
                </a:cxn>
                <a:cxn ang="0">
                  <a:pos x="8" y="8"/>
                </a:cxn>
                <a:cxn ang="0">
                  <a:pos x="0" y="8"/>
                </a:cxn>
              </a:cxnLst>
              <a:rect l="0" t="0" r="r" b="b"/>
              <a:pathLst>
                <a:path w="10" h="10">
                  <a:moveTo>
                    <a:pt x="8" y="0"/>
                  </a:moveTo>
                  <a:cubicBezTo>
                    <a:pt x="10" y="2"/>
                    <a:pt x="10" y="6"/>
                    <a:pt x="8" y="8"/>
                  </a:cubicBezTo>
                  <a:cubicBezTo>
                    <a:pt x="8" y="8"/>
                    <a:pt x="8" y="8"/>
                    <a:pt x="8" y="8"/>
                  </a:cubicBezTo>
                  <a:cubicBezTo>
                    <a:pt x="6" y="10"/>
                    <a:pt x="2" y="10"/>
                    <a:pt x="0" y="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6" name="Freeform 504"/>
            <p:cNvSpPr>
              <a:spLocks/>
            </p:cNvSpPr>
            <p:nvPr/>
          </p:nvSpPr>
          <p:spPr bwMode="auto">
            <a:xfrm>
              <a:off x="7445376" y="2097087"/>
              <a:ext cx="168275" cy="20638"/>
            </a:xfrm>
            <a:custGeom>
              <a:avLst/>
              <a:gdLst/>
              <a:ahLst/>
              <a:cxnLst>
                <a:cxn ang="0">
                  <a:pos x="0" y="11"/>
                </a:cxn>
                <a:cxn ang="0">
                  <a:pos x="87" y="0"/>
                </a:cxn>
              </a:cxnLst>
              <a:rect l="0" t="0" r="r" b="b"/>
              <a:pathLst>
                <a:path w="87" h="11">
                  <a:moveTo>
                    <a:pt x="0" y="11"/>
                  </a:moveTo>
                  <a:cubicBezTo>
                    <a:pt x="0" y="11"/>
                    <a:pt x="80" y="9"/>
                    <a:pt x="87" y="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7" name="Freeform 505"/>
            <p:cNvSpPr>
              <a:spLocks/>
            </p:cNvSpPr>
            <p:nvPr/>
          </p:nvSpPr>
          <p:spPr bwMode="auto">
            <a:xfrm>
              <a:off x="7286626" y="2022475"/>
              <a:ext cx="92075" cy="22225"/>
            </a:xfrm>
            <a:custGeom>
              <a:avLst/>
              <a:gdLst/>
              <a:ahLst/>
              <a:cxnLst>
                <a:cxn ang="0">
                  <a:pos x="0" y="0"/>
                </a:cxn>
                <a:cxn ang="0">
                  <a:pos x="48" y="5"/>
                </a:cxn>
              </a:cxnLst>
              <a:rect l="0" t="0" r="r" b="b"/>
              <a:pathLst>
                <a:path w="48" h="11">
                  <a:moveTo>
                    <a:pt x="0" y="0"/>
                  </a:moveTo>
                  <a:cubicBezTo>
                    <a:pt x="0" y="11"/>
                    <a:pt x="48" y="5"/>
                    <a:pt x="48" y="5"/>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grpSp>
      <p:pic>
        <p:nvPicPr>
          <p:cNvPr id="109572" name="Picture 4" descr="D:\Users\mdrion\Documents\Perso\rentabilite1-300x300.png"/>
          <p:cNvPicPr>
            <a:picLocks noChangeAspect="1" noChangeArrowheads="1"/>
          </p:cNvPicPr>
          <p:nvPr/>
        </p:nvPicPr>
        <p:blipFill>
          <a:blip r:embed="rId4"/>
          <a:srcRect/>
          <a:stretch>
            <a:fillRect/>
          </a:stretch>
        </p:blipFill>
        <p:spPr bwMode="auto">
          <a:xfrm>
            <a:off x="409496" y="6358513"/>
            <a:ext cx="1009808" cy="1009808"/>
          </a:xfrm>
          <a:prstGeom prst="rect">
            <a:avLst/>
          </a:prstGeom>
          <a:noFill/>
        </p:spPr>
      </p:pic>
    </p:spTree>
    <p:extLst>
      <p:ext uri="{BB962C8B-B14F-4D97-AF65-F5344CB8AC3E}">
        <p14:creationId xmlns:p14="http://schemas.microsoft.com/office/powerpoint/2010/main" val="678104334"/>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custDataLst>
              <p:tags r:id="rId1"/>
            </p:custDataLst>
          </p:nvPr>
        </p:nvSpPr>
        <p:spPr>
          <a:xfrm>
            <a:off x="914400" y="322656"/>
            <a:ext cx="16459200" cy="1716088"/>
          </a:xfrm>
        </p:spPr>
        <p:txBody>
          <a:bodyPr vert="horz" lIns="507148" tIns="56349" rIns="281750" bIns="56349" rtlCol="0" anchor="ctr">
            <a:noAutofit/>
          </a:bodyPr>
          <a:lstStyle/>
          <a:p>
            <a:pPr defTabSz="1558521">
              <a:lnSpc>
                <a:spcPct val="85000"/>
              </a:lnSpc>
            </a:pPr>
            <a:endParaRPr lang="fr-FR" sz="4000" dirty="0"/>
          </a:p>
        </p:txBody>
      </p:sp>
      <p:grpSp>
        <p:nvGrpSpPr>
          <p:cNvPr id="3" name="Groupe 592"/>
          <p:cNvGrpSpPr/>
          <p:nvPr/>
        </p:nvGrpSpPr>
        <p:grpSpPr>
          <a:xfrm>
            <a:off x="9144000" y="322656"/>
            <a:ext cx="1216586" cy="1173137"/>
            <a:chOff x="2322514" y="3886201"/>
            <a:chExt cx="355600" cy="342900"/>
          </a:xfrm>
        </p:grpSpPr>
        <p:sp>
          <p:nvSpPr>
            <p:cNvPr id="662" name="Freeform 294"/>
            <p:cNvSpPr>
              <a:spLocks noEditPoints="1"/>
            </p:cNvSpPr>
            <p:nvPr/>
          </p:nvSpPr>
          <p:spPr bwMode="auto">
            <a:xfrm>
              <a:off x="2322514" y="3886201"/>
              <a:ext cx="355600" cy="342900"/>
            </a:xfrm>
            <a:custGeom>
              <a:avLst/>
              <a:gdLst/>
              <a:ahLst/>
              <a:cxnLst>
                <a:cxn ang="0">
                  <a:pos x="98" y="85"/>
                </a:cxn>
                <a:cxn ang="0">
                  <a:pos x="98" y="0"/>
                </a:cxn>
                <a:cxn ang="0">
                  <a:pos x="183" y="85"/>
                </a:cxn>
                <a:cxn ang="0">
                  <a:pos x="171" y="128"/>
                </a:cxn>
                <a:cxn ang="0">
                  <a:pos x="98" y="85"/>
                </a:cxn>
                <a:cxn ang="0">
                  <a:pos x="151" y="151"/>
                </a:cxn>
                <a:cxn ang="0">
                  <a:pos x="55" y="159"/>
                </a:cxn>
                <a:cxn ang="0">
                  <a:pos x="24" y="128"/>
                </a:cxn>
                <a:cxn ang="0">
                  <a:pos x="98" y="85"/>
                </a:cxn>
                <a:cxn ang="0">
                  <a:pos x="171" y="128"/>
                </a:cxn>
                <a:cxn ang="0">
                  <a:pos x="98" y="85"/>
                </a:cxn>
                <a:cxn ang="0">
                  <a:pos x="24" y="128"/>
                </a:cxn>
                <a:cxn ang="0">
                  <a:pos x="55" y="12"/>
                </a:cxn>
                <a:cxn ang="0">
                  <a:pos x="98" y="0"/>
                </a:cxn>
                <a:cxn ang="0">
                  <a:pos x="98" y="85"/>
                </a:cxn>
              </a:cxnLst>
              <a:rect l="0" t="0" r="r" b="b"/>
              <a:pathLst>
                <a:path w="183" h="177">
                  <a:moveTo>
                    <a:pt x="98" y="85"/>
                  </a:moveTo>
                  <a:cubicBezTo>
                    <a:pt x="98" y="0"/>
                    <a:pt x="98" y="0"/>
                    <a:pt x="98" y="0"/>
                  </a:cubicBezTo>
                  <a:cubicBezTo>
                    <a:pt x="144" y="0"/>
                    <a:pt x="183" y="38"/>
                    <a:pt x="183" y="85"/>
                  </a:cubicBezTo>
                  <a:cubicBezTo>
                    <a:pt x="183" y="101"/>
                    <a:pt x="179" y="114"/>
                    <a:pt x="171" y="128"/>
                  </a:cubicBezTo>
                  <a:lnTo>
                    <a:pt x="98" y="85"/>
                  </a:lnTo>
                  <a:close/>
                  <a:moveTo>
                    <a:pt x="151" y="151"/>
                  </a:moveTo>
                  <a:cubicBezTo>
                    <a:pt x="124" y="173"/>
                    <a:pt x="86" y="177"/>
                    <a:pt x="55" y="159"/>
                  </a:cubicBezTo>
                  <a:cubicBezTo>
                    <a:pt x="41" y="151"/>
                    <a:pt x="32" y="141"/>
                    <a:pt x="24" y="128"/>
                  </a:cubicBezTo>
                  <a:cubicBezTo>
                    <a:pt x="98" y="85"/>
                    <a:pt x="98" y="85"/>
                    <a:pt x="98" y="85"/>
                  </a:cubicBezTo>
                  <a:cubicBezTo>
                    <a:pt x="171" y="128"/>
                    <a:pt x="171" y="128"/>
                    <a:pt x="171" y="128"/>
                  </a:cubicBezTo>
                  <a:moveTo>
                    <a:pt x="98" y="85"/>
                  </a:moveTo>
                  <a:cubicBezTo>
                    <a:pt x="24" y="128"/>
                    <a:pt x="24" y="128"/>
                    <a:pt x="24" y="128"/>
                  </a:cubicBezTo>
                  <a:cubicBezTo>
                    <a:pt x="0" y="87"/>
                    <a:pt x="14" y="35"/>
                    <a:pt x="55" y="12"/>
                  </a:cubicBezTo>
                  <a:cubicBezTo>
                    <a:pt x="69" y="4"/>
                    <a:pt x="82" y="0"/>
                    <a:pt x="98" y="0"/>
                  </a:cubicBezTo>
                  <a:cubicBezTo>
                    <a:pt x="98" y="85"/>
                    <a:pt x="98" y="85"/>
                    <a:pt x="98" y="85"/>
                  </a:cubicBezTo>
                </a:path>
              </a:pathLst>
            </a:custGeom>
            <a:no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sp>
          <p:nvSpPr>
            <p:cNvPr id="665" name="Freeform 295"/>
            <p:cNvSpPr>
              <a:spLocks noEditPoints="1"/>
            </p:cNvSpPr>
            <p:nvPr/>
          </p:nvSpPr>
          <p:spPr bwMode="auto">
            <a:xfrm>
              <a:off x="2546351" y="3952876"/>
              <a:ext cx="69850" cy="111125"/>
            </a:xfrm>
            <a:custGeom>
              <a:avLst/>
              <a:gdLst/>
              <a:ahLst/>
              <a:cxnLst>
                <a:cxn ang="0">
                  <a:pos x="20" y="44"/>
                </a:cxn>
                <a:cxn ang="0">
                  <a:pos x="28" y="38"/>
                </a:cxn>
                <a:cxn ang="0">
                  <a:pos x="20" y="31"/>
                </a:cxn>
                <a:cxn ang="0">
                  <a:pos x="20" y="44"/>
                </a:cxn>
                <a:cxn ang="0">
                  <a:pos x="16" y="11"/>
                </a:cxn>
                <a:cxn ang="0">
                  <a:pos x="9" y="16"/>
                </a:cxn>
                <a:cxn ang="0">
                  <a:pos x="16" y="22"/>
                </a:cxn>
                <a:cxn ang="0">
                  <a:pos x="16" y="11"/>
                </a:cxn>
                <a:cxn ang="0">
                  <a:pos x="16" y="31"/>
                </a:cxn>
                <a:cxn ang="0">
                  <a:pos x="1" y="18"/>
                </a:cxn>
                <a:cxn ang="0">
                  <a:pos x="16" y="4"/>
                </a:cxn>
                <a:cxn ang="0">
                  <a:pos x="16" y="2"/>
                </a:cxn>
                <a:cxn ang="0">
                  <a:pos x="18" y="0"/>
                </a:cxn>
                <a:cxn ang="0">
                  <a:pos x="20" y="2"/>
                </a:cxn>
                <a:cxn ang="0">
                  <a:pos x="20" y="4"/>
                </a:cxn>
                <a:cxn ang="0">
                  <a:pos x="36" y="14"/>
                </a:cxn>
                <a:cxn ang="0">
                  <a:pos x="32" y="18"/>
                </a:cxn>
                <a:cxn ang="0">
                  <a:pos x="20" y="11"/>
                </a:cxn>
                <a:cxn ang="0">
                  <a:pos x="20" y="23"/>
                </a:cxn>
                <a:cxn ang="0">
                  <a:pos x="36" y="37"/>
                </a:cxn>
                <a:cxn ang="0">
                  <a:pos x="20" y="51"/>
                </a:cxn>
                <a:cxn ang="0">
                  <a:pos x="20" y="55"/>
                </a:cxn>
                <a:cxn ang="0">
                  <a:pos x="18" y="57"/>
                </a:cxn>
                <a:cxn ang="0">
                  <a:pos x="16" y="55"/>
                </a:cxn>
                <a:cxn ang="0">
                  <a:pos x="16" y="51"/>
                </a:cxn>
                <a:cxn ang="0">
                  <a:pos x="0" y="39"/>
                </a:cxn>
                <a:cxn ang="0">
                  <a:pos x="4" y="35"/>
                </a:cxn>
                <a:cxn ang="0">
                  <a:pos x="16" y="44"/>
                </a:cxn>
                <a:cxn ang="0">
                  <a:pos x="16" y="31"/>
                </a:cxn>
              </a:cxnLst>
              <a:rect l="0" t="0" r="r" b="b"/>
              <a:pathLst>
                <a:path w="36" h="57">
                  <a:moveTo>
                    <a:pt x="20" y="44"/>
                  </a:moveTo>
                  <a:cubicBezTo>
                    <a:pt x="24" y="44"/>
                    <a:pt x="28" y="42"/>
                    <a:pt x="28" y="38"/>
                  </a:cubicBezTo>
                  <a:cubicBezTo>
                    <a:pt x="28" y="33"/>
                    <a:pt x="24" y="32"/>
                    <a:pt x="20" y="31"/>
                  </a:cubicBezTo>
                  <a:lnTo>
                    <a:pt x="20" y="44"/>
                  </a:lnTo>
                  <a:close/>
                  <a:moveTo>
                    <a:pt x="16" y="11"/>
                  </a:moveTo>
                  <a:cubicBezTo>
                    <a:pt x="12" y="11"/>
                    <a:pt x="9" y="13"/>
                    <a:pt x="9" y="16"/>
                  </a:cubicBezTo>
                  <a:cubicBezTo>
                    <a:pt x="9" y="19"/>
                    <a:pt x="12" y="21"/>
                    <a:pt x="16" y="22"/>
                  </a:cubicBezTo>
                  <a:lnTo>
                    <a:pt x="16" y="11"/>
                  </a:lnTo>
                  <a:close/>
                  <a:moveTo>
                    <a:pt x="16" y="31"/>
                  </a:moveTo>
                  <a:cubicBezTo>
                    <a:pt x="7" y="29"/>
                    <a:pt x="1" y="25"/>
                    <a:pt x="1" y="18"/>
                  </a:cubicBezTo>
                  <a:cubicBezTo>
                    <a:pt x="1" y="9"/>
                    <a:pt x="8" y="4"/>
                    <a:pt x="16" y="4"/>
                  </a:cubicBezTo>
                  <a:cubicBezTo>
                    <a:pt x="16" y="2"/>
                    <a:pt x="16" y="2"/>
                    <a:pt x="16" y="2"/>
                  </a:cubicBezTo>
                  <a:cubicBezTo>
                    <a:pt x="16" y="1"/>
                    <a:pt x="17" y="0"/>
                    <a:pt x="18" y="0"/>
                  </a:cubicBezTo>
                  <a:cubicBezTo>
                    <a:pt x="19" y="0"/>
                    <a:pt x="20" y="1"/>
                    <a:pt x="20" y="2"/>
                  </a:cubicBezTo>
                  <a:cubicBezTo>
                    <a:pt x="20" y="4"/>
                    <a:pt x="20" y="4"/>
                    <a:pt x="20" y="4"/>
                  </a:cubicBezTo>
                  <a:cubicBezTo>
                    <a:pt x="25" y="4"/>
                    <a:pt x="36" y="7"/>
                    <a:pt x="36" y="14"/>
                  </a:cubicBezTo>
                  <a:cubicBezTo>
                    <a:pt x="36" y="16"/>
                    <a:pt x="34" y="18"/>
                    <a:pt x="32" y="18"/>
                  </a:cubicBezTo>
                  <a:cubicBezTo>
                    <a:pt x="27" y="18"/>
                    <a:pt x="27" y="11"/>
                    <a:pt x="20" y="11"/>
                  </a:cubicBezTo>
                  <a:cubicBezTo>
                    <a:pt x="20" y="23"/>
                    <a:pt x="20" y="23"/>
                    <a:pt x="20" y="23"/>
                  </a:cubicBezTo>
                  <a:cubicBezTo>
                    <a:pt x="29" y="25"/>
                    <a:pt x="36" y="27"/>
                    <a:pt x="36" y="37"/>
                  </a:cubicBezTo>
                  <a:cubicBezTo>
                    <a:pt x="36" y="46"/>
                    <a:pt x="30" y="50"/>
                    <a:pt x="20" y="51"/>
                  </a:cubicBezTo>
                  <a:cubicBezTo>
                    <a:pt x="20" y="55"/>
                    <a:pt x="20" y="55"/>
                    <a:pt x="20" y="55"/>
                  </a:cubicBezTo>
                  <a:cubicBezTo>
                    <a:pt x="20" y="56"/>
                    <a:pt x="19" y="57"/>
                    <a:pt x="18" y="57"/>
                  </a:cubicBezTo>
                  <a:cubicBezTo>
                    <a:pt x="17" y="57"/>
                    <a:pt x="16" y="56"/>
                    <a:pt x="16" y="55"/>
                  </a:cubicBezTo>
                  <a:cubicBezTo>
                    <a:pt x="16" y="51"/>
                    <a:pt x="16" y="51"/>
                    <a:pt x="16" y="51"/>
                  </a:cubicBezTo>
                  <a:cubicBezTo>
                    <a:pt x="5" y="51"/>
                    <a:pt x="0" y="44"/>
                    <a:pt x="0" y="39"/>
                  </a:cubicBezTo>
                  <a:cubicBezTo>
                    <a:pt x="0" y="36"/>
                    <a:pt x="2" y="35"/>
                    <a:pt x="4" y="35"/>
                  </a:cubicBezTo>
                  <a:cubicBezTo>
                    <a:pt x="11" y="35"/>
                    <a:pt x="6" y="44"/>
                    <a:pt x="16" y="44"/>
                  </a:cubicBezTo>
                  <a:cubicBezTo>
                    <a:pt x="16" y="31"/>
                    <a:pt x="16" y="31"/>
                    <a:pt x="16" y="31"/>
                  </a:cubicBezTo>
                </a:path>
              </a:pathLst>
            </a:custGeom>
            <a:solidFill>
              <a:srgbClr val="828282"/>
            </a:solidFill>
            <a:ln w="9525">
              <a:solidFill>
                <a:srgbClr val="828282"/>
              </a:solidFill>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sp>
          <p:nvSpPr>
            <p:cNvPr id="668" name="Freeform 296"/>
            <p:cNvSpPr>
              <a:spLocks/>
            </p:cNvSpPr>
            <p:nvPr/>
          </p:nvSpPr>
          <p:spPr bwMode="auto">
            <a:xfrm>
              <a:off x="2390776" y="3959226"/>
              <a:ext cx="88900" cy="93663"/>
            </a:xfrm>
            <a:custGeom>
              <a:avLst/>
              <a:gdLst/>
              <a:ahLst/>
              <a:cxnLst>
                <a:cxn ang="0">
                  <a:pos x="41" y="31"/>
                </a:cxn>
                <a:cxn ang="0">
                  <a:pos x="27" y="40"/>
                </a:cxn>
                <a:cxn ang="0">
                  <a:pos x="16" y="31"/>
                </a:cxn>
                <a:cxn ang="0">
                  <a:pos x="28" y="31"/>
                </a:cxn>
                <a:cxn ang="0">
                  <a:pos x="28" y="28"/>
                </a:cxn>
                <a:cxn ang="0">
                  <a:pos x="15" y="28"/>
                </a:cxn>
                <a:cxn ang="0">
                  <a:pos x="15" y="24"/>
                </a:cxn>
                <a:cxn ang="0">
                  <a:pos x="15" y="21"/>
                </a:cxn>
                <a:cxn ang="0">
                  <a:pos x="28" y="21"/>
                </a:cxn>
                <a:cxn ang="0">
                  <a:pos x="28" y="18"/>
                </a:cxn>
                <a:cxn ang="0">
                  <a:pos x="16" y="18"/>
                </a:cxn>
                <a:cxn ang="0">
                  <a:pos x="27" y="8"/>
                </a:cxn>
                <a:cxn ang="0">
                  <a:pos x="41" y="17"/>
                </a:cxn>
                <a:cxn ang="0">
                  <a:pos x="46" y="12"/>
                </a:cxn>
                <a:cxn ang="0">
                  <a:pos x="27" y="0"/>
                </a:cxn>
                <a:cxn ang="0">
                  <a:pos x="5" y="18"/>
                </a:cxn>
                <a:cxn ang="0">
                  <a:pos x="0" y="18"/>
                </a:cxn>
                <a:cxn ang="0">
                  <a:pos x="0" y="21"/>
                </a:cxn>
                <a:cxn ang="0">
                  <a:pos x="4" y="21"/>
                </a:cxn>
                <a:cxn ang="0">
                  <a:pos x="4" y="24"/>
                </a:cxn>
                <a:cxn ang="0">
                  <a:pos x="4" y="28"/>
                </a:cxn>
                <a:cxn ang="0">
                  <a:pos x="0" y="28"/>
                </a:cxn>
                <a:cxn ang="0">
                  <a:pos x="0" y="31"/>
                </a:cxn>
                <a:cxn ang="0">
                  <a:pos x="5" y="31"/>
                </a:cxn>
                <a:cxn ang="0">
                  <a:pos x="27" y="49"/>
                </a:cxn>
                <a:cxn ang="0">
                  <a:pos x="46" y="35"/>
                </a:cxn>
                <a:cxn ang="0">
                  <a:pos x="41" y="31"/>
                </a:cxn>
              </a:cxnLst>
              <a:rect l="0" t="0" r="r" b="b"/>
              <a:pathLst>
                <a:path w="46" h="49">
                  <a:moveTo>
                    <a:pt x="41" y="31"/>
                  </a:moveTo>
                  <a:cubicBezTo>
                    <a:pt x="36" y="31"/>
                    <a:pt x="36" y="40"/>
                    <a:pt x="27" y="40"/>
                  </a:cubicBezTo>
                  <a:cubicBezTo>
                    <a:pt x="21" y="40"/>
                    <a:pt x="17" y="36"/>
                    <a:pt x="16" y="31"/>
                  </a:cubicBezTo>
                  <a:cubicBezTo>
                    <a:pt x="28" y="31"/>
                    <a:pt x="28" y="31"/>
                    <a:pt x="28" y="31"/>
                  </a:cubicBezTo>
                  <a:cubicBezTo>
                    <a:pt x="28" y="28"/>
                    <a:pt x="28" y="28"/>
                    <a:pt x="28" y="28"/>
                  </a:cubicBezTo>
                  <a:cubicBezTo>
                    <a:pt x="15" y="28"/>
                    <a:pt x="15" y="28"/>
                    <a:pt x="15" y="28"/>
                  </a:cubicBezTo>
                  <a:cubicBezTo>
                    <a:pt x="15" y="26"/>
                    <a:pt x="15" y="25"/>
                    <a:pt x="15" y="24"/>
                  </a:cubicBezTo>
                  <a:cubicBezTo>
                    <a:pt x="15" y="23"/>
                    <a:pt x="15" y="22"/>
                    <a:pt x="15" y="21"/>
                  </a:cubicBezTo>
                  <a:cubicBezTo>
                    <a:pt x="28" y="21"/>
                    <a:pt x="28" y="21"/>
                    <a:pt x="28" y="21"/>
                  </a:cubicBezTo>
                  <a:cubicBezTo>
                    <a:pt x="28" y="18"/>
                    <a:pt x="28" y="18"/>
                    <a:pt x="28" y="18"/>
                  </a:cubicBezTo>
                  <a:cubicBezTo>
                    <a:pt x="16" y="18"/>
                    <a:pt x="16" y="18"/>
                    <a:pt x="16" y="18"/>
                  </a:cubicBezTo>
                  <a:cubicBezTo>
                    <a:pt x="18" y="12"/>
                    <a:pt x="22" y="8"/>
                    <a:pt x="27" y="8"/>
                  </a:cubicBezTo>
                  <a:cubicBezTo>
                    <a:pt x="37" y="8"/>
                    <a:pt x="35" y="17"/>
                    <a:pt x="41" y="17"/>
                  </a:cubicBezTo>
                  <a:cubicBezTo>
                    <a:pt x="44" y="17"/>
                    <a:pt x="46" y="15"/>
                    <a:pt x="46" y="12"/>
                  </a:cubicBezTo>
                  <a:cubicBezTo>
                    <a:pt x="46" y="7"/>
                    <a:pt x="39" y="0"/>
                    <a:pt x="27" y="0"/>
                  </a:cubicBezTo>
                  <a:cubicBezTo>
                    <a:pt x="15" y="0"/>
                    <a:pt x="7" y="7"/>
                    <a:pt x="5" y="18"/>
                  </a:cubicBezTo>
                  <a:cubicBezTo>
                    <a:pt x="0" y="18"/>
                    <a:pt x="0" y="18"/>
                    <a:pt x="0" y="18"/>
                  </a:cubicBezTo>
                  <a:cubicBezTo>
                    <a:pt x="0" y="21"/>
                    <a:pt x="0" y="21"/>
                    <a:pt x="0" y="21"/>
                  </a:cubicBezTo>
                  <a:cubicBezTo>
                    <a:pt x="4" y="21"/>
                    <a:pt x="4" y="21"/>
                    <a:pt x="4" y="21"/>
                  </a:cubicBezTo>
                  <a:cubicBezTo>
                    <a:pt x="4" y="22"/>
                    <a:pt x="4" y="23"/>
                    <a:pt x="4" y="24"/>
                  </a:cubicBezTo>
                  <a:cubicBezTo>
                    <a:pt x="4" y="25"/>
                    <a:pt x="4" y="26"/>
                    <a:pt x="4" y="28"/>
                  </a:cubicBezTo>
                  <a:cubicBezTo>
                    <a:pt x="0" y="28"/>
                    <a:pt x="0" y="28"/>
                    <a:pt x="0" y="28"/>
                  </a:cubicBezTo>
                  <a:cubicBezTo>
                    <a:pt x="0" y="31"/>
                    <a:pt x="0" y="31"/>
                    <a:pt x="0" y="31"/>
                  </a:cubicBezTo>
                  <a:cubicBezTo>
                    <a:pt x="5" y="31"/>
                    <a:pt x="5" y="31"/>
                    <a:pt x="5" y="31"/>
                  </a:cubicBezTo>
                  <a:cubicBezTo>
                    <a:pt x="7" y="43"/>
                    <a:pt x="15" y="49"/>
                    <a:pt x="27" y="49"/>
                  </a:cubicBezTo>
                  <a:cubicBezTo>
                    <a:pt x="38" y="49"/>
                    <a:pt x="46" y="42"/>
                    <a:pt x="46" y="35"/>
                  </a:cubicBezTo>
                  <a:cubicBezTo>
                    <a:pt x="46" y="33"/>
                    <a:pt x="43" y="31"/>
                    <a:pt x="41" y="31"/>
                  </a:cubicBezTo>
                </a:path>
              </a:pathLst>
            </a:custGeom>
            <a:solidFill>
              <a:srgbClr val="828282"/>
            </a:solidFill>
            <a:ln w="9525">
              <a:solidFill>
                <a:srgbClr val="828282"/>
              </a:solidFill>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sp>
          <p:nvSpPr>
            <p:cNvPr id="669" name="Freeform 297"/>
            <p:cNvSpPr>
              <a:spLocks/>
            </p:cNvSpPr>
            <p:nvPr/>
          </p:nvSpPr>
          <p:spPr bwMode="auto">
            <a:xfrm>
              <a:off x="2481264" y="4095751"/>
              <a:ext cx="66675" cy="79375"/>
            </a:xfrm>
            <a:custGeom>
              <a:avLst/>
              <a:gdLst/>
              <a:ahLst/>
              <a:cxnLst>
                <a:cxn ang="0">
                  <a:pos x="0" y="5"/>
                </a:cxn>
                <a:cxn ang="0">
                  <a:pos x="4" y="0"/>
                </a:cxn>
                <a:cxn ang="0">
                  <a:pos x="9" y="5"/>
                </a:cxn>
                <a:cxn ang="0">
                  <a:pos x="9" y="16"/>
                </a:cxn>
                <a:cxn ang="0">
                  <a:pos x="25" y="16"/>
                </a:cxn>
                <a:cxn ang="0">
                  <a:pos x="25" y="5"/>
                </a:cxn>
                <a:cxn ang="0">
                  <a:pos x="29" y="0"/>
                </a:cxn>
                <a:cxn ang="0">
                  <a:pos x="34" y="5"/>
                </a:cxn>
                <a:cxn ang="0">
                  <a:pos x="34" y="37"/>
                </a:cxn>
                <a:cxn ang="0">
                  <a:pos x="29" y="41"/>
                </a:cxn>
                <a:cxn ang="0">
                  <a:pos x="25" y="37"/>
                </a:cxn>
                <a:cxn ang="0">
                  <a:pos x="25" y="23"/>
                </a:cxn>
                <a:cxn ang="0">
                  <a:pos x="9" y="23"/>
                </a:cxn>
                <a:cxn ang="0">
                  <a:pos x="9" y="37"/>
                </a:cxn>
                <a:cxn ang="0">
                  <a:pos x="4" y="41"/>
                </a:cxn>
                <a:cxn ang="0">
                  <a:pos x="0" y="37"/>
                </a:cxn>
                <a:cxn ang="0">
                  <a:pos x="0" y="5"/>
                </a:cxn>
              </a:cxnLst>
              <a:rect l="0" t="0" r="r" b="b"/>
              <a:pathLst>
                <a:path w="34" h="41">
                  <a:moveTo>
                    <a:pt x="0" y="5"/>
                  </a:moveTo>
                  <a:cubicBezTo>
                    <a:pt x="0" y="2"/>
                    <a:pt x="1" y="0"/>
                    <a:pt x="4" y="0"/>
                  </a:cubicBezTo>
                  <a:cubicBezTo>
                    <a:pt x="7" y="0"/>
                    <a:pt x="9" y="2"/>
                    <a:pt x="9" y="5"/>
                  </a:cubicBezTo>
                  <a:cubicBezTo>
                    <a:pt x="9" y="16"/>
                    <a:pt x="9" y="16"/>
                    <a:pt x="9" y="16"/>
                  </a:cubicBezTo>
                  <a:cubicBezTo>
                    <a:pt x="25" y="16"/>
                    <a:pt x="25" y="16"/>
                    <a:pt x="25" y="16"/>
                  </a:cubicBezTo>
                  <a:cubicBezTo>
                    <a:pt x="25" y="5"/>
                    <a:pt x="25" y="5"/>
                    <a:pt x="25" y="5"/>
                  </a:cubicBezTo>
                  <a:cubicBezTo>
                    <a:pt x="25" y="2"/>
                    <a:pt x="27" y="0"/>
                    <a:pt x="29" y="0"/>
                  </a:cubicBezTo>
                  <a:cubicBezTo>
                    <a:pt x="32" y="0"/>
                    <a:pt x="34" y="2"/>
                    <a:pt x="34" y="5"/>
                  </a:cubicBezTo>
                  <a:cubicBezTo>
                    <a:pt x="34" y="37"/>
                    <a:pt x="34" y="37"/>
                    <a:pt x="34" y="37"/>
                  </a:cubicBezTo>
                  <a:cubicBezTo>
                    <a:pt x="34" y="39"/>
                    <a:pt x="32" y="41"/>
                    <a:pt x="29" y="41"/>
                  </a:cubicBezTo>
                  <a:cubicBezTo>
                    <a:pt x="27" y="41"/>
                    <a:pt x="25" y="39"/>
                    <a:pt x="25" y="37"/>
                  </a:cubicBezTo>
                  <a:cubicBezTo>
                    <a:pt x="25" y="23"/>
                    <a:pt x="25" y="23"/>
                    <a:pt x="25" y="23"/>
                  </a:cubicBezTo>
                  <a:cubicBezTo>
                    <a:pt x="9" y="23"/>
                    <a:pt x="9" y="23"/>
                    <a:pt x="9" y="23"/>
                  </a:cubicBezTo>
                  <a:cubicBezTo>
                    <a:pt x="9" y="37"/>
                    <a:pt x="9" y="37"/>
                    <a:pt x="9" y="37"/>
                  </a:cubicBezTo>
                  <a:cubicBezTo>
                    <a:pt x="9" y="39"/>
                    <a:pt x="7" y="41"/>
                    <a:pt x="4" y="41"/>
                  </a:cubicBezTo>
                  <a:cubicBezTo>
                    <a:pt x="1" y="41"/>
                    <a:pt x="0" y="39"/>
                    <a:pt x="0" y="37"/>
                  </a:cubicBezTo>
                  <a:cubicBezTo>
                    <a:pt x="0" y="5"/>
                    <a:pt x="0" y="5"/>
                    <a:pt x="0" y="5"/>
                  </a:cubicBezTo>
                </a:path>
              </a:pathLst>
            </a:custGeom>
            <a:solidFill>
              <a:srgbClr val="828282"/>
            </a:solidFill>
            <a:ln w="9525">
              <a:solidFill>
                <a:srgbClr val="828282"/>
              </a:solidFill>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grpSp>
      <p:sp>
        <p:nvSpPr>
          <p:cNvPr id="68" name="Rectangle 67"/>
          <p:cNvSpPr/>
          <p:nvPr/>
        </p:nvSpPr>
        <p:spPr>
          <a:xfrm>
            <a:off x="6102849" y="9000400"/>
            <a:ext cx="6082302" cy="338554"/>
          </a:xfrm>
          <a:prstGeom prst="rect">
            <a:avLst/>
          </a:prstGeom>
        </p:spPr>
        <p:txBody>
          <a:bodyPr wrap="square">
            <a:spAutoFit/>
          </a:bodyPr>
          <a:lstStyle/>
          <a:p>
            <a:pPr algn="ctr"/>
            <a:r>
              <a:rPr lang="fr-FR" sz="1600" dirty="0" smtClean="0"/>
              <a:t>Source : </a:t>
            </a:r>
            <a:r>
              <a:rPr lang="fr-FR" sz="1600" dirty="0"/>
              <a:t>https://www.fr.capgemini.com/rapport-annuel/2016  </a:t>
            </a:r>
          </a:p>
        </p:txBody>
      </p:sp>
      <p:pic>
        <p:nvPicPr>
          <p:cNvPr id="2" name="Image 1"/>
          <p:cNvPicPr>
            <a:picLocks noChangeAspect="1"/>
          </p:cNvPicPr>
          <p:nvPr/>
        </p:nvPicPr>
        <p:blipFill>
          <a:blip r:embed="rId3"/>
          <a:stretch>
            <a:fillRect/>
          </a:stretch>
        </p:blipFill>
        <p:spPr>
          <a:xfrm>
            <a:off x="716648" y="322656"/>
            <a:ext cx="17289561" cy="7129862"/>
          </a:xfrm>
          <a:prstGeom prst="rect">
            <a:avLst/>
          </a:prstGeom>
        </p:spPr>
      </p:pic>
    </p:spTree>
    <p:extLst>
      <p:ext uri="{BB962C8B-B14F-4D97-AF65-F5344CB8AC3E}">
        <p14:creationId xmlns:p14="http://schemas.microsoft.com/office/powerpoint/2010/main" val="678104334"/>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custDataLst>
              <p:tags r:id="rId1"/>
            </p:custDataLst>
          </p:nvPr>
        </p:nvSpPr>
        <p:spPr>
          <a:xfrm>
            <a:off x="914400" y="322656"/>
            <a:ext cx="16459200" cy="1716088"/>
          </a:xfrm>
        </p:spPr>
        <p:txBody>
          <a:bodyPr vert="horz" lIns="507148" tIns="56349" rIns="281750" bIns="56349" rtlCol="0" anchor="ctr">
            <a:noAutofit/>
          </a:bodyPr>
          <a:lstStyle/>
          <a:p>
            <a:pPr defTabSz="1558521">
              <a:lnSpc>
                <a:spcPct val="85000"/>
              </a:lnSpc>
            </a:pPr>
            <a:endParaRPr lang="fr-FR" sz="4000" dirty="0"/>
          </a:p>
        </p:txBody>
      </p:sp>
      <p:sp>
        <p:nvSpPr>
          <p:cNvPr id="10" name="Rectangle 9"/>
          <p:cNvSpPr/>
          <p:nvPr/>
        </p:nvSpPr>
        <p:spPr>
          <a:xfrm>
            <a:off x="6102849" y="9000400"/>
            <a:ext cx="6082302" cy="338554"/>
          </a:xfrm>
          <a:prstGeom prst="rect">
            <a:avLst/>
          </a:prstGeom>
        </p:spPr>
        <p:txBody>
          <a:bodyPr wrap="square">
            <a:spAutoFit/>
          </a:bodyPr>
          <a:lstStyle/>
          <a:p>
            <a:pPr algn="ctr"/>
            <a:r>
              <a:rPr lang="fr-FR" sz="1600" dirty="0" smtClean="0"/>
              <a:t>Source : </a:t>
            </a:r>
            <a:r>
              <a:rPr lang="fr-FR" sz="1600" dirty="0"/>
              <a:t>https://www.fr.capgemini.com/rapport-annuel/2016</a:t>
            </a:r>
          </a:p>
        </p:txBody>
      </p:sp>
      <p:pic>
        <p:nvPicPr>
          <p:cNvPr id="2" name="Image 1"/>
          <p:cNvPicPr>
            <a:picLocks noChangeAspect="1"/>
          </p:cNvPicPr>
          <p:nvPr/>
        </p:nvPicPr>
        <p:blipFill>
          <a:blip r:embed="rId3"/>
          <a:stretch>
            <a:fillRect/>
          </a:stretch>
        </p:blipFill>
        <p:spPr>
          <a:xfrm>
            <a:off x="503039" y="251718"/>
            <a:ext cx="17587263" cy="6840760"/>
          </a:xfrm>
          <a:prstGeom prst="rect">
            <a:avLst/>
          </a:prstGeom>
        </p:spPr>
      </p:pic>
    </p:spTree>
    <p:extLst>
      <p:ext uri="{BB962C8B-B14F-4D97-AF65-F5344CB8AC3E}">
        <p14:creationId xmlns:p14="http://schemas.microsoft.com/office/powerpoint/2010/main" val="67810433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5" name="Shape 121"/>
          <p:cNvCxnSpPr>
            <a:endCxn id="254" idx="0"/>
          </p:cNvCxnSpPr>
          <p:nvPr/>
        </p:nvCxnSpPr>
        <p:spPr bwMode="auto">
          <a:xfrm rot="10800000">
            <a:off x="2272125" y="2415051"/>
            <a:ext cx="3253348" cy="1164825"/>
          </a:xfrm>
          <a:prstGeom prst="bentConnector4">
            <a:avLst>
              <a:gd name="adj1" fmla="val 21730"/>
              <a:gd name="adj2" fmla="val 119625"/>
            </a:avLst>
          </a:prstGeom>
          <a:solidFill>
            <a:schemeClr val="tx2"/>
          </a:solidFill>
          <a:ln w="6350" cap="flat" cmpd="sng" algn="ctr">
            <a:solidFill>
              <a:srgbClr val="C0504D"/>
            </a:solidFill>
            <a:prstDash val="dash"/>
            <a:round/>
            <a:headEnd type="none" w="med" len="med"/>
            <a:tailEnd type="triangle" w="med" len="med"/>
          </a:ln>
          <a:effectLst/>
        </p:spPr>
      </p:cxnSp>
      <p:cxnSp>
        <p:nvCxnSpPr>
          <p:cNvPr id="200" name="Elbow Connector 110"/>
          <p:cNvCxnSpPr/>
          <p:nvPr/>
        </p:nvCxnSpPr>
        <p:spPr bwMode="auto">
          <a:xfrm rot="16200000" flipH="1">
            <a:off x="13652989" y="921742"/>
            <a:ext cx="969531" cy="3727141"/>
          </a:xfrm>
          <a:prstGeom prst="bentConnector3">
            <a:avLst>
              <a:gd name="adj1" fmla="val -23578"/>
            </a:avLst>
          </a:prstGeom>
          <a:solidFill>
            <a:schemeClr val="tx2"/>
          </a:solidFill>
          <a:ln w="6350" cap="flat" cmpd="sng" algn="ctr">
            <a:solidFill>
              <a:srgbClr val="00B0F0"/>
            </a:solidFill>
            <a:prstDash val="dash"/>
            <a:round/>
            <a:headEnd type="none" w="med" len="med"/>
            <a:tailEnd type="triangle" w="med" len="med"/>
          </a:ln>
          <a:effectLst/>
        </p:spPr>
      </p:cxnSp>
      <p:sp>
        <p:nvSpPr>
          <p:cNvPr id="315" name="Freeform 144"/>
          <p:cNvSpPr>
            <a:spLocks/>
          </p:cNvSpPr>
          <p:nvPr/>
        </p:nvSpPr>
        <p:spPr bwMode="auto">
          <a:xfrm rot="12896292">
            <a:off x="11367180" y="1686985"/>
            <a:ext cx="2121745" cy="3600016"/>
          </a:xfrm>
          <a:custGeom>
            <a:avLst/>
            <a:gdLst/>
            <a:ahLst/>
            <a:cxnLst>
              <a:cxn ang="0">
                <a:pos x="50" y="0"/>
              </a:cxn>
              <a:cxn ang="0">
                <a:pos x="0" y="120"/>
              </a:cxn>
              <a:cxn ang="0">
                <a:pos x="50" y="170"/>
              </a:cxn>
              <a:cxn ang="0">
                <a:pos x="100" y="120"/>
              </a:cxn>
              <a:cxn ang="0">
                <a:pos x="67" y="44"/>
              </a:cxn>
            </a:cxnLst>
            <a:rect l="0" t="0" r="r" b="b"/>
            <a:pathLst>
              <a:path w="100" h="170">
                <a:moveTo>
                  <a:pt x="50" y="0"/>
                </a:moveTo>
                <a:cubicBezTo>
                  <a:pt x="43" y="46"/>
                  <a:pt x="0" y="79"/>
                  <a:pt x="0" y="120"/>
                </a:cubicBezTo>
                <a:cubicBezTo>
                  <a:pt x="0" y="147"/>
                  <a:pt x="22" y="170"/>
                  <a:pt x="50" y="170"/>
                </a:cubicBezTo>
                <a:cubicBezTo>
                  <a:pt x="78" y="170"/>
                  <a:pt x="100" y="147"/>
                  <a:pt x="100" y="120"/>
                </a:cubicBezTo>
                <a:cubicBezTo>
                  <a:pt x="100" y="91"/>
                  <a:pt x="81" y="69"/>
                  <a:pt x="67" y="44"/>
                </a:cubicBezTo>
              </a:path>
            </a:pathLst>
          </a:custGeom>
          <a:solidFill>
            <a:schemeClr val="bg1"/>
          </a:solidFill>
          <a:ln w="9525" cap="rnd">
            <a:solidFill>
              <a:srgbClr val="00B0F0"/>
            </a:solidFill>
            <a:prstDash val="solid"/>
            <a:round/>
            <a:headEnd/>
            <a:tailEnd/>
          </a:ln>
        </p:spPr>
        <p:txBody>
          <a:bodyPr vert="horz" wrap="square" lIns="91440" tIns="45720" rIns="91440" bIns="45720" numCol="1" anchor="t" anchorCtr="0" compatLnSpc="1">
            <a:prstTxWarp prst="textNoShape">
              <a:avLst/>
            </a:prstTxWarp>
          </a:bodyPr>
          <a:lstStyle/>
          <a:p>
            <a:endParaRPr lang="en-US" sz="700">
              <a:solidFill>
                <a:srgbClr val="4D740F"/>
              </a:solidFill>
              <a:latin typeface="Arial" pitchFamily="34" charset="0"/>
              <a:cs typeface="Arial" pitchFamily="34" charset="0"/>
            </a:endParaRPr>
          </a:p>
        </p:txBody>
      </p:sp>
      <p:cxnSp>
        <p:nvCxnSpPr>
          <p:cNvPr id="199" name="Shape 108"/>
          <p:cNvCxnSpPr>
            <a:endCxn id="197" idx="2"/>
          </p:cNvCxnSpPr>
          <p:nvPr/>
        </p:nvCxnSpPr>
        <p:spPr bwMode="auto">
          <a:xfrm flipV="1">
            <a:off x="9479411" y="7386919"/>
            <a:ext cx="6017054" cy="654633"/>
          </a:xfrm>
          <a:prstGeom prst="bentConnector2">
            <a:avLst/>
          </a:prstGeom>
          <a:solidFill>
            <a:schemeClr val="tx2"/>
          </a:solidFill>
          <a:ln w="6350" cap="flat" cmpd="sng" algn="ctr">
            <a:solidFill>
              <a:srgbClr val="F79646"/>
            </a:solidFill>
            <a:prstDash val="dash"/>
            <a:round/>
            <a:headEnd type="none" w="med" len="med"/>
            <a:tailEnd type="triangle" w="med" len="med"/>
          </a:ln>
          <a:effectLst/>
        </p:spPr>
      </p:cxnSp>
      <p:sp>
        <p:nvSpPr>
          <p:cNvPr id="313" name="Freeform 144"/>
          <p:cNvSpPr>
            <a:spLocks/>
          </p:cNvSpPr>
          <p:nvPr/>
        </p:nvSpPr>
        <p:spPr bwMode="auto">
          <a:xfrm rot="17700219">
            <a:off x="8322529" y="5576151"/>
            <a:ext cx="2121745" cy="3600016"/>
          </a:xfrm>
          <a:custGeom>
            <a:avLst/>
            <a:gdLst/>
            <a:ahLst/>
            <a:cxnLst>
              <a:cxn ang="0">
                <a:pos x="50" y="0"/>
              </a:cxn>
              <a:cxn ang="0">
                <a:pos x="0" y="120"/>
              </a:cxn>
              <a:cxn ang="0">
                <a:pos x="50" y="170"/>
              </a:cxn>
              <a:cxn ang="0">
                <a:pos x="100" y="120"/>
              </a:cxn>
              <a:cxn ang="0">
                <a:pos x="67" y="44"/>
              </a:cxn>
            </a:cxnLst>
            <a:rect l="0" t="0" r="r" b="b"/>
            <a:pathLst>
              <a:path w="100" h="170">
                <a:moveTo>
                  <a:pt x="50" y="0"/>
                </a:moveTo>
                <a:cubicBezTo>
                  <a:pt x="43" y="46"/>
                  <a:pt x="0" y="79"/>
                  <a:pt x="0" y="120"/>
                </a:cubicBezTo>
                <a:cubicBezTo>
                  <a:pt x="0" y="147"/>
                  <a:pt x="22" y="170"/>
                  <a:pt x="50" y="170"/>
                </a:cubicBezTo>
                <a:cubicBezTo>
                  <a:pt x="78" y="170"/>
                  <a:pt x="100" y="147"/>
                  <a:pt x="100" y="120"/>
                </a:cubicBezTo>
                <a:cubicBezTo>
                  <a:pt x="100" y="91"/>
                  <a:pt x="81" y="69"/>
                  <a:pt x="67" y="44"/>
                </a:cubicBezTo>
              </a:path>
            </a:pathLst>
          </a:custGeom>
          <a:solidFill>
            <a:schemeClr val="bg1"/>
          </a:solidFill>
          <a:ln w="9525" cap="rnd">
            <a:solidFill>
              <a:srgbClr val="F79646"/>
            </a:solidFill>
            <a:prstDash val="solid"/>
            <a:round/>
            <a:headEnd/>
            <a:tailEnd/>
          </a:ln>
        </p:spPr>
        <p:txBody>
          <a:bodyPr vert="horz" wrap="square" lIns="91440" tIns="45720" rIns="91440" bIns="45720" numCol="1" anchor="t" anchorCtr="0" compatLnSpc="1">
            <a:prstTxWarp prst="textNoShape">
              <a:avLst/>
            </a:prstTxWarp>
          </a:bodyPr>
          <a:lstStyle/>
          <a:p>
            <a:endParaRPr lang="en-US" sz="700">
              <a:solidFill>
                <a:srgbClr val="4D740F"/>
              </a:solidFill>
              <a:latin typeface="Arial" pitchFamily="34" charset="0"/>
              <a:cs typeface="Arial" pitchFamily="34" charset="0"/>
            </a:endParaRPr>
          </a:p>
        </p:txBody>
      </p:sp>
      <p:sp>
        <p:nvSpPr>
          <p:cNvPr id="311" name="Freeform 144"/>
          <p:cNvSpPr>
            <a:spLocks/>
          </p:cNvSpPr>
          <p:nvPr/>
        </p:nvSpPr>
        <p:spPr bwMode="auto">
          <a:xfrm rot="2482896">
            <a:off x="4834661" y="2153409"/>
            <a:ext cx="2121745" cy="3600016"/>
          </a:xfrm>
          <a:custGeom>
            <a:avLst/>
            <a:gdLst/>
            <a:ahLst/>
            <a:cxnLst>
              <a:cxn ang="0">
                <a:pos x="50" y="0"/>
              </a:cxn>
              <a:cxn ang="0">
                <a:pos x="0" y="120"/>
              </a:cxn>
              <a:cxn ang="0">
                <a:pos x="50" y="170"/>
              </a:cxn>
              <a:cxn ang="0">
                <a:pos x="100" y="120"/>
              </a:cxn>
              <a:cxn ang="0">
                <a:pos x="67" y="44"/>
              </a:cxn>
            </a:cxnLst>
            <a:rect l="0" t="0" r="r" b="b"/>
            <a:pathLst>
              <a:path w="100" h="170">
                <a:moveTo>
                  <a:pt x="50" y="0"/>
                </a:moveTo>
                <a:cubicBezTo>
                  <a:pt x="43" y="46"/>
                  <a:pt x="0" y="79"/>
                  <a:pt x="0" y="120"/>
                </a:cubicBezTo>
                <a:cubicBezTo>
                  <a:pt x="0" y="147"/>
                  <a:pt x="22" y="170"/>
                  <a:pt x="50" y="170"/>
                </a:cubicBezTo>
                <a:cubicBezTo>
                  <a:pt x="78" y="170"/>
                  <a:pt x="100" y="147"/>
                  <a:pt x="100" y="120"/>
                </a:cubicBezTo>
                <a:cubicBezTo>
                  <a:pt x="100" y="91"/>
                  <a:pt x="81" y="69"/>
                  <a:pt x="67" y="44"/>
                </a:cubicBezTo>
              </a:path>
            </a:pathLst>
          </a:custGeom>
          <a:solidFill>
            <a:schemeClr val="bg1"/>
          </a:solidFill>
          <a:ln w="9525" cap="rnd">
            <a:solidFill>
              <a:srgbClr val="C0504D"/>
            </a:solidFill>
            <a:prstDash val="solid"/>
            <a:round/>
            <a:headEnd/>
            <a:tailEnd/>
          </a:ln>
        </p:spPr>
        <p:txBody>
          <a:bodyPr vert="horz" wrap="square" lIns="91440" tIns="45720" rIns="91440" bIns="45720" numCol="1" anchor="t" anchorCtr="0" compatLnSpc="1">
            <a:prstTxWarp prst="textNoShape">
              <a:avLst/>
            </a:prstTxWarp>
          </a:bodyPr>
          <a:lstStyle/>
          <a:p>
            <a:endParaRPr lang="en-US" sz="700">
              <a:solidFill>
                <a:srgbClr val="4D740F"/>
              </a:solidFill>
              <a:latin typeface="Arial" pitchFamily="34" charset="0"/>
              <a:cs typeface="Arial" pitchFamily="34" charset="0"/>
            </a:endParaRPr>
          </a:p>
        </p:txBody>
      </p:sp>
      <p:sp>
        <p:nvSpPr>
          <p:cNvPr id="180" name="Oval 97"/>
          <p:cNvSpPr/>
          <p:nvPr/>
        </p:nvSpPr>
        <p:spPr bwMode="auto">
          <a:xfrm>
            <a:off x="6229300" y="1394897"/>
            <a:ext cx="5809740" cy="5648956"/>
          </a:xfrm>
          <a:prstGeom prst="ellipse">
            <a:avLst/>
          </a:prstGeom>
          <a:solidFill>
            <a:schemeClr val="bg1"/>
          </a:solidFill>
          <a:ln w="25400" cap="flat" cmpd="sng" algn="ctr">
            <a:solidFill>
              <a:schemeClr val="tx2">
                <a:lumMod val="50000"/>
                <a:alpha val="39000"/>
              </a:schemeClr>
            </a:solidFill>
            <a:prstDash val="solid"/>
            <a:round/>
            <a:headEnd type="none" w="med" len="med"/>
            <a:tailEnd type="none" w="med" len="med"/>
          </a:ln>
          <a:effectLst/>
        </p:spPr>
        <p:txBody>
          <a:bodyPr vert="horz" wrap="none" lIns="182935" tIns="91467" rIns="182935" bIns="91467" numCol="1" rtlCol="0" anchor="ctr" anchorCtr="0" compatLnSpc="1">
            <a:prstTxWarp prst="textNoShape">
              <a:avLst/>
            </a:prstTxWarp>
          </a:bodyPr>
          <a:lstStyle/>
          <a:p>
            <a:pPr algn="ctr" defTabSz="1829349" eaLnBrk="0" fontAlgn="base" hangingPunct="0">
              <a:lnSpc>
                <a:spcPct val="85000"/>
              </a:lnSpc>
              <a:spcBef>
                <a:spcPct val="0"/>
              </a:spcBef>
              <a:spcAft>
                <a:spcPct val="0"/>
              </a:spcAft>
            </a:pPr>
            <a:endParaRPr lang="en-US" sz="2400" b="1" dirty="0" smtClean="0">
              <a:cs typeface="Arial" charset="0"/>
            </a:endParaRPr>
          </a:p>
        </p:txBody>
      </p:sp>
      <p:sp>
        <p:nvSpPr>
          <p:cNvPr id="195" name="TextBox 99"/>
          <p:cNvSpPr txBox="1"/>
          <p:nvPr/>
        </p:nvSpPr>
        <p:spPr>
          <a:xfrm>
            <a:off x="6958092" y="2737989"/>
            <a:ext cx="4297182" cy="923384"/>
          </a:xfrm>
          <a:prstGeom prst="rect">
            <a:avLst/>
          </a:prstGeom>
          <a:noFill/>
        </p:spPr>
        <p:txBody>
          <a:bodyPr wrap="square" lIns="182935" tIns="91467" rIns="182935" bIns="91467" rtlCol="0">
            <a:spAutoFit/>
          </a:bodyPr>
          <a:lstStyle/>
          <a:p>
            <a:pPr algn="ctr"/>
            <a:r>
              <a:rPr lang="en-US" sz="48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Cluster</a:t>
            </a:r>
            <a:r>
              <a:rPr lang="en-US" sz="28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 </a:t>
            </a:r>
            <a:r>
              <a:rPr lang="en-US" sz="48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GIS</a:t>
            </a:r>
            <a:endParaRPr lang="en-US" sz="44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endParaRPr>
          </a:p>
        </p:txBody>
      </p:sp>
      <p:sp>
        <p:nvSpPr>
          <p:cNvPr id="197" name="TextBox 106"/>
          <p:cNvSpPr txBox="1"/>
          <p:nvPr/>
        </p:nvSpPr>
        <p:spPr>
          <a:xfrm>
            <a:off x="13212928" y="6278869"/>
            <a:ext cx="4567073" cy="1108050"/>
          </a:xfrm>
          <a:prstGeom prst="rect">
            <a:avLst/>
          </a:prstGeom>
          <a:noFill/>
        </p:spPr>
        <p:txBody>
          <a:bodyPr wrap="square" lIns="182935" tIns="91467" rIns="182935" bIns="91467" rtlCol="0">
            <a:spAutoFit/>
          </a:bodyPr>
          <a:lstStyle/>
          <a:p>
            <a:pPr marL="333476" indent="-333476">
              <a:buClr>
                <a:schemeClr val="accent6"/>
              </a:buClr>
              <a:buFont typeface="Wingdings" pitchFamily="2" charset="2"/>
              <a:buChar char="§"/>
            </a:pPr>
            <a:r>
              <a:rPr lang="fr-FR" sz="2000" dirty="0" smtClean="0">
                <a:solidFill>
                  <a:schemeClr val="tx2">
                    <a:lumMod val="50000"/>
                  </a:schemeClr>
                </a:solidFill>
              </a:rPr>
              <a:t>Corrections d’anomalies</a:t>
            </a:r>
          </a:p>
          <a:p>
            <a:pPr marL="333476" indent="-333476">
              <a:buClr>
                <a:schemeClr val="accent6"/>
              </a:buClr>
              <a:buFont typeface="Wingdings" pitchFamily="2" charset="2"/>
              <a:buChar char="§"/>
            </a:pPr>
            <a:r>
              <a:rPr lang="fr-FR" sz="2000" dirty="0" smtClean="0">
                <a:solidFill>
                  <a:schemeClr val="tx2">
                    <a:lumMod val="50000"/>
                  </a:schemeClr>
                </a:solidFill>
              </a:rPr>
              <a:t>Petites évolutions</a:t>
            </a:r>
          </a:p>
          <a:p>
            <a:pPr marL="333476" indent="-333476">
              <a:buClr>
                <a:schemeClr val="accent6"/>
              </a:buClr>
              <a:buFont typeface="Wingdings" pitchFamily="2" charset="2"/>
              <a:buChar char="§"/>
            </a:pPr>
            <a:r>
              <a:rPr lang="fr-FR" sz="2000" dirty="0" smtClean="0">
                <a:solidFill>
                  <a:schemeClr val="tx2">
                    <a:lumMod val="50000"/>
                  </a:schemeClr>
                </a:solidFill>
              </a:rPr>
              <a:t>Parfois des grosses évolutions</a:t>
            </a:r>
          </a:p>
        </p:txBody>
      </p:sp>
      <p:sp>
        <p:nvSpPr>
          <p:cNvPr id="198" name="TextBox 104"/>
          <p:cNvSpPr txBox="1"/>
          <p:nvPr/>
        </p:nvSpPr>
        <p:spPr>
          <a:xfrm>
            <a:off x="13780783" y="3144734"/>
            <a:ext cx="4441085" cy="1723603"/>
          </a:xfrm>
          <a:prstGeom prst="rect">
            <a:avLst/>
          </a:prstGeom>
          <a:noFill/>
        </p:spPr>
        <p:txBody>
          <a:bodyPr wrap="square" lIns="182935" tIns="91467" rIns="182935" bIns="91467" rtlCol="0">
            <a:spAutoFit/>
          </a:bodyPr>
          <a:lstStyle/>
          <a:p>
            <a:pPr marL="333476" indent="-333476">
              <a:buClr>
                <a:schemeClr val="accent1"/>
              </a:buClr>
              <a:buFont typeface="Wingdings" pitchFamily="2" charset="2"/>
              <a:buChar char="§"/>
            </a:pPr>
            <a:r>
              <a:rPr lang="fr-FR" sz="2000" dirty="0" smtClean="0">
                <a:solidFill>
                  <a:schemeClr val="tx2">
                    <a:lumMod val="50000"/>
                  </a:schemeClr>
                </a:solidFill>
              </a:rPr>
              <a:t>15 collaborateurs</a:t>
            </a:r>
          </a:p>
          <a:p>
            <a:pPr marL="333476" indent="-333476">
              <a:buClr>
                <a:schemeClr val="accent1"/>
              </a:buClr>
              <a:buFont typeface="Wingdings" pitchFamily="2" charset="2"/>
              <a:buChar char="§"/>
            </a:pPr>
            <a:r>
              <a:rPr lang="fr-FR" sz="2000" dirty="0" smtClean="0">
                <a:solidFill>
                  <a:schemeClr val="tx2">
                    <a:lumMod val="50000"/>
                  </a:schemeClr>
                </a:solidFill>
              </a:rPr>
              <a:t>développeurs, fonctionnels, responsables d’applications, engagement manager, responsable</a:t>
            </a:r>
          </a:p>
        </p:txBody>
      </p:sp>
      <p:sp>
        <p:nvSpPr>
          <p:cNvPr id="248" name="Rectangle 247"/>
          <p:cNvSpPr/>
          <p:nvPr/>
        </p:nvSpPr>
        <p:spPr bwMode="auto">
          <a:xfrm>
            <a:off x="13368894" y="2909741"/>
            <a:ext cx="321152" cy="262519"/>
          </a:xfrm>
          <a:prstGeom prst="rect">
            <a:avLst/>
          </a:prstGeom>
          <a:noFill/>
          <a:ln w="6350" cap="flat" cmpd="sng" algn="ctr">
            <a:noFill/>
            <a:prstDash val="solid"/>
            <a:round/>
            <a:headEnd type="none" w="med" len="med"/>
            <a:tailEnd type="none" w="med" len="med"/>
          </a:ln>
          <a:effectLst/>
        </p:spPr>
        <p:txBody>
          <a:bodyPr vert="horz" wrap="none" lIns="182935" tIns="91467" rIns="182935" bIns="91467" numCol="1" rtlCol="0" anchor="ctr" anchorCtr="0" compatLnSpc="1">
            <a:prstTxWarp prst="textNoShape">
              <a:avLst/>
            </a:prstTxWarp>
          </a:bodyPr>
          <a:lstStyle/>
          <a:p>
            <a:pPr algn="ctr" defTabSz="1829349" eaLnBrk="0" fontAlgn="base" hangingPunct="0">
              <a:lnSpc>
                <a:spcPct val="85000"/>
              </a:lnSpc>
              <a:spcBef>
                <a:spcPct val="0"/>
              </a:spcBef>
              <a:spcAft>
                <a:spcPct val="0"/>
              </a:spcAft>
            </a:pPr>
            <a:endParaRPr lang="en-US" sz="2400" b="1" dirty="0" smtClean="0">
              <a:cs typeface="Arial" charset="0"/>
            </a:endParaRPr>
          </a:p>
        </p:txBody>
      </p:sp>
      <p:sp>
        <p:nvSpPr>
          <p:cNvPr id="254" name="Rectangle 253"/>
          <p:cNvSpPr/>
          <p:nvPr/>
        </p:nvSpPr>
        <p:spPr>
          <a:xfrm>
            <a:off x="432691" y="2415050"/>
            <a:ext cx="3678867" cy="1385049"/>
          </a:xfrm>
          <a:prstGeom prst="rect">
            <a:avLst/>
          </a:prstGeom>
        </p:spPr>
        <p:txBody>
          <a:bodyPr wrap="square" lIns="182935" tIns="91467" rIns="182935" bIns="91467">
            <a:spAutoFit/>
          </a:bodyPr>
          <a:lstStyle/>
          <a:p>
            <a:pPr marL="333476" indent="-333476">
              <a:buClr>
                <a:schemeClr val="accent2"/>
              </a:buClr>
              <a:buFont typeface="Wingdings" pitchFamily="2" charset="2"/>
              <a:buChar char="§"/>
            </a:pPr>
            <a:r>
              <a:rPr lang="fr-FR" sz="2000" dirty="0" smtClean="0">
                <a:solidFill>
                  <a:schemeClr val="tx2">
                    <a:lumMod val="50000"/>
                  </a:schemeClr>
                </a:solidFill>
              </a:rPr>
              <a:t>Créé il y a  3 ans et demi</a:t>
            </a:r>
          </a:p>
          <a:p>
            <a:pPr marL="333476" indent="-333476">
              <a:buClr>
                <a:schemeClr val="accent2"/>
              </a:buClr>
              <a:buFont typeface="Wingdings" pitchFamily="2" charset="2"/>
              <a:buChar char="§"/>
            </a:pPr>
            <a:r>
              <a:rPr lang="fr-FR" sz="2000" dirty="0" smtClean="0">
                <a:solidFill>
                  <a:schemeClr val="tx2">
                    <a:lumMod val="50000"/>
                  </a:schemeClr>
                </a:solidFill>
              </a:rPr>
              <a:t>Mutualiser des ressources et des projets SIG</a:t>
            </a:r>
          </a:p>
          <a:p>
            <a:pPr marL="333476" indent="-333476">
              <a:buClr>
                <a:schemeClr val="accent2"/>
              </a:buClr>
              <a:buFont typeface="Wingdings" pitchFamily="2" charset="2"/>
              <a:buChar char="§"/>
            </a:pPr>
            <a:endParaRPr lang="fr-FR" sz="1800" dirty="0" smtClean="0">
              <a:solidFill>
                <a:schemeClr val="tx2">
                  <a:lumMod val="50000"/>
                </a:schemeClr>
              </a:solidFill>
            </a:endParaRPr>
          </a:p>
        </p:txBody>
      </p:sp>
      <p:grpSp>
        <p:nvGrpSpPr>
          <p:cNvPr id="289" name="Groupe 394"/>
          <p:cNvGrpSpPr/>
          <p:nvPr/>
        </p:nvGrpSpPr>
        <p:grpSpPr>
          <a:xfrm>
            <a:off x="9474336" y="7351714"/>
            <a:ext cx="910053" cy="916820"/>
            <a:chOff x="431801" y="5376863"/>
            <a:chExt cx="427037" cy="430212"/>
          </a:xfrm>
        </p:grpSpPr>
        <p:sp>
          <p:nvSpPr>
            <p:cNvPr id="290" name="Freeform 147"/>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noFill/>
            <a:ln w="12700" cap="rnd">
              <a:solidFill>
                <a:srgbClr val="F7964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148"/>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noFill/>
            <a:ln w="12700" cap="rnd">
              <a:solidFill>
                <a:srgbClr val="F79646"/>
              </a:solidFill>
              <a:prstDash val="solid"/>
              <a:bevel/>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149"/>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noFill/>
            <a:ln w="12700" cap="rnd">
              <a:solidFill>
                <a:srgbClr val="F79646"/>
              </a:solidFill>
              <a:prstDash val="solid"/>
              <a:bevel/>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150"/>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noFill/>
            <a:ln w="12700" cap="rnd">
              <a:solidFill>
                <a:srgbClr val="F79646"/>
              </a:solidFill>
              <a:prstDash val="solid"/>
              <a:bevel/>
              <a:headEnd/>
              <a:tailEnd/>
            </a:ln>
          </p:spPr>
          <p:txBody>
            <a:bodyPr vert="horz" wrap="square" lIns="91440" tIns="45720" rIns="91440" bIns="45720" numCol="1" anchor="t" anchorCtr="0" compatLnSpc="1">
              <a:prstTxWarp prst="textNoShape">
                <a:avLst/>
              </a:prstTxWarp>
            </a:bodyPr>
            <a:lstStyle/>
            <a:p>
              <a:endParaRPr lang="en-US"/>
            </a:p>
          </p:txBody>
        </p:sp>
      </p:grpSp>
      <p:sp>
        <p:nvSpPr>
          <p:cNvPr id="76" name="Titre 78"/>
          <p:cNvSpPr txBox="1">
            <a:spLocks/>
          </p:cNvSpPr>
          <p:nvPr/>
        </p:nvSpPr>
        <p:spPr>
          <a:xfrm>
            <a:off x="914400" y="412339"/>
            <a:ext cx="16459200" cy="1371935"/>
          </a:xfrm>
          <a:prstGeom prst="rect">
            <a:avLst/>
          </a:prstGeom>
        </p:spPr>
        <p:txBody>
          <a:bodyPr/>
          <a:lstStyle>
            <a:lvl1pPr algn="l" defTabSz="912604" rtl="0" eaLnBrk="1" latinLnBrk="0" hangingPunct="1">
              <a:spcBef>
                <a:spcPct val="0"/>
              </a:spcBef>
              <a:buNone/>
              <a:defRPr sz="6400" kern="1200">
                <a:solidFill>
                  <a:srgbClr val="02AFE9"/>
                </a:solidFill>
                <a:latin typeface="+mj-lt"/>
                <a:ea typeface="+mj-ea"/>
                <a:cs typeface="Arial" pitchFamily="34" charset="0"/>
              </a:defRPr>
            </a:lvl1pPr>
          </a:lstStyle>
          <a:p>
            <a:pPr defTabSz="914490">
              <a:defRPr/>
            </a:pPr>
            <a:r>
              <a:rPr lang="fr-FR" dirty="0" smtClean="0"/>
              <a:t>Le cluster GIS</a:t>
            </a:r>
          </a:p>
        </p:txBody>
      </p:sp>
      <p:grpSp>
        <p:nvGrpSpPr>
          <p:cNvPr id="46" name="Groupe 378"/>
          <p:cNvGrpSpPr/>
          <p:nvPr/>
        </p:nvGrpSpPr>
        <p:grpSpPr>
          <a:xfrm>
            <a:off x="5160003" y="3950078"/>
            <a:ext cx="743835" cy="971712"/>
            <a:chOff x="944563" y="3408363"/>
            <a:chExt cx="274638" cy="358775"/>
          </a:xfrm>
        </p:grpSpPr>
        <p:sp>
          <p:nvSpPr>
            <p:cNvPr id="47" name="Freeform 350"/>
            <p:cNvSpPr>
              <a:spLocks/>
            </p:cNvSpPr>
            <p:nvPr/>
          </p:nvSpPr>
          <p:spPr bwMode="auto">
            <a:xfrm>
              <a:off x="1031876" y="3408363"/>
              <a:ext cx="74613" cy="50800"/>
            </a:xfrm>
            <a:custGeom>
              <a:avLst/>
              <a:gdLst/>
              <a:ahLst/>
              <a:cxnLst>
                <a:cxn ang="0">
                  <a:pos x="40" y="32"/>
                </a:cxn>
                <a:cxn ang="0">
                  <a:pos x="40" y="22"/>
                </a:cxn>
                <a:cxn ang="0">
                  <a:pos x="47" y="22"/>
                </a:cxn>
                <a:cxn ang="0">
                  <a:pos x="47" y="0"/>
                </a:cxn>
                <a:cxn ang="0">
                  <a:pos x="0" y="0"/>
                </a:cxn>
                <a:cxn ang="0">
                  <a:pos x="0" y="22"/>
                </a:cxn>
                <a:cxn ang="0">
                  <a:pos x="7" y="22"/>
                </a:cxn>
                <a:cxn ang="0">
                  <a:pos x="7" y="32"/>
                </a:cxn>
              </a:cxnLst>
              <a:rect l="0" t="0" r="r" b="b"/>
              <a:pathLst>
                <a:path w="47" h="32">
                  <a:moveTo>
                    <a:pt x="40" y="32"/>
                  </a:moveTo>
                  <a:lnTo>
                    <a:pt x="40" y="22"/>
                  </a:lnTo>
                  <a:lnTo>
                    <a:pt x="47" y="22"/>
                  </a:lnTo>
                  <a:lnTo>
                    <a:pt x="47" y="0"/>
                  </a:lnTo>
                  <a:lnTo>
                    <a:pt x="0" y="0"/>
                  </a:lnTo>
                  <a:lnTo>
                    <a:pt x="0" y="22"/>
                  </a:lnTo>
                  <a:lnTo>
                    <a:pt x="7" y="22"/>
                  </a:lnTo>
                  <a:lnTo>
                    <a:pt x="7" y="32"/>
                  </a:lnTo>
                </a:path>
              </a:pathLst>
            </a:cu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351"/>
            <p:cNvSpPr>
              <a:spLocks/>
            </p:cNvSpPr>
            <p:nvPr/>
          </p:nvSpPr>
          <p:spPr bwMode="auto">
            <a:xfrm>
              <a:off x="944563" y="3482975"/>
              <a:ext cx="250825" cy="284163"/>
            </a:xfrm>
            <a:custGeom>
              <a:avLst/>
              <a:gdLst/>
              <a:ahLst/>
              <a:cxnLst>
                <a:cxn ang="0">
                  <a:pos x="16" y="95"/>
                </a:cxn>
                <a:cxn ang="0">
                  <a:pos x="26" y="85"/>
                </a:cxn>
                <a:cxn ang="0">
                  <a:pos x="14" y="56"/>
                </a:cxn>
                <a:cxn ang="0">
                  <a:pos x="26" y="26"/>
                </a:cxn>
                <a:cxn ang="0">
                  <a:pos x="56" y="14"/>
                </a:cxn>
                <a:cxn ang="0">
                  <a:pos x="86" y="26"/>
                </a:cxn>
                <a:cxn ang="0">
                  <a:pos x="98" y="56"/>
                </a:cxn>
                <a:cxn ang="0">
                  <a:pos x="86" y="85"/>
                </a:cxn>
                <a:cxn ang="0">
                  <a:pos x="57" y="97"/>
                </a:cxn>
                <a:cxn ang="0">
                  <a:pos x="57" y="81"/>
                </a:cxn>
                <a:cxn ang="0">
                  <a:pos x="35" y="104"/>
                </a:cxn>
                <a:cxn ang="0">
                  <a:pos x="57" y="126"/>
                </a:cxn>
                <a:cxn ang="0">
                  <a:pos x="57" y="111"/>
                </a:cxn>
                <a:cxn ang="0">
                  <a:pos x="95" y="95"/>
                </a:cxn>
                <a:cxn ang="0">
                  <a:pos x="112" y="56"/>
                </a:cxn>
                <a:cxn ang="0">
                  <a:pos x="95" y="16"/>
                </a:cxn>
                <a:cxn ang="0">
                  <a:pos x="56" y="0"/>
                </a:cxn>
                <a:cxn ang="0">
                  <a:pos x="16" y="16"/>
                </a:cxn>
                <a:cxn ang="0">
                  <a:pos x="0" y="56"/>
                </a:cxn>
                <a:cxn ang="0">
                  <a:pos x="6" y="81"/>
                </a:cxn>
              </a:cxnLst>
              <a:rect l="0" t="0" r="r" b="b"/>
              <a:pathLst>
                <a:path w="112" h="126">
                  <a:moveTo>
                    <a:pt x="16" y="95"/>
                  </a:moveTo>
                  <a:cubicBezTo>
                    <a:pt x="26" y="85"/>
                    <a:pt x="26" y="85"/>
                    <a:pt x="26" y="85"/>
                  </a:cubicBezTo>
                  <a:cubicBezTo>
                    <a:pt x="18" y="77"/>
                    <a:pt x="14" y="67"/>
                    <a:pt x="14" y="56"/>
                  </a:cubicBezTo>
                  <a:cubicBezTo>
                    <a:pt x="14" y="44"/>
                    <a:pt x="18" y="34"/>
                    <a:pt x="26" y="26"/>
                  </a:cubicBezTo>
                  <a:cubicBezTo>
                    <a:pt x="34" y="18"/>
                    <a:pt x="45" y="14"/>
                    <a:pt x="56" y="14"/>
                  </a:cubicBezTo>
                  <a:cubicBezTo>
                    <a:pt x="67" y="14"/>
                    <a:pt x="78" y="18"/>
                    <a:pt x="86" y="26"/>
                  </a:cubicBezTo>
                  <a:cubicBezTo>
                    <a:pt x="93" y="34"/>
                    <a:pt x="98" y="44"/>
                    <a:pt x="98" y="56"/>
                  </a:cubicBezTo>
                  <a:cubicBezTo>
                    <a:pt x="98" y="67"/>
                    <a:pt x="93" y="77"/>
                    <a:pt x="86" y="85"/>
                  </a:cubicBezTo>
                  <a:cubicBezTo>
                    <a:pt x="78" y="93"/>
                    <a:pt x="68" y="97"/>
                    <a:pt x="57" y="97"/>
                  </a:cubicBezTo>
                  <a:cubicBezTo>
                    <a:pt x="57" y="81"/>
                    <a:pt x="57" y="81"/>
                    <a:pt x="57" y="81"/>
                  </a:cubicBezTo>
                  <a:cubicBezTo>
                    <a:pt x="35" y="104"/>
                    <a:pt x="35" y="104"/>
                    <a:pt x="35" y="104"/>
                  </a:cubicBezTo>
                  <a:cubicBezTo>
                    <a:pt x="57" y="126"/>
                    <a:pt x="57" y="126"/>
                    <a:pt x="57" y="126"/>
                  </a:cubicBezTo>
                  <a:cubicBezTo>
                    <a:pt x="57" y="111"/>
                    <a:pt x="57" y="111"/>
                    <a:pt x="57" y="111"/>
                  </a:cubicBezTo>
                  <a:cubicBezTo>
                    <a:pt x="72" y="111"/>
                    <a:pt x="85" y="105"/>
                    <a:pt x="95" y="95"/>
                  </a:cubicBezTo>
                  <a:cubicBezTo>
                    <a:pt x="106" y="85"/>
                    <a:pt x="112" y="70"/>
                    <a:pt x="112" y="56"/>
                  </a:cubicBezTo>
                  <a:cubicBezTo>
                    <a:pt x="112" y="41"/>
                    <a:pt x="106" y="27"/>
                    <a:pt x="95" y="16"/>
                  </a:cubicBezTo>
                  <a:cubicBezTo>
                    <a:pt x="85" y="6"/>
                    <a:pt x="71" y="0"/>
                    <a:pt x="56" y="0"/>
                  </a:cubicBezTo>
                  <a:cubicBezTo>
                    <a:pt x="41" y="0"/>
                    <a:pt x="27" y="6"/>
                    <a:pt x="16" y="16"/>
                  </a:cubicBezTo>
                  <a:cubicBezTo>
                    <a:pt x="6" y="27"/>
                    <a:pt x="0" y="41"/>
                    <a:pt x="0" y="56"/>
                  </a:cubicBezTo>
                  <a:cubicBezTo>
                    <a:pt x="0" y="65"/>
                    <a:pt x="2" y="74"/>
                    <a:pt x="6" y="81"/>
                  </a:cubicBezTo>
                </a:path>
              </a:pathLst>
            </a:cu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352"/>
            <p:cNvSpPr>
              <a:spLocks/>
            </p:cNvSpPr>
            <p:nvPr/>
          </p:nvSpPr>
          <p:spPr bwMode="auto">
            <a:xfrm>
              <a:off x="1160463" y="3459163"/>
              <a:ext cx="58738" cy="58738"/>
            </a:xfrm>
            <a:custGeom>
              <a:avLst/>
              <a:gdLst/>
              <a:ahLst/>
              <a:cxnLst>
                <a:cxn ang="0">
                  <a:pos x="0" y="15"/>
                </a:cxn>
                <a:cxn ang="0">
                  <a:pos x="15" y="0"/>
                </a:cxn>
                <a:cxn ang="0">
                  <a:pos x="37" y="22"/>
                </a:cxn>
                <a:cxn ang="0">
                  <a:pos x="21" y="37"/>
                </a:cxn>
              </a:cxnLst>
              <a:rect l="0" t="0" r="r" b="b"/>
              <a:pathLst>
                <a:path w="37" h="37">
                  <a:moveTo>
                    <a:pt x="0" y="15"/>
                  </a:moveTo>
                  <a:lnTo>
                    <a:pt x="15" y="0"/>
                  </a:lnTo>
                  <a:lnTo>
                    <a:pt x="37" y="22"/>
                  </a:lnTo>
                  <a:lnTo>
                    <a:pt x="21" y="37"/>
                  </a:lnTo>
                </a:path>
              </a:pathLst>
            </a:cu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Line 353"/>
            <p:cNvSpPr>
              <a:spLocks noChangeShapeType="1"/>
            </p:cNvSpPr>
            <p:nvPr/>
          </p:nvSpPr>
          <p:spPr bwMode="auto">
            <a:xfrm>
              <a:off x="1069976" y="3536950"/>
              <a:ext cx="1588" cy="69850"/>
            </a:xfrm>
            <a:prstGeom prst="line">
              <a:avLst/>
            </a:pr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Oval 354"/>
            <p:cNvSpPr>
              <a:spLocks noChangeArrowheads="1"/>
            </p:cNvSpPr>
            <p:nvPr/>
          </p:nvSpPr>
          <p:spPr bwMode="auto">
            <a:xfrm>
              <a:off x="1058863" y="3592513"/>
              <a:ext cx="25400" cy="26988"/>
            </a:xfrm>
            <a:prstGeom prst="ellipse">
              <a:avLst/>
            </a:pr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2" name="Organigramme : Connecteur 51"/>
          <p:cNvSpPr/>
          <p:nvPr/>
        </p:nvSpPr>
        <p:spPr>
          <a:xfrm>
            <a:off x="12274184" y="2478663"/>
            <a:ext cx="1101211" cy="1101208"/>
          </a:xfrm>
          <a:prstGeom prst="flowChartConnector">
            <a:avLst/>
          </a:prstGeom>
          <a:solidFill>
            <a:schemeClr val="bg1"/>
          </a:solidFill>
          <a:ln w="12700">
            <a:solidFill>
              <a:srgbClr val="828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57756" rtl="0" eaLnBrk="1" latinLnBrk="0" hangingPunct="1">
              <a:defRPr sz="1900" kern="1200">
                <a:solidFill>
                  <a:schemeClr val="lt1"/>
                </a:solidFill>
                <a:latin typeface="+mn-lt"/>
                <a:ea typeface="+mn-ea"/>
                <a:cs typeface="+mn-cs"/>
              </a:defRPr>
            </a:lvl1pPr>
            <a:lvl2pPr marL="478878" algn="l" defTabSz="957756" rtl="0" eaLnBrk="1" latinLnBrk="0" hangingPunct="1">
              <a:defRPr sz="1900" kern="1200">
                <a:solidFill>
                  <a:schemeClr val="lt1"/>
                </a:solidFill>
                <a:latin typeface="+mn-lt"/>
                <a:ea typeface="+mn-ea"/>
                <a:cs typeface="+mn-cs"/>
              </a:defRPr>
            </a:lvl2pPr>
            <a:lvl3pPr marL="957756" algn="l" defTabSz="957756" rtl="0" eaLnBrk="1" latinLnBrk="0" hangingPunct="1">
              <a:defRPr sz="1900" kern="1200">
                <a:solidFill>
                  <a:schemeClr val="lt1"/>
                </a:solidFill>
                <a:latin typeface="+mn-lt"/>
                <a:ea typeface="+mn-ea"/>
                <a:cs typeface="+mn-cs"/>
              </a:defRPr>
            </a:lvl3pPr>
            <a:lvl4pPr marL="1436634" algn="l" defTabSz="957756" rtl="0" eaLnBrk="1" latinLnBrk="0" hangingPunct="1">
              <a:defRPr sz="1900" kern="1200">
                <a:solidFill>
                  <a:schemeClr val="lt1"/>
                </a:solidFill>
                <a:latin typeface="+mn-lt"/>
                <a:ea typeface="+mn-ea"/>
                <a:cs typeface="+mn-cs"/>
              </a:defRPr>
            </a:lvl4pPr>
            <a:lvl5pPr marL="1915510" algn="l" defTabSz="957756" rtl="0" eaLnBrk="1" latinLnBrk="0" hangingPunct="1">
              <a:defRPr sz="1900" kern="1200">
                <a:solidFill>
                  <a:schemeClr val="lt1"/>
                </a:solidFill>
                <a:latin typeface="+mn-lt"/>
                <a:ea typeface="+mn-ea"/>
                <a:cs typeface="+mn-cs"/>
              </a:defRPr>
            </a:lvl5pPr>
            <a:lvl6pPr marL="2394388" algn="l" defTabSz="957756" rtl="0" eaLnBrk="1" latinLnBrk="0" hangingPunct="1">
              <a:defRPr sz="1900" kern="1200">
                <a:solidFill>
                  <a:schemeClr val="lt1"/>
                </a:solidFill>
                <a:latin typeface="+mn-lt"/>
                <a:ea typeface="+mn-ea"/>
                <a:cs typeface="+mn-cs"/>
              </a:defRPr>
            </a:lvl6pPr>
            <a:lvl7pPr marL="2873265" algn="l" defTabSz="957756" rtl="0" eaLnBrk="1" latinLnBrk="0" hangingPunct="1">
              <a:defRPr sz="1900" kern="1200">
                <a:solidFill>
                  <a:schemeClr val="lt1"/>
                </a:solidFill>
                <a:latin typeface="+mn-lt"/>
                <a:ea typeface="+mn-ea"/>
                <a:cs typeface="+mn-cs"/>
              </a:defRPr>
            </a:lvl7pPr>
            <a:lvl8pPr marL="3352143" algn="l" defTabSz="957756" rtl="0" eaLnBrk="1" latinLnBrk="0" hangingPunct="1">
              <a:defRPr sz="1900" kern="1200">
                <a:solidFill>
                  <a:schemeClr val="lt1"/>
                </a:solidFill>
                <a:latin typeface="+mn-lt"/>
                <a:ea typeface="+mn-ea"/>
                <a:cs typeface="+mn-cs"/>
              </a:defRPr>
            </a:lvl8pPr>
            <a:lvl9pPr marL="3831021" algn="l" defTabSz="957756" rtl="0" eaLnBrk="1" latinLnBrk="0" hangingPunct="1">
              <a:defRPr sz="1900" kern="1200">
                <a:solidFill>
                  <a:schemeClr val="lt1"/>
                </a:solidFill>
                <a:latin typeface="+mn-lt"/>
                <a:ea typeface="+mn-ea"/>
                <a:cs typeface="+mn-cs"/>
              </a:defRPr>
            </a:lvl9pPr>
          </a:lstStyle>
          <a:p>
            <a:pPr algn="ctr"/>
            <a:endParaRPr lang="fr-FR" sz="1600">
              <a:solidFill>
                <a:srgbClr val="828282"/>
              </a:solidFill>
            </a:endParaRPr>
          </a:p>
        </p:txBody>
      </p:sp>
      <p:grpSp>
        <p:nvGrpSpPr>
          <p:cNvPr id="53" name="Groupe 52"/>
          <p:cNvGrpSpPr/>
          <p:nvPr/>
        </p:nvGrpSpPr>
        <p:grpSpPr>
          <a:xfrm>
            <a:off x="12461726" y="2707026"/>
            <a:ext cx="687427" cy="716068"/>
            <a:chOff x="7277101" y="1771650"/>
            <a:chExt cx="381000" cy="396875"/>
          </a:xfrm>
          <a:noFill/>
        </p:grpSpPr>
        <p:sp>
          <p:nvSpPr>
            <p:cNvPr id="54" name="Freeform 496"/>
            <p:cNvSpPr>
              <a:spLocks/>
            </p:cNvSpPr>
            <p:nvPr/>
          </p:nvSpPr>
          <p:spPr bwMode="auto">
            <a:xfrm>
              <a:off x="7454901" y="1771650"/>
              <a:ext cx="203200" cy="325438"/>
            </a:xfrm>
            <a:custGeom>
              <a:avLst/>
              <a:gdLst/>
              <a:ahLst/>
              <a:cxnLst>
                <a:cxn ang="0">
                  <a:pos x="0" y="132"/>
                </a:cxn>
                <a:cxn ang="0">
                  <a:pos x="39" y="56"/>
                </a:cxn>
                <a:cxn ang="0">
                  <a:pos x="24" y="29"/>
                </a:cxn>
                <a:cxn ang="0">
                  <a:pos x="50" y="0"/>
                </a:cxn>
                <a:cxn ang="0">
                  <a:pos x="74" y="29"/>
                </a:cxn>
                <a:cxn ang="0">
                  <a:pos x="61" y="56"/>
                </a:cxn>
                <a:cxn ang="0">
                  <a:pos x="100" y="132"/>
                </a:cxn>
                <a:cxn ang="0">
                  <a:pos x="82" y="168"/>
                </a:cxn>
              </a:cxnLst>
              <a:rect l="0" t="0" r="r" b="b"/>
              <a:pathLst>
                <a:path w="105" h="168">
                  <a:moveTo>
                    <a:pt x="0" y="132"/>
                  </a:moveTo>
                  <a:cubicBezTo>
                    <a:pt x="0" y="95"/>
                    <a:pt x="10" y="64"/>
                    <a:pt x="39" y="56"/>
                  </a:cubicBezTo>
                  <a:cubicBezTo>
                    <a:pt x="32" y="50"/>
                    <a:pt x="24" y="39"/>
                    <a:pt x="24" y="29"/>
                  </a:cubicBezTo>
                  <a:cubicBezTo>
                    <a:pt x="24" y="12"/>
                    <a:pt x="35" y="0"/>
                    <a:pt x="50" y="0"/>
                  </a:cubicBezTo>
                  <a:cubicBezTo>
                    <a:pt x="63" y="0"/>
                    <a:pt x="74" y="12"/>
                    <a:pt x="74" y="29"/>
                  </a:cubicBezTo>
                  <a:cubicBezTo>
                    <a:pt x="74" y="39"/>
                    <a:pt x="68" y="50"/>
                    <a:pt x="61" y="56"/>
                  </a:cubicBezTo>
                  <a:cubicBezTo>
                    <a:pt x="91" y="64"/>
                    <a:pt x="100" y="95"/>
                    <a:pt x="100" y="132"/>
                  </a:cubicBezTo>
                  <a:cubicBezTo>
                    <a:pt x="100" y="132"/>
                    <a:pt x="105" y="164"/>
                    <a:pt x="82" y="16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5" name="Freeform 497"/>
            <p:cNvSpPr>
              <a:spLocks/>
            </p:cNvSpPr>
            <p:nvPr/>
          </p:nvSpPr>
          <p:spPr bwMode="auto">
            <a:xfrm>
              <a:off x="7524751" y="1892300"/>
              <a:ext cx="53975" cy="190500"/>
            </a:xfrm>
            <a:custGeom>
              <a:avLst/>
              <a:gdLst/>
              <a:ahLst/>
              <a:cxnLst>
                <a:cxn ang="0">
                  <a:pos x="14" y="98"/>
                </a:cxn>
                <a:cxn ang="0">
                  <a:pos x="1" y="84"/>
                </a:cxn>
                <a:cxn ang="0">
                  <a:pos x="9" y="10"/>
                </a:cxn>
                <a:cxn ang="0">
                  <a:pos x="6" y="0"/>
                </a:cxn>
                <a:cxn ang="0">
                  <a:pos x="21" y="0"/>
                </a:cxn>
                <a:cxn ang="0">
                  <a:pos x="19" y="10"/>
                </a:cxn>
                <a:cxn ang="0">
                  <a:pos x="28" y="85"/>
                </a:cxn>
                <a:cxn ang="0">
                  <a:pos x="21" y="92"/>
                </a:cxn>
              </a:cxnLst>
              <a:rect l="0" t="0" r="r" b="b"/>
              <a:pathLst>
                <a:path w="28" h="98">
                  <a:moveTo>
                    <a:pt x="14" y="98"/>
                  </a:moveTo>
                  <a:cubicBezTo>
                    <a:pt x="10" y="94"/>
                    <a:pt x="7" y="92"/>
                    <a:pt x="1" y="84"/>
                  </a:cubicBezTo>
                  <a:cubicBezTo>
                    <a:pt x="0" y="69"/>
                    <a:pt x="8" y="22"/>
                    <a:pt x="9" y="10"/>
                  </a:cubicBezTo>
                  <a:cubicBezTo>
                    <a:pt x="7" y="6"/>
                    <a:pt x="6" y="5"/>
                    <a:pt x="6" y="0"/>
                  </a:cubicBezTo>
                  <a:cubicBezTo>
                    <a:pt x="12" y="2"/>
                    <a:pt x="16" y="2"/>
                    <a:pt x="21" y="0"/>
                  </a:cubicBezTo>
                  <a:cubicBezTo>
                    <a:pt x="22" y="4"/>
                    <a:pt x="20" y="6"/>
                    <a:pt x="19" y="10"/>
                  </a:cubicBezTo>
                  <a:cubicBezTo>
                    <a:pt x="20" y="22"/>
                    <a:pt x="27" y="71"/>
                    <a:pt x="28" y="85"/>
                  </a:cubicBezTo>
                  <a:cubicBezTo>
                    <a:pt x="26" y="88"/>
                    <a:pt x="24" y="89"/>
                    <a:pt x="21" y="92"/>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6" name="Freeform 498"/>
            <p:cNvSpPr>
              <a:spLocks/>
            </p:cNvSpPr>
            <p:nvPr/>
          </p:nvSpPr>
          <p:spPr bwMode="auto">
            <a:xfrm>
              <a:off x="7288213" y="1819275"/>
              <a:ext cx="165100" cy="212725"/>
            </a:xfrm>
            <a:custGeom>
              <a:avLst/>
              <a:gdLst/>
              <a:ahLst/>
              <a:cxnLst>
                <a:cxn ang="0">
                  <a:pos x="0" y="105"/>
                </a:cxn>
                <a:cxn ang="0">
                  <a:pos x="33" y="47"/>
                </a:cxn>
                <a:cxn ang="0">
                  <a:pos x="21" y="24"/>
                </a:cxn>
                <a:cxn ang="0">
                  <a:pos x="42" y="0"/>
                </a:cxn>
                <a:cxn ang="0">
                  <a:pos x="63" y="24"/>
                </a:cxn>
                <a:cxn ang="0">
                  <a:pos x="52" y="47"/>
                </a:cxn>
                <a:cxn ang="0">
                  <a:pos x="85" y="110"/>
                </a:cxn>
              </a:cxnLst>
              <a:rect l="0" t="0" r="r" b="b"/>
              <a:pathLst>
                <a:path w="85" h="110">
                  <a:moveTo>
                    <a:pt x="0" y="105"/>
                  </a:moveTo>
                  <a:cubicBezTo>
                    <a:pt x="0" y="73"/>
                    <a:pt x="9" y="53"/>
                    <a:pt x="33" y="47"/>
                  </a:cubicBezTo>
                  <a:cubicBezTo>
                    <a:pt x="28" y="41"/>
                    <a:pt x="21" y="32"/>
                    <a:pt x="21" y="24"/>
                  </a:cubicBezTo>
                  <a:cubicBezTo>
                    <a:pt x="21" y="10"/>
                    <a:pt x="30" y="0"/>
                    <a:pt x="42" y="0"/>
                  </a:cubicBezTo>
                  <a:cubicBezTo>
                    <a:pt x="53" y="0"/>
                    <a:pt x="63" y="10"/>
                    <a:pt x="63" y="24"/>
                  </a:cubicBezTo>
                  <a:cubicBezTo>
                    <a:pt x="63" y="32"/>
                    <a:pt x="57" y="41"/>
                    <a:pt x="52" y="47"/>
                  </a:cubicBezTo>
                  <a:cubicBezTo>
                    <a:pt x="76" y="53"/>
                    <a:pt x="85" y="79"/>
                    <a:pt x="85" y="11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7" name="Freeform 499"/>
            <p:cNvSpPr>
              <a:spLocks/>
            </p:cNvSpPr>
            <p:nvPr/>
          </p:nvSpPr>
          <p:spPr bwMode="auto">
            <a:xfrm>
              <a:off x="7277101" y="2097087"/>
              <a:ext cx="111125" cy="71438"/>
            </a:xfrm>
            <a:custGeom>
              <a:avLst/>
              <a:gdLst/>
              <a:ahLst/>
              <a:cxnLst>
                <a:cxn ang="0">
                  <a:pos x="56" y="27"/>
                </a:cxn>
                <a:cxn ang="0">
                  <a:pos x="56" y="35"/>
                </a:cxn>
                <a:cxn ang="0">
                  <a:pos x="56" y="35"/>
                </a:cxn>
                <a:cxn ang="0">
                  <a:pos x="48" y="35"/>
                </a:cxn>
                <a:cxn ang="0">
                  <a:pos x="20" y="6"/>
                </a:cxn>
                <a:cxn ang="0">
                  <a:pos x="0" y="1"/>
                </a:cxn>
              </a:cxnLst>
              <a:rect l="0" t="0" r="r" b="b"/>
              <a:pathLst>
                <a:path w="58" h="37">
                  <a:moveTo>
                    <a:pt x="56" y="27"/>
                  </a:moveTo>
                  <a:cubicBezTo>
                    <a:pt x="58" y="29"/>
                    <a:pt x="58" y="32"/>
                    <a:pt x="56" y="35"/>
                  </a:cubicBezTo>
                  <a:cubicBezTo>
                    <a:pt x="56" y="35"/>
                    <a:pt x="56" y="35"/>
                    <a:pt x="56" y="35"/>
                  </a:cubicBezTo>
                  <a:cubicBezTo>
                    <a:pt x="54" y="37"/>
                    <a:pt x="50" y="37"/>
                    <a:pt x="48" y="35"/>
                  </a:cubicBezTo>
                  <a:cubicBezTo>
                    <a:pt x="48" y="35"/>
                    <a:pt x="28" y="10"/>
                    <a:pt x="20" y="6"/>
                  </a:cubicBezTo>
                  <a:cubicBezTo>
                    <a:pt x="9" y="0"/>
                    <a:pt x="0" y="1"/>
                    <a:pt x="0" y="1"/>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8" name="Freeform 500"/>
            <p:cNvSpPr>
              <a:spLocks/>
            </p:cNvSpPr>
            <p:nvPr/>
          </p:nvSpPr>
          <p:spPr bwMode="auto">
            <a:xfrm>
              <a:off x="7353301" y="2103437"/>
              <a:ext cx="55563" cy="52388"/>
            </a:xfrm>
            <a:custGeom>
              <a:avLst/>
              <a:gdLst/>
              <a:ahLst/>
              <a:cxnLst>
                <a:cxn ang="0">
                  <a:pos x="8" y="0"/>
                </a:cxn>
                <a:cxn ang="0">
                  <a:pos x="26" y="17"/>
                </a:cxn>
                <a:cxn ang="0">
                  <a:pos x="26" y="25"/>
                </a:cxn>
                <a:cxn ang="0">
                  <a:pos x="26" y="25"/>
                </a:cxn>
                <a:cxn ang="0">
                  <a:pos x="18" y="25"/>
                </a:cxn>
                <a:cxn ang="0">
                  <a:pos x="0" y="7"/>
                </a:cxn>
              </a:cxnLst>
              <a:rect l="0" t="0" r="r" b="b"/>
              <a:pathLst>
                <a:path w="28" h="27">
                  <a:moveTo>
                    <a:pt x="8" y="0"/>
                  </a:moveTo>
                  <a:cubicBezTo>
                    <a:pt x="26" y="17"/>
                    <a:pt x="26" y="17"/>
                    <a:pt x="26" y="17"/>
                  </a:cubicBezTo>
                  <a:cubicBezTo>
                    <a:pt x="28" y="19"/>
                    <a:pt x="28" y="23"/>
                    <a:pt x="26" y="25"/>
                  </a:cubicBezTo>
                  <a:cubicBezTo>
                    <a:pt x="26" y="25"/>
                    <a:pt x="26" y="25"/>
                    <a:pt x="26" y="25"/>
                  </a:cubicBezTo>
                  <a:cubicBezTo>
                    <a:pt x="24" y="27"/>
                    <a:pt x="20" y="27"/>
                    <a:pt x="18" y="25"/>
                  </a:cubicBezTo>
                  <a:cubicBezTo>
                    <a:pt x="0" y="7"/>
                    <a:pt x="0" y="7"/>
                    <a:pt x="0" y="7"/>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9" name="Freeform 501"/>
            <p:cNvSpPr>
              <a:spLocks/>
            </p:cNvSpPr>
            <p:nvPr/>
          </p:nvSpPr>
          <p:spPr bwMode="auto">
            <a:xfrm>
              <a:off x="7385051" y="2071687"/>
              <a:ext cx="68263" cy="69850"/>
            </a:xfrm>
            <a:custGeom>
              <a:avLst/>
              <a:gdLst/>
              <a:ahLst/>
              <a:cxnLst>
                <a:cxn ang="0">
                  <a:pos x="11" y="0"/>
                </a:cxn>
                <a:cxn ang="0">
                  <a:pos x="32" y="26"/>
                </a:cxn>
                <a:cxn ang="0">
                  <a:pos x="32" y="34"/>
                </a:cxn>
                <a:cxn ang="0">
                  <a:pos x="32" y="34"/>
                </a:cxn>
                <a:cxn ang="0">
                  <a:pos x="25" y="34"/>
                </a:cxn>
                <a:cxn ang="0">
                  <a:pos x="0" y="9"/>
                </a:cxn>
              </a:cxnLst>
              <a:rect l="0" t="0" r="r" b="b"/>
              <a:pathLst>
                <a:path w="35" h="36">
                  <a:moveTo>
                    <a:pt x="11" y="0"/>
                  </a:moveTo>
                  <a:cubicBezTo>
                    <a:pt x="32" y="26"/>
                    <a:pt x="32" y="26"/>
                    <a:pt x="32" y="26"/>
                  </a:cubicBezTo>
                  <a:cubicBezTo>
                    <a:pt x="35" y="29"/>
                    <a:pt x="35" y="32"/>
                    <a:pt x="32" y="34"/>
                  </a:cubicBezTo>
                  <a:cubicBezTo>
                    <a:pt x="32" y="34"/>
                    <a:pt x="32" y="34"/>
                    <a:pt x="32" y="34"/>
                  </a:cubicBezTo>
                  <a:cubicBezTo>
                    <a:pt x="30" y="36"/>
                    <a:pt x="27" y="36"/>
                    <a:pt x="25" y="34"/>
                  </a:cubicBezTo>
                  <a:cubicBezTo>
                    <a:pt x="0" y="9"/>
                    <a:pt x="0" y="9"/>
                    <a:pt x="0" y="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2" name="Freeform 502"/>
            <p:cNvSpPr>
              <a:spLocks/>
            </p:cNvSpPr>
            <p:nvPr/>
          </p:nvSpPr>
          <p:spPr bwMode="auto">
            <a:xfrm>
              <a:off x="7331076" y="2024062"/>
              <a:ext cx="171450" cy="58738"/>
            </a:xfrm>
            <a:custGeom>
              <a:avLst/>
              <a:gdLst/>
              <a:ahLst/>
              <a:cxnLst>
                <a:cxn ang="0">
                  <a:pos x="89" y="5"/>
                </a:cxn>
                <a:cxn ang="0">
                  <a:pos x="69" y="13"/>
                </a:cxn>
                <a:cxn ang="0">
                  <a:pos x="37" y="0"/>
                </a:cxn>
                <a:cxn ang="0">
                  <a:pos x="4" y="14"/>
                </a:cxn>
                <a:cxn ang="0">
                  <a:pos x="1" y="21"/>
                </a:cxn>
                <a:cxn ang="0">
                  <a:pos x="1" y="21"/>
                </a:cxn>
                <a:cxn ang="0">
                  <a:pos x="8" y="24"/>
                </a:cxn>
                <a:cxn ang="0">
                  <a:pos x="31" y="15"/>
                </a:cxn>
                <a:cxn ang="0">
                  <a:pos x="50" y="29"/>
                </a:cxn>
                <a:cxn ang="0">
                  <a:pos x="62" y="29"/>
                </a:cxn>
              </a:cxnLst>
              <a:rect l="0" t="0" r="r" b="b"/>
              <a:pathLst>
                <a:path w="89" h="30">
                  <a:moveTo>
                    <a:pt x="89" y="5"/>
                  </a:moveTo>
                  <a:cubicBezTo>
                    <a:pt x="89" y="5"/>
                    <a:pt x="75" y="13"/>
                    <a:pt x="69" y="13"/>
                  </a:cubicBezTo>
                  <a:cubicBezTo>
                    <a:pt x="60" y="12"/>
                    <a:pt x="46" y="1"/>
                    <a:pt x="37" y="0"/>
                  </a:cubicBezTo>
                  <a:cubicBezTo>
                    <a:pt x="31" y="0"/>
                    <a:pt x="4" y="14"/>
                    <a:pt x="4" y="14"/>
                  </a:cubicBezTo>
                  <a:cubicBezTo>
                    <a:pt x="1" y="15"/>
                    <a:pt x="0" y="19"/>
                    <a:pt x="1" y="21"/>
                  </a:cubicBezTo>
                  <a:cubicBezTo>
                    <a:pt x="1" y="21"/>
                    <a:pt x="1" y="21"/>
                    <a:pt x="1" y="21"/>
                  </a:cubicBezTo>
                  <a:cubicBezTo>
                    <a:pt x="2" y="24"/>
                    <a:pt x="6" y="25"/>
                    <a:pt x="8" y="24"/>
                  </a:cubicBezTo>
                  <a:cubicBezTo>
                    <a:pt x="31" y="15"/>
                    <a:pt x="31" y="15"/>
                    <a:pt x="31" y="15"/>
                  </a:cubicBezTo>
                  <a:cubicBezTo>
                    <a:pt x="31" y="15"/>
                    <a:pt x="41" y="27"/>
                    <a:pt x="50" y="29"/>
                  </a:cubicBezTo>
                  <a:cubicBezTo>
                    <a:pt x="58" y="30"/>
                    <a:pt x="62" y="29"/>
                    <a:pt x="62" y="2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3" name="Freeform 503"/>
            <p:cNvSpPr>
              <a:spLocks/>
            </p:cNvSpPr>
            <p:nvPr/>
          </p:nvSpPr>
          <p:spPr bwMode="auto">
            <a:xfrm>
              <a:off x="7405688" y="2125662"/>
              <a:ext cx="19050" cy="19050"/>
            </a:xfrm>
            <a:custGeom>
              <a:avLst/>
              <a:gdLst/>
              <a:ahLst/>
              <a:cxnLst>
                <a:cxn ang="0">
                  <a:pos x="8" y="0"/>
                </a:cxn>
                <a:cxn ang="0">
                  <a:pos x="8" y="8"/>
                </a:cxn>
                <a:cxn ang="0">
                  <a:pos x="8" y="8"/>
                </a:cxn>
                <a:cxn ang="0">
                  <a:pos x="0" y="8"/>
                </a:cxn>
              </a:cxnLst>
              <a:rect l="0" t="0" r="r" b="b"/>
              <a:pathLst>
                <a:path w="10" h="10">
                  <a:moveTo>
                    <a:pt x="8" y="0"/>
                  </a:moveTo>
                  <a:cubicBezTo>
                    <a:pt x="10" y="2"/>
                    <a:pt x="10" y="6"/>
                    <a:pt x="8" y="8"/>
                  </a:cubicBezTo>
                  <a:cubicBezTo>
                    <a:pt x="8" y="8"/>
                    <a:pt x="8" y="8"/>
                    <a:pt x="8" y="8"/>
                  </a:cubicBezTo>
                  <a:cubicBezTo>
                    <a:pt x="6" y="10"/>
                    <a:pt x="2" y="10"/>
                    <a:pt x="0" y="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4" name="Freeform 504"/>
            <p:cNvSpPr>
              <a:spLocks/>
            </p:cNvSpPr>
            <p:nvPr/>
          </p:nvSpPr>
          <p:spPr bwMode="auto">
            <a:xfrm>
              <a:off x="7445376" y="2097087"/>
              <a:ext cx="168275" cy="20638"/>
            </a:xfrm>
            <a:custGeom>
              <a:avLst/>
              <a:gdLst/>
              <a:ahLst/>
              <a:cxnLst>
                <a:cxn ang="0">
                  <a:pos x="0" y="11"/>
                </a:cxn>
                <a:cxn ang="0">
                  <a:pos x="87" y="0"/>
                </a:cxn>
              </a:cxnLst>
              <a:rect l="0" t="0" r="r" b="b"/>
              <a:pathLst>
                <a:path w="87" h="11">
                  <a:moveTo>
                    <a:pt x="0" y="11"/>
                  </a:moveTo>
                  <a:cubicBezTo>
                    <a:pt x="0" y="11"/>
                    <a:pt x="80" y="9"/>
                    <a:pt x="87" y="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5" name="Freeform 505"/>
            <p:cNvSpPr>
              <a:spLocks/>
            </p:cNvSpPr>
            <p:nvPr/>
          </p:nvSpPr>
          <p:spPr bwMode="auto">
            <a:xfrm>
              <a:off x="7286626" y="2022475"/>
              <a:ext cx="92075" cy="22225"/>
            </a:xfrm>
            <a:custGeom>
              <a:avLst/>
              <a:gdLst/>
              <a:ahLst/>
              <a:cxnLst>
                <a:cxn ang="0">
                  <a:pos x="0" y="0"/>
                </a:cxn>
                <a:cxn ang="0">
                  <a:pos x="48" y="5"/>
                </a:cxn>
              </a:cxnLst>
              <a:rect l="0" t="0" r="r" b="b"/>
              <a:pathLst>
                <a:path w="48" h="11">
                  <a:moveTo>
                    <a:pt x="0" y="0"/>
                  </a:moveTo>
                  <a:cubicBezTo>
                    <a:pt x="0" y="11"/>
                    <a:pt x="48" y="5"/>
                    <a:pt x="48" y="5"/>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grpSp>
      <p:sp>
        <p:nvSpPr>
          <p:cNvPr id="66" name="ZoneTexte 65"/>
          <p:cNvSpPr txBox="1"/>
          <p:nvPr/>
        </p:nvSpPr>
        <p:spPr>
          <a:xfrm>
            <a:off x="6551712" y="4508311"/>
            <a:ext cx="5184576" cy="707886"/>
          </a:xfrm>
          <a:prstGeom prst="rect">
            <a:avLst/>
          </a:prstGeom>
          <a:noFill/>
        </p:spPr>
        <p:txBody>
          <a:bodyPr wrap="square" rtlCol="0">
            <a:spAutoFit/>
          </a:bodyPr>
          <a:lstStyle/>
          <a:p>
            <a:pPr algn="ctr"/>
            <a:r>
              <a:rPr lang="fr-FR" sz="40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Des projets en TMA</a:t>
            </a:r>
          </a:p>
        </p:txBody>
      </p:sp>
    </p:spTree>
    <p:extLst>
      <p:ext uri="{BB962C8B-B14F-4D97-AF65-F5344CB8AC3E}">
        <p14:creationId xmlns:p14="http://schemas.microsoft.com/office/powerpoint/2010/main" val="3979371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5448300" y="3996134"/>
            <a:ext cx="12839700" cy="2207080"/>
          </a:xfrm>
        </p:spPr>
        <p:txBody>
          <a:bodyPr/>
          <a:lstStyle/>
          <a:p>
            <a:r>
              <a:rPr lang="fr-FR" dirty="0"/>
              <a:t>2. Mon projet de stage</a:t>
            </a:r>
            <a:br>
              <a:rPr lang="fr-FR" dirty="0"/>
            </a:br>
            <a:endParaRPr lang="fr-FR" dirty="0"/>
          </a:p>
        </p:txBody>
      </p:sp>
    </p:spTree>
    <p:extLst>
      <p:ext uri="{BB962C8B-B14F-4D97-AF65-F5344CB8AC3E}">
        <p14:creationId xmlns:p14="http://schemas.microsoft.com/office/powerpoint/2010/main" val="1750019402"/>
      </p:ext>
    </p:extLst>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idx="4294967295"/>
          </p:nvPr>
        </p:nvSpPr>
        <p:spPr>
          <a:xfrm>
            <a:off x="0" y="-446088"/>
            <a:ext cx="16459200" cy="1717676"/>
          </a:xfrm>
        </p:spPr>
        <p:txBody>
          <a:bodyPr/>
          <a:lstStyle/>
          <a:p>
            <a:r>
              <a:rPr lang="fr-FR" dirty="0"/>
              <a:t>Mon projet de stage</a:t>
            </a:r>
          </a:p>
        </p:txBody>
      </p:sp>
      <p:sp>
        <p:nvSpPr>
          <p:cNvPr id="3" name="ZoneTexte 2"/>
          <p:cNvSpPr txBox="1"/>
          <p:nvPr/>
        </p:nvSpPr>
        <p:spPr>
          <a:xfrm>
            <a:off x="806542" y="971798"/>
            <a:ext cx="17619240" cy="5509200"/>
          </a:xfrm>
          <a:prstGeom prst="rect">
            <a:avLst/>
          </a:prstGeom>
          <a:noFill/>
        </p:spPr>
        <p:txBody>
          <a:bodyPr wrap="square" rtlCol="0">
            <a:spAutoFit/>
          </a:bodyPr>
          <a:lstStyle/>
          <a:p>
            <a:pPr marL="1655784" lvl="1" indent="-742950"/>
            <a:r>
              <a:rPr lang="fr-FR" dirty="0" smtClean="0"/>
              <a:t>2.1 </a:t>
            </a:r>
            <a:r>
              <a:rPr lang="fr-FR" dirty="0"/>
              <a:t>Projet </a:t>
            </a:r>
            <a:r>
              <a:rPr lang="fr-FR" dirty="0" smtClean="0"/>
              <a:t>SERT</a:t>
            </a:r>
          </a:p>
          <a:p>
            <a:pPr marL="1655784" lvl="1" indent="-742950"/>
            <a:endParaRPr lang="fr-FR" dirty="0"/>
          </a:p>
          <a:p>
            <a:pPr marL="1655784" lvl="1" indent="-742950"/>
            <a:r>
              <a:rPr lang="fr-FR" dirty="0" smtClean="0"/>
              <a:t>2.2 </a:t>
            </a:r>
            <a:r>
              <a:rPr lang="fr-FR" dirty="0"/>
              <a:t>Analyse de </a:t>
            </a:r>
            <a:r>
              <a:rPr lang="fr-FR" dirty="0" smtClean="0"/>
              <a:t>l’existant</a:t>
            </a:r>
          </a:p>
          <a:p>
            <a:pPr marL="1655784" lvl="1" indent="-742950"/>
            <a:endParaRPr lang="fr-FR" dirty="0"/>
          </a:p>
          <a:p>
            <a:pPr marL="1655784" lvl="1" indent="-742950"/>
            <a:r>
              <a:rPr lang="fr-FR" dirty="0" smtClean="0"/>
              <a:t>2.3 </a:t>
            </a:r>
            <a:r>
              <a:rPr lang="fr-FR" dirty="0"/>
              <a:t>Objectifs du </a:t>
            </a:r>
            <a:r>
              <a:rPr lang="fr-FR" dirty="0" smtClean="0"/>
              <a:t>projet</a:t>
            </a:r>
          </a:p>
          <a:p>
            <a:pPr marL="1655784" lvl="1" indent="-742950"/>
            <a:endParaRPr lang="fr-FR" dirty="0"/>
          </a:p>
          <a:p>
            <a:pPr marL="1655784" lvl="1" indent="-742950"/>
            <a:r>
              <a:rPr lang="fr-FR" dirty="0" smtClean="0"/>
              <a:t>2.4 </a:t>
            </a:r>
            <a:r>
              <a:rPr lang="fr-FR" dirty="0"/>
              <a:t>Missions</a:t>
            </a:r>
          </a:p>
          <a:p>
            <a:pPr marL="1655784" lvl="1" indent="-742950"/>
            <a:endParaRPr lang="fr-FR" sz="2800" dirty="0" smtClean="0"/>
          </a:p>
          <a:p>
            <a:pPr marL="742950" indent="-742950">
              <a:buAutoNum type="arabicPeriod"/>
            </a:pPr>
            <a:endParaRPr lang="fr-FR" dirty="0" smtClean="0"/>
          </a:p>
          <a:p>
            <a:pPr marL="742950" indent="-742950">
              <a:buAutoNum type="arabicPeriod"/>
            </a:pPr>
            <a:endParaRPr lang="fr-FR" dirty="0"/>
          </a:p>
        </p:txBody>
      </p:sp>
    </p:spTree>
    <p:extLst>
      <p:ext uri="{BB962C8B-B14F-4D97-AF65-F5344CB8AC3E}">
        <p14:creationId xmlns:p14="http://schemas.microsoft.com/office/powerpoint/2010/main" val="4128675659"/>
      </p:ext>
    </p:extLst>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187822"/>
            <a:ext cx="17857984" cy="7992888"/>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2.1 Le projet SERT</a:t>
            </a:r>
          </a:p>
        </p:txBody>
      </p:sp>
      <p:sp>
        <p:nvSpPr>
          <p:cNvPr id="4" name="Espace réservé du contenu 3"/>
          <p:cNvSpPr>
            <a:spLocks noGrp="1"/>
          </p:cNvSpPr>
          <p:nvPr>
            <p:ph sz="quarter" idx="10"/>
          </p:nvPr>
        </p:nvSpPr>
        <p:spPr>
          <a:xfrm>
            <a:off x="215008" y="1259830"/>
            <a:ext cx="17857984" cy="6692243"/>
          </a:xfrm>
        </p:spPr>
        <p:txBody>
          <a:bodyPr>
            <a:normAutofit/>
          </a:bodyPr>
          <a:lstStyle/>
          <a:p>
            <a:pPr marL="165100" lvl="1" indent="-165100" algn="just">
              <a:buClr>
                <a:srgbClr val="0098C7"/>
              </a:buClr>
            </a:pPr>
            <a:r>
              <a:rPr lang="fr-FR" sz="4800" dirty="0" smtClean="0">
                <a:solidFill>
                  <a:srgbClr val="828282"/>
                </a:solidFill>
                <a:latin typeface="+mn-lt"/>
                <a:ea typeface="+mn-ea"/>
                <a:cs typeface="+mn-cs"/>
              </a:rPr>
              <a:t> </a:t>
            </a:r>
            <a:r>
              <a:rPr lang="fr-FR" sz="4800" dirty="0">
                <a:solidFill>
                  <a:srgbClr val="828282"/>
                </a:solidFill>
                <a:latin typeface="+mn-lt"/>
                <a:ea typeface="+mn-ea"/>
                <a:cs typeface="+mn-cs"/>
              </a:rPr>
              <a:t>SERT ou « Système d’Edition des régimes de champs de Tir » est un </a:t>
            </a:r>
            <a:r>
              <a:rPr lang="fr-FR" sz="4800">
                <a:solidFill>
                  <a:srgbClr val="828282"/>
                </a:solidFill>
                <a:latin typeface="+mn-lt"/>
                <a:ea typeface="+mn-ea"/>
                <a:cs typeface="+mn-cs"/>
              </a:rPr>
              <a:t>logiciel </a:t>
            </a:r>
            <a:r>
              <a:rPr lang="fr-FR" sz="4800" smtClean="0">
                <a:solidFill>
                  <a:srgbClr val="828282"/>
                </a:solidFill>
                <a:latin typeface="+mn-lt"/>
                <a:ea typeface="+mn-ea"/>
                <a:cs typeface="+mn-cs"/>
              </a:rPr>
              <a:t>dont le </a:t>
            </a:r>
            <a:r>
              <a:rPr lang="fr-FR" sz="4800" dirty="0" smtClean="0">
                <a:solidFill>
                  <a:srgbClr val="828282"/>
                </a:solidFill>
                <a:latin typeface="+mn-lt"/>
                <a:ea typeface="+mn-ea"/>
                <a:cs typeface="+mn-cs"/>
              </a:rPr>
              <a:t>DECST (</a:t>
            </a:r>
            <a:r>
              <a:rPr lang="fr-FR" sz="4800" dirty="0"/>
              <a:t>Département d’Expertise Champs et Stands de </a:t>
            </a:r>
            <a:r>
              <a:rPr lang="fr-FR" sz="4800" dirty="0" smtClean="0"/>
              <a:t>Tir)</a:t>
            </a:r>
            <a:r>
              <a:rPr lang="fr-FR" sz="4800" dirty="0" smtClean="0">
                <a:solidFill>
                  <a:srgbClr val="828282"/>
                </a:solidFill>
                <a:latin typeface="+mn-lt"/>
                <a:ea typeface="+mn-ea"/>
                <a:cs typeface="+mn-cs"/>
              </a:rPr>
              <a:t> </a:t>
            </a:r>
            <a:r>
              <a:rPr lang="fr-FR" sz="4800" dirty="0">
                <a:solidFill>
                  <a:srgbClr val="828282"/>
                </a:solidFill>
                <a:latin typeface="+mn-lt"/>
                <a:ea typeface="+mn-ea"/>
                <a:cs typeface="+mn-cs"/>
              </a:rPr>
              <a:t>du ministère de la défense s’est doté en </a:t>
            </a:r>
            <a:r>
              <a:rPr lang="fr-FR" sz="4800" dirty="0" smtClean="0">
                <a:solidFill>
                  <a:srgbClr val="828282"/>
                </a:solidFill>
                <a:latin typeface="+mn-lt"/>
                <a:ea typeface="+mn-ea"/>
                <a:cs typeface="+mn-cs"/>
              </a:rPr>
              <a:t>2014.</a:t>
            </a:r>
          </a:p>
          <a:p>
            <a:pPr marL="0" lvl="1" indent="0" algn="just">
              <a:buClr>
                <a:srgbClr val="0098C7"/>
              </a:buClr>
              <a:buNone/>
            </a:pPr>
            <a:endParaRPr lang="fr-FR" sz="4800" dirty="0" smtClean="0">
              <a:solidFill>
                <a:srgbClr val="828282"/>
              </a:solidFill>
              <a:latin typeface="+mn-lt"/>
              <a:ea typeface="+mn-ea"/>
              <a:cs typeface="+mn-cs"/>
            </a:endParaRPr>
          </a:p>
          <a:p>
            <a:pPr marL="165100" lvl="1" indent="-165100" algn="just">
              <a:buClr>
                <a:srgbClr val="0098C7"/>
              </a:buClr>
            </a:pPr>
            <a:r>
              <a:rPr lang="fr-FR" sz="4800" dirty="0" smtClean="0">
                <a:solidFill>
                  <a:srgbClr val="828282"/>
                </a:solidFill>
                <a:latin typeface="+mn-lt"/>
                <a:ea typeface="+mn-ea"/>
                <a:cs typeface="+mn-cs"/>
              </a:rPr>
              <a:t>Un régime de champ de tir est une notice d’emploi qui décrit:</a:t>
            </a:r>
          </a:p>
          <a:p>
            <a:pPr marL="963639" lvl="2" indent="-165100" algn="just">
              <a:buClr>
                <a:srgbClr val="0098C7"/>
              </a:buClr>
            </a:pPr>
            <a:r>
              <a:rPr lang="fr-FR" sz="4800" dirty="0">
                <a:solidFill>
                  <a:srgbClr val="828282"/>
                </a:solidFill>
                <a:latin typeface="+mn-lt"/>
                <a:ea typeface="+mn-ea"/>
                <a:cs typeface="+mn-cs"/>
              </a:rPr>
              <a:t> </a:t>
            </a:r>
            <a:r>
              <a:rPr lang="fr-FR" sz="4800" dirty="0"/>
              <a:t>quelles positions et vers quels objectifs, avec quelles armes et munitions le tir est </a:t>
            </a:r>
            <a:r>
              <a:rPr lang="fr-FR" sz="4800" dirty="0" smtClean="0"/>
              <a:t>autorisé</a:t>
            </a:r>
            <a:r>
              <a:rPr lang="fr-FR" sz="4800" dirty="0"/>
              <a:t>;</a:t>
            </a:r>
            <a:endParaRPr lang="fr-FR" sz="4800" dirty="0" smtClean="0"/>
          </a:p>
          <a:p>
            <a:pPr marL="963639" lvl="2" indent="-165100" algn="just">
              <a:buClr>
                <a:srgbClr val="0098C7"/>
              </a:buClr>
            </a:pPr>
            <a:r>
              <a:rPr lang="fr-FR" sz="4800" dirty="0" smtClean="0"/>
              <a:t> les </a:t>
            </a:r>
            <a:r>
              <a:rPr lang="fr-FR" sz="4800" dirty="0"/>
              <a:t>zones </a:t>
            </a:r>
            <a:r>
              <a:rPr lang="fr-FR" sz="4800" dirty="0" smtClean="0"/>
              <a:t>dangereuses et </a:t>
            </a:r>
            <a:r>
              <a:rPr lang="fr-FR" sz="4800" dirty="0"/>
              <a:t>les mesures de sécurité à </a:t>
            </a:r>
            <a:r>
              <a:rPr lang="fr-FR" sz="4800" dirty="0" smtClean="0"/>
              <a:t>prendre.</a:t>
            </a:r>
            <a:endParaRPr lang="fr-FR" sz="4800" dirty="0" smtClean="0">
              <a:solidFill>
                <a:srgbClr val="828282"/>
              </a:solidFill>
              <a:latin typeface="+mn-lt"/>
              <a:ea typeface="+mn-ea"/>
              <a:cs typeface="+mn-cs"/>
            </a:endParaRPr>
          </a:p>
          <a:p>
            <a:endParaRPr lang="fr-FR" dirty="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6188770" cy="1173509"/>
          </a:xfrm>
        </p:spPr>
        <p:txBody>
          <a:bodyPr>
            <a:noAutofit/>
          </a:bodyPr>
          <a:lstStyle/>
          <a:p>
            <a:pPr defTabSz="1558521">
              <a:lnSpc>
                <a:spcPct val="85000"/>
              </a:lnSpc>
            </a:pPr>
            <a:r>
              <a:rPr lang="fr-FR" sz="5400" dirty="0" smtClean="0"/>
              <a:t>2.1 Le projet SERT</a:t>
            </a:r>
          </a:p>
        </p:txBody>
      </p:sp>
      <p:pic>
        <p:nvPicPr>
          <p:cNvPr id="6" name="Image 5"/>
          <p:cNvPicPr/>
          <p:nvPr/>
        </p:nvPicPr>
        <p:blipFill>
          <a:blip r:embed="rId3"/>
          <a:stretch>
            <a:fillRect/>
          </a:stretch>
        </p:blipFill>
        <p:spPr>
          <a:xfrm>
            <a:off x="372716" y="1763886"/>
            <a:ext cx="17353928" cy="7560839"/>
          </a:xfrm>
          <a:prstGeom prst="rect">
            <a:avLst/>
          </a:prstGeom>
        </p:spPr>
      </p:pic>
      <p:sp>
        <p:nvSpPr>
          <p:cNvPr id="7" name="Titre 1"/>
          <p:cNvSpPr txBox="1">
            <a:spLocks/>
          </p:cNvSpPr>
          <p:nvPr/>
        </p:nvSpPr>
        <p:spPr>
          <a:xfrm>
            <a:off x="390426" y="1107243"/>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Cas d’utilisation de SERT</a:t>
            </a:r>
            <a:endParaRPr lang="fr-FR" sz="3200" b="1" dirty="0">
              <a:ea typeface="+mn-ea"/>
              <a:cs typeface="Segoe" pitchFamily="34" charset="0"/>
            </a:endParaRPr>
          </a:p>
        </p:txBody>
      </p:sp>
    </p:spTree>
    <p:extLst>
      <p:ext uri="{BB962C8B-B14F-4D97-AF65-F5344CB8AC3E}">
        <p14:creationId xmlns:p14="http://schemas.microsoft.com/office/powerpoint/2010/main" val="3963639734"/>
      </p:ext>
    </p:extLst>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7052866" cy="1173509"/>
          </a:xfrm>
        </p:spPr>
        <p:txBody>
          <a:bodyPr>
            <a:noAutofit/>
          </a:bodyPr>
          <a:lstStyle/>
          <a:p>
            <a:pPr defTabSz="1558521">
              <a:lnSpc>
                <a:spcPct val="85000"/>
              </a:lnSpc>
            </a:pPr>
            <a:r>
              <a:rPr lang="fr-FR" sz="5400" dirty="0" smtClean="0"/>
              <a:t>2.2 Analyse de l’existant</a:t>
            </a:r>
          </a:p>
        </p:txBody>
      </p:sp>
      <p:sp>
        <p:nvSpPr>
          <p:cNvPr id="7" name="Titre 1"/>
          <p:cNvSpPr txBox="1">
            <a:spLocks/>
          </p:cNvSpPr>
          <p:nvPr/>
        </p:nvSpPr>
        <p:spPr>
          <a:xfrm>
            <a:off x="8063880" y="25171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Fonctionnement actuel</a:t>
            </a:r>
            <a:endParaRPr lang="fr-FR" sz="3200" b="1" dirty="0">
              <a:ea typeface="+mn-ea"/>
              <a:cs typeface="Segoe" pitchFamily="34" charset="0"/>
            </a:endParaRPr>
          </a:p>
        </p:txBody>
      </p:sp>
      <p:pic>
        <p:nvPicPr>
          <p:cNvPr id="2" name="Image 1"/>
          <p:cNvPicPr>
            <a:picLocks noChangeAspect="1"/>
          </p:cNvPicPr>
          <p:nvPr/>
        </p:nvPicPr>
        <p:blipFill>
          <a:blip r:embed="rId2"/>
          <a:stretch>
            <a:fillRect/>
          </a:stretch>
        </p:blipFill>
        <p:spPr>
          <a:xfrm>
            <a:off x="3671392" y="810519"/>
            <a:ext cx="12601400" cy="8586215"/>
          </a:xfrm>
          <a:prstGeom prst="rect">
            <a:avLst/>
          </a:prstGeom>
        </p:spPr>
      </p:pic>
      <p:sp>
        <p:nvSpPr>
          <p:cNvPr id="4" name="Rectangle 3"/>
          <p:cNvSpPr/>
          <p:nvPr/>
        </p:nvSpPr>
        <p:spPr>
          <a:xfrm>
            <a:off x="7703840" y="1187822"/>
            <a:ext cx="4932040" cy="417422"/>
          </a:xfrm>
          <a:prstGeom prst="rect">
            <a:avLst/>
          </a:prstGeom>
        </p:spPr>
        <p:txBody>
          <a:bodyPr wrap="square">
            <a:spAutoFit/>
          </a:bodyPr>
          <a:lstStyle/>
          <a:p>
            <a:pPr algn="just">
              <a:lnSpc>
                <a:spcPct val="150000"/>
              </a:lnSpc>
              <a:spcAft>
                <a:spcPts val="800"/>
              </a:spcAft>
            </a:pPr>
            <a:r>
              <a:rPr lang="fr-FR" sz="1600" dirty="0">
                <a:latin typeface="Times New Roman" panose="02020603050405020304" pitchFamily="18" charset="0"/>
                <a:ea typeface="Calibri" panose="020F0502020204030204" pitchFamily="34" charset="0"/>
                <a:cs typeface="Times New Roman" panose="02020603050405020304" pitchFamily="18" charset="0"/>
              </a:rPr>
              <a:t>Etablissement du Service d'Infrastructure de la Défense</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7406288"/>
      </p:ext>
    </p:extLst>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7052866" cy="1173509"/>
          </a:xfrm>
        </p:spPr>
        <p:txBody>
          <a:bodyPr>
            <a:noAutofit/>
          </a:bodyPr>
          <a:lstStyle/>
          <a:p>
            <a:pPr defTabSz="1558521">
              <a:lnSpc>
                <a:spcPct val="85000"/>
              </a:lnSpc>
            </a:pPr>
            <a:r>
              <a:rPr lang="fr-FR" sz="5400" dirty="0" smtClean="0"/>
              <a:t>2.2 Analyse de l’existant</a:t>
            </a:r>
          </a:p>
        </p:txBody>
      </p:sp>
      <p:sp>
        <p:nvSpPr>
          <p:cNvPr id="7" name="Titre 1"/>
          <p:cNvSpPr txBox="1">
            <a:spLocks/>
          </p:cNvSpPr>
          <p:nvPr/>
        </p:nvSpPr>
        <p:spPr>
          <a:xfrm>
            <a:off x="268672" y="924842"/>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Fonctionnement actuel</a:t>
            </a:r>
            <a:endParaRPr lang="fr-FR" sz="3200" b="1" dirty="0">
              <a:ea typeface="+mn-ea"/>
              <a:cs typeface="Segoe" pitchFamily="34" charset="0"/>
            </a:endParaRPr>
          </a:p>
        </p:txBody>
      </p:sp>
      <p:sp>
        <p:nvSpPr>
          <p:cNvPr id="6" name="Espace réservé du contenu 3"/>
          <p:cNvSpPr>
            <a:spLocks noGrp="1"/>
          </p:cNvSpPr>
          <p:nvPr>
            <p:ph sz="quarter" idx="10"/>
          </p:nvPr>
        </p:nvSpPr>
        <p:spPr>
          <a:xfrm>
            <a:off x="32492" y="1835894"/>
            <a:ext cx="17857984" cy="7200800"/>
          </a:xfrm>
        </p:spPr>
        <p:txBody>
          <a:bodyPr>
            <a:normAutofit/>
          </a:bodyPr>
          <a:lstStyle/>
          <a:p>
            <a:pPr marL="165100" lvl="1" indent="-165100" algn="just">
              <a:buClr>
                <a:srgbClr val="0098C7"/>
              </a:buClr>
            </a:pPr>
            <a:r>
              <a:rPr lang="fr-FR" sz="4800" dirty="0" smtClean="0">
                <a:solidFill>
                  <a:srgbClr val="828282"/>
                </a:solidFill>
                <a:latin typeface="+mn-lt"/>
                <a:ea typeface="+mn-ea"/>
                <a:cs typeface="+mn-cs"/>
              </a:rPr>
              <a:t> Le DECST seul est habilité à faire les études de faisabilité sur SERT.</a:t>
            </a:r>
          </a:p>
          <a:p>
            <a:pPr marL="0" lvl="1" indent="0" algn="just">
              <a:buClr>
                <a:srgbClr val="0098C7"/>
              </a:buClr>
              <a:buNone/>
            </a:pPr>
            <a:endParaRPr lang="fr-FR" sz="4800" dirty="0">
              <a:solidFill>
                <a:srgbClr val="828282"/>
              </a:solidFill>
              <a:latin typeface="+mn-lt"/>
              <a:ea typeface="+mn-ea"/>
              <a:cs typeface="+mn-cs"/>
            </a:endParaRPr>
          </a:p>
          <a:p>
            <a:pPr marL="165100" lvl="1" indent="-165100" algn="just">
              <a:buClr>
                <a:srgbClr val="0098C7"/>
              </a:buClr>
            </a:pPr>
            <a:r>
              <a:rPr lang="fr-FR" sz="4800" dirty="0">
                <a:solidFill>
                  <a:srgbClr val="828282"/>
                </a:solidFill>
                <a:latin typeface="+mn-lt"/>
                <a:ea typeface="+mn-ea"/>
                <a:cs typeface="+mn-cs"/>
              </a:rPr>
              <a:t> Le mode de fonctionnement est très lourd et demande beaucoup de temps (aller-retour par courrier officiel). </a:t>
            </a:r>
            <a:endParaRPr lang="fr-FR" sz="4800" dirty="0" smtClean="0">
              <a:solidFill>
                <a:srgbClr val="828282"/>
              </a:solidFill>
              <a:latin typeface="+mn-lt"/>
              <a:ea typeface="+mn-ea"/>
              <a:cs typeface="+mn-cs"/>
            </a:endParaRPr>
          </a:p>
          <a:p>
            <a:pPr marL="0" lvl="1" indent="0" algn="just">
              <a:buClr>
                <a:srgbClr val="0098C7"/>
              </a:buClr>
              <a:buNone/>
            </a:pPr>
            <a:endParaRPr lang="fr-FR" sz="4800" dirty="0">
              <a:solidFill>
                <a:srgbClr val="828282"/>
              </a:solidFill>
              <a:latin typeface="+mn-lt"/>
              <a:ea typeface="+mn-ea"/>
              <a:cs typeface="+mn-cs"/>
            </a:endParaRPr>
          </a:p>
          <a:p>
            <a:pPr marL="165100" lvl="1" indent="-165100" algn="just">
              <a:buClr>
                <a:srgbClr val="0098C7"/>
              </a:buClr>
            </a:pPr>
            <a:endParaRPr lang="fr-FR" dirty="0"/>
          </a:p>
        </p:txBody>
      </p:sp>
    </p:spTree>
    <p:extLst>
      <p:ext uri="{BB962C8B-B14F-4D97-AF65-F5344CB8AC3E}">
        <p14:creationId xmlns:p14="http://schemas.microsoft.com/office/powerpoint/2010/main" val="673148786"/>
      </p:ext>
    </p:extLst>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7052866" cy="1173509"/>
          </a:xfrm>
        </p:spPr>
        <p:txBody>
          <a:bodyPr>
            <a:noAutofit/>
          </a:bodyPr>
          <a:lstStyle/>
          <a:p>
            <a:pPr defTabSz="1558521">
              <a:lnSpc>
                <a:spcPct val="85000"/>
              </a:lnSpc>
            </a:pPr>
            <a:r>
              <a:rPr lang="fr-FR" sz="5400" dirty="0" smtClean="0"/>
              <a:t>2.2 Analyse de l’existant</a:t>
            </a:r>
          </a:p>
        </p:txBody>
      </p:sp>
      <p:sp>
        <p:nvSpPr>
          <p:cNvPr id="7" name="Titre 1"/>
          <p:cNvSpPr txBox="1">
            <a:spLocks/>
          </p:cNvSpPr>
          <p:nvPr/>
        </p:nvSpPr>
        <p:spPr>
          <a:xfrm>
            <a:off x="8279904" y="25171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Versions actuelles des outils</a:t>
            </a:r>
            <a:endParaRPr lang="fr-FR" sz="3200" b="1" dirty="0">
              <a:ea typeface="+mn-ea"/>
              <a:cs typeface="Segoe" pitchFamily="34" charset="0"/>
            </a:endParaRPr>
          </a:p>
        </p:txBody>
      </p:sp>
      <p:graphicFrame>
        <p:nvGraphicFramePr>
          <p:cNvPr id="4" name="Tableau 3"/>
          <p:cNvGraphicFramePr>
            <a:graphicFrameLocks noGrp="1"/>
          </p:cNvGraphicFramePr>
          <p:nvPr>
            <p:extLst>
              <p:ext uri="{D42A27DB-BD31-4B8C-83A1-F6EECF244321}">
                <p14:modId xmlns:p14="http://schemas.microsoft.com/office/powerpoint/2010/main" val="199676537"/>
              </p:ext>
            </p:extLst>
          </p:nvPr>
        </p:nvGraphicFramePr>
        <p:xfrm>
          <a:off x="143000" y="815719"/>
          <a:ext cx="17641960" cy="8395773"/>
        </p:xfrm>
        <a:graphic>
          <a:graphicData uri="http://schemas.openxmlformats.org/drawingml/2006/table">
            <a:tbl>
              <a:tblPr firstRow="1" firstCol="1" bandRow="1">
                <a:tableStyleId>{5C22544A-7EE6-4342-B048-85BDC9FD1C3A}</a:tableStyleId>
              </a:tblPr>
              <a:tblGrid>
                <a:gridCol w="5876113"/>
                <a:gridCol w="4872115"/>
                <a:gridCol w="6893732"/>
              </a:tblGrid>
              <a:tr h="626691">
                <a:tc>
                  <a:txBody>
                    <a:bodyPr/>
                    <a:lstStyle/>
                    <a:p>
                      <a:pPr algn="ctr">
                        <a:lnSpc>
                          <a:spcPct val="150000"/>
                        </a:lnSpc>
                        <a:spcAft>
                          <a:spcPts val="0"/>
                        </a:spcAft>
                      </a:pPr>
                      <a:r>
                        <a:rPr lang="fr-FR" sz="3200" dirty="0">
                          <a:effectLst/>
                        </a:rPr>
                        <a:t>Nom de l’outil</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pPr>
                      <a:r>
                        <a:rPr lang="fr-FR" sz="3200">
                          <a:effectLst/>
                        </a:rPr>
                        <a:t>Version actuelle utilisée</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pPr>
                      <a:r>
                        <a:rPr lang="fr-FR" sz="3200" dirty="0">
                          <a:effectLst/>
                        </a:rPr>
                        <a:t>Description</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18336">
                <a:tc>
                  <a:txBody>
                    <a:bodyPr/>
                    <a:lstStyle/>
                    <a:p>
                      <a:pPr algn="just">
                        <a:lnSpc>
                          <a:spcPct val="150000"/>
                        </a:lnSpc>
                        <a:spcAft>
                          <a:spcPts val="0"/>
                        </a:spcAft>
                      </a:pPr>
                      <a:r>
                        <a:rPr lang="fr-FR" sz="3200" b="1" kern="1200" dirty="0" smtClean="0">
                          <a:solidFill>
                            <a:schemeClr val="lt1"/>
                          </a:solidFill>
                          <a:effectLst/>
                          <a:latin typeface="+mn-lt"/>
                          <a:ea typeface="+mn-ea"/>
                          <a:cs typeface="+mn-cs"/>
                        </a:rPr>
                        <a:t>SERT</a:t>
                      </a:r>
                      <a:endParaRPr lang="fr-FR" sz="3200" b="1" kern="1200" dirty="0">
                        <a:solidFill>
                          <a:schemeClr val="lt1"/>
                        </a:solidFill>
                        <a:effectLst/>
                        <a:latin typeface="+mn-lt"/>
                        <a:ea typeface="+mn-ea"/>
                        <a:cs typeface="+mn-cs"/>
                      </a:endParaRPr>
                    </a:p>
                  </a:txBody>
                  <a:tcPr marL="68580" marR="68580" marT="0" marB="0"/>
                </a:tc>
                <a:tc>
                  <a:txBody>
                    <a:bodyPr/>
                    <a:lstStyle/>
                    <a:p>
                      <a:pPr algn="just">
                        <a:lnSpc>
                          <a:spcPct val="150000"/>
                        </a:lnSpc>
                        <a:spcAft>
                          <a:spcPts val="0"/>
                        </a:spcAft>
                      </a:pPr>
                      <a:r>
                        <a:rPr lang="fr-FR" sz="3200" dirty="0" smtClean="0">
                          <a:effectLst/>
                          <a:latin typeface="Times New Roman" panose="02020603050405020304" pitchFamily="18" charset="0"/>
                          <a:ea typeface="Calibri" panose="020F0502020204030204" pitchFamily="34" charset="0"/>
                          <a:cs typeface="Times New Roman" panose="02020603050405020304" pitchFamily="18" charset="0"/>
                        </a:rPr>
                        <a:t>1.1.7</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1016467">
                <a:tc>
                  <a:txBody>
                    <a:bodyPr/>
                    <a:lstStyle/>
                    <a:p>
                      <a:pPr algn="just">
                        <a:lnSpc>
                          <a:spcPct val="150000"/>
                        </a:lnSpc>
                        <a:spcAft>
                          <a:spcPts val="0"/>
                        </a:spcAft>
                      </a:pPr>
                      <a:r>
                        <a:rPr lang="fr-FR" sz="3200" dirty="0">
                          <a:effectLst/>
                        </a:rPr>
                        <a:t>ArcGIS Runtime Java SDK</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10.2.4</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 </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dirty="0">
                          <a:effectLst/>
                        </a:rPr>
                        <a:t>Java JDK</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1.7.0.79</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 </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Itextpdf</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5.5.6</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Export pdf</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94285">
                <a:tc>
                  <a:txBody>
                    <a:bodyPr/>
                    <a:lstStyle/>
                    <a:p>
                      <a:pPr algn="just">
                        <a:lnSpc>
                          <a:spcPct val="150000"/>
                        </a:lnSpc>
                        <a:spcAft>
                          <a:spcPts val="0"/>
                        </a:spcAft>
                      </a:pPr>
                      <a:r>
                        <a:rPr lang="fr-FR" sz="3200">
                          <a:effectLst/>
                        </a:rPr>
                        <a:t>documents4j</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1.0.2</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Conversion de format de document</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Pdfbox</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1.8.4</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 </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Jenkins</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1.642.3</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Outil d’intégration continue</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Eclipse</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Mars 2 (4.5.2)</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IDE</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795626">
                <a:tc>
                  <a:txBody>
                    <a:bodyPr/>
                    <a:lstStyle/>
                    <a:p>
                      <a:pPr algn="just">
                        <a:lnSpc>
                          <a:spcPct val="150000"/>
                        </a:lnSpc>
                        <a:spcAft>
                          <a:spcPts val="0"/>
                        </a:spcAft>
                      </a:pPr>
                      <a:r>
                        <a:rPr lang="fr-FR" sz="3200">
                          <a:effectLst/>
                        </a:rPr>
                        <a:t>Sonar Qube</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5.6.3</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Assurer la qualité du code source</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6841">
                <a:tc>
                  <a:txBody>
                    <a:bodyPr/>
                    <a:lstStyle/>
                    <a:p>
                      <a:pPr algn="just">
                        <a:lnSpc>
                          <a:spcPct val="150000"/>
                        </a:lnSpc>
                        <a:spcAft>
                          <a:spcPts val="0"/>
                        </a:spcAft>
                      </a:pPr>
                      <a:r>
                        <a:rPr lang="fr-FR" sz="3200">
                          <a:effectLst/>
                        </a:rPr>
                        <a:t>SonarLint</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3.1.0</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Plugins Eclipse pour utiliser sonar</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873294385"/>
      </p:ext>
    </p:extLst>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2.3 Objectifs du projet</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165100" lvl="1" indent="-165100" algn="just">
              <a:buClr>
                <a:srgbClr val="0098C7"/>
              </a:buClr>
            </a:pPr>
            <a:r>
              <a:rPr lang="fr-FR" sz="4800" dirty="0" smtClean="0">
                <a:solidFill>
                  <a:srgbClr val="828282"/>
                </a:solidFill>
                <a:latin typeface="+mn-lt"/>
                <a:ea typeface="+mn-ea"/>
                <a:cs typeface="+mn-cs"/>
              </a:rPr>
              <a:t> Réaliser une version majeure 2.0</a:t>
            </a:r>
            <a:r>
              <a:rPr lang="fr-FR" sz="4800" dirty="0">
                <a:solidFill>
                  <a:srgbClr val="828282"/>
                </a:solidFill>
                <a:latin typeface="+mn-lt"/>
                <a:ea typeface="+mn-ea"/>
                <a:cs typeface="+mn-cs"/>
              </a:rPr>
              <a:t> </a:t>
            </a:r>
            <a:r>
              <a:rPr lang="fr-FR" sz="4800" dirty="0" smtClean="0">
                <a:solidFill>
                  <a:srgbClr val="828282"/>
                </a:solidFill>
                <a:latin typeface="+mn-lt"/>
                <a:ea typeface="+mn-ea"/>
                <a:cs typeface="+mn-cs"/>
              </a:rPr>
              <a:t>: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0" lvl="1" indent="0" algn="just">
              <a:buClr>
                <a:srgbClr val="0098C7"/>
              </a:buClr>
              <a:buNone/>
            </a:pPr>
            <a:r>
              <a:rPr lang="fr-FR" sz="4800" dirty="0">
                <a:solidFill>
                  <a:srgbClr val="828282"/>
                </a:solidFill>
                <a:latin typeface="+mn-lt"/>
                <a:ea typeface="+mn-ea"/>
                <a:cs typeface="+mn-cs"/>
              </a:rPr>
              <a:t>	</a:t>
            </a:r>
            <a:r>
              <a:rPr lang="fr-FR" sz="4800" dirty="0" smtClean="0">
                <a:solidFill>
                  <a:srgbClr val="828282"/>
                </a:solidFill>
                <a:latin typeface="+mn-lt"/>
                <a:ea typeface="+mn-ea"/>
                <a:cs typeface="+mn-cs"/>
              </a:rPr>
              <a:t>- </a:t>
            </a:r>
            <a:r>
              <a:rPr lang="fr-FR" sz="4800" dirty="0"/>
              <a:t>O</a:t>
            </a:r>
            <a:r>
              <a:rPr lang="fr-FR" sz="4800" dirty="0" smtClean="0"/>
              <a:t>ptimiser </a:t>
            </a:r>
            <a:r>
              <a:rPr lang="fr-FR" sz="4800" dirty="0"/>
              <a:t>les temps de traitement des </a:t>
            </a:r>
            <a:r>
              <a:rPr lang="fr-FR" sz="4800" dirty="0" smtClean="0"/>
              <a:t>dossiers de </a:t>
            </a:r>
            <a:r>
              <a:rPr lang="fr-FR" sz="4800" dirty="0"/>
              <a:t>façon à donner aux ESID les outils nécessaires à l’élaboration de « programmes tir » fiables.</a:t>
            </a:r>
            <a:r>
              <a:rPr lang="fr-FR" sz="4800" dirty="0" smtClean="0">
                <a:solidFill>
                  <a:srgbClr val="828282"/>
                </a:solidFill>
                <a:latin typeface="+mn-lt"/>
                <a:ea typeface="+mn-ea"/>
                <a:cs typeface="+mn-cs"/>
              </a:rPr>
              <a:t> </a:t>
            </a:r>
          </a:p>
          <a:p>
            <a:pPr marL="0" lvl="1" indent="0" algn="just">
              <a:buClr>
                <a:srgbClr val="0098C7"/>
              </a:buClr>
              <a:buNone/>
            </a:pPr>
            <a:endParaRPr lang="fr-FR" sz="4800" dirty="0">
              <a:solidFill>
                <a:srgbClr val="828282"/>
              </a:solidFill>
              <a:latin typeface="+mn-lt"/>
              <a:ea typeface="+mn-ea"/>
              <a:cs typeface="+mn-cs"/>
            </a:endParaRPr>
          </a:p>
          <a:p>
            <a:pPr marL="1433513" lvl="1" indent="-450850" algn="just">
              <a:buClr>
                <a:srgbClr val="0098C7"/>
              </a:buClr>
              <a:buNone/>
            </a:pPr>
            <a:r>
              <a:rPr lang="fr-FR" sz="4800" dirty="0" smtClean="0">
                <a:solidFill>
                  <a:srgbClr val="828282"/>
                </a:solidFill>
                <a:latin typeface="+mn-lt"/>
                <a:ea typeface="+mn-ea"/>
                <a:cs typeface="+mn-cs"/>
              </a:rPr>
              <a:t>-  Assurer l’amélioration continue de l’application SERT</a:t>
            </a:r>
          </a:p>
        </p:txBody>
      </p:sp>
    </p:spTree>
    <p:extLst>
      <p:ext uri="{BB962C8B-B14F-4D97-AF65-F5344CB8AC3E}">
        <p14:creationId xmlns:p14="http://schemas.microsoft.com/office/powerpoint/2010/main" val="3228871247"/>
      </p:ext>
    </p:extLst>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2.3 Objectifs du projet</a:t>
            </a:r>
          </a:p>
        </p:txBody>
      </p:sp>
      <p:pic>
        <p:nvPicPr>
          <p:cNvPr id="7" name="Image 6"/>
          <p:cNvPicPr/>
          <p:nvPr/>
        </p:nvPicPr>
        <p:blipFill>
          <a:blip r:embed="rId2"/>
          <a:stretch>
            <a:fillRect/>
          </a:stretch>
        </p:blipFill>
        <p:spPr>
          <a:xfrm>
            <a:off x="287016" y="1331838"/>
            <a:ext cx="17425936" cy="7776864"/>
          </a:xfrm>
          <a:prstGeom prst="rect">
            <a:avLst/>
          </a:prstGeom>
        </p:spPr>
      </p:pic>
      <p:sp>
        <p:nvSpPr>
          <p:cNvPr id="8" name="Titre 1"/>
          <p:cNvSpPr txBox="1">
            <a:spLocks/>
          </p:cNvSpPr>
          <p:nvPr/>
        </p:nvSpPr>
        <p:spPr>
          <a:xfrm>
            <a:off x="390426" y="1107243"/>
            <a:ext cx="7817470"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Nouveaux cas d’utilisation de SERT</a:t>
            </a:r>
            <a:endParaRPr lang="fr-FR" sz="3200" b="1" dirty="0">
              <a:ea typeface="+mn-ea"/>
              <a:cs typeface="Segoe" pitchFamily="34" charset="0"/>
            </a:endParaRPr>
          </a:p>
        </p:txBody>
      </p:sp>
    </p:spTree>
    <p:extLst>
      <p:ext uri="{BB962C8B-B14F-4D97-AF65-F5344CB8AC3E}">
        <p14:creationId xmlns:p14="http://schemas.microsoft.com/office/powerpoint/2010/main" val="2184856508"/>
      </p:ext>
    </p:extLst>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2.3 Objectifs du projet</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Amélioration continue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0" lvl="1" indent="0" algn="just">
              <a:buClr>
                <a:srgbClr val="0098C7"/>
              </a:buClr>
              <a:buNone/>
            </a:pPr>
            <a:r>
              <a:rPr lang="fr-FR" sz="4800" dirty="0">
                <a:solidFill>
                  <a:srgbClr val="828282"/>
                </a:solidFill>
                <a:latin typeface="+mn-lt"/>
                <a:ea typeface="+mn-ea"/>
                <a:cs typeface="+mn-cs"/>
              </a:rPr>
              <a:t>	</a:t>
            </a:r>
            <a:r>
              <a:rPr lang="fr-FR" sz="4800" dirty="0" smtClean="0">
                <a:solidFill>
                  <a:srgbClr val="828282"/>
                </a:solidFill>
                <a:latin typeface="+mn-lt"/>
                <a:ea typeface="+mn-ea"/>
                <a:cs typeface="+mn-cs"/>
              </a:rPr>
              <a:t>- </a:t>
            </a:r>
            <a:r>
              <a:rPr lang="fr-FR" sz="4800" dirty="0" smtClean="0"/>
              <a:t>Intégrer JavaFX avec Swing : </a:t>
            </a:r>
          </a:p>
          <a:p>
            <a:pPr marL="0" lvl="1" indent="0" algn="just">
              <a:buClr>
                <a:srgbClr val="0098C7"/>
              </a:buClr>
              <a:buNone/>
            </a:pPr>
            <a:endParaRPr lang="fr-FR" sz="4800" dirty="0" smtClean="0">
              <a:solidFill>
                <a:srgbClr val="828282"/>
              </a:solidFill>
              <a:latin typeface="+mn-lt"/>
              <a:ea typeface="+mn-ea"/>
              <a:cs typeface="+mn-cs"/>
            </a:endParaRPr>
          </a:p>
          <a:p>
            <a:pPr marL="3309559" lvl="4" indent="-685800" algn="just">
              <a:buClr>
                <a:srgbClr val="0098C7"/>
              </a:buClr>
              <a:buFont typeface="Arial" panose="020B0604020202020204" pitchFamily="34" charset="0"/>
              <a:buChar char="•"/>
            </a:pPr>
            <a:r>
              <a:rPr lang="fr-FR" sz="4400" dirty="0" smtClean="0">
                <a:solidFill>
                  <a:srgbClr val="828282"/>
                </a:solidFill>
                <a:latin typeface="+mn-lt"/>
                <a:ea typeface="+mn-ea"/>
                <a:cs typeface="+mn-cs"/>
              </a:rPr>
              <a:t>La future version 100 de ArcGIS </a:t>
            </a:r>
            <a:r>
              <a:rPr lang="fr-FR" sz="4400" dirty="0" err="1" smtClean="0">
                <a:solidFill>
                  <a:srgbClr val="828282"/>
                </a:solidFill>
                <a:latin typeface="+mn-lt"/>
                <a:ea typeface="+mn-ea"/>
                <a:cs typeface="+mn-cs"/>
              </a:rPr>
              <a:t>runtime</a:t>
            </a:r>
            <a:r>
              <a:rPr lang="fr-FR" sz="4400" dirty="0" smtClean="0">
                <a:solidFill>
                  <a:srgbClr val="828282"/>
                </a:solidFill>
                <a:latin typeface="+mn-lt"/>
                <a:ea typeface="+mn-ea"/>
                <a:cs typeface="+mn-cs"/>
              </a:rPr>
              <a:t> sera compatible avec JavaFX.</a:t>
            </a:r>
          </a:p>
          <a:p>
            <a:pPr marL="2623759" lvl="4" indent="0" algn="just">
              <a:buClr>
                <a:srgbClr val="0098C7"/>
              </a:buClr>
              <a:buNone/>
            </a:pPr>
            <a:endParaRPr lang="fr-FR" sz="4400" dirty="0" smtClean="0">
              <a:solidFill>
                <a:srgbClr val="828282"/>
              </a:solidFill>
              <a:latin typeface="+mn-lt"/>
              <a:ea typeface="+mn-ea"/>
              <a:cs typeface="+mn-cs"/>
            </a:endParaRPr>
          </a:p>
          <a:p>
            <a:pPr marL="3309559" lvl="4" indent="-685800" algn="just">
              <a:buClr>
                <a:srgbClr val="0098C7"/>
              </a:buClr>
              <a:buFont typeface="Arial" panose="020B0604020202020204" pitchFamily="34" charset="0"/>
              <a:buChar char="•"/>
            </a:pPr>
            <a:r>
              <a:rPr lang="fr-FR" sz="4400" dirty="0" smtClean="0">
                <a:solidFill>
                  <a:srgbClr val="828282"/>
                </a:solidFill>
                <a:latin typeface="+mn-lt"/>
                <a:ea typeface="+mn-ea"/>
                <a:cs typeface="+mn-cs"/>
              </a:rPr>
              <a:t>La bibliothèque graphique  officielle dans Java est JavaFX.</a:t>
            </a:r>
          </a:p>
          <a:p>
            <a:pPr marL="3309559" lvl="4" indent="-685800" algn="just">
              <a:buClr>
                <a:srgbClr val="0098C7"/>
              </a:buClr>
              <a:buFont typeface="Arial" panose="020B0604020202020204" pitchFamily="34" charset="0"/>
              <a:buChar char="•"/>
            </a:pPr>
            <a:endParaRPr lang="fr-FR" sz="4400" dirty="0">
              <a:solidFill>
                <a:srgbClr val="828282"/>
              </a:solidFill>
              <a:latin typeface="+mn-lt"/>
              <a:ea typeface="+mn-ea"/>
              <a:cs typeface="+mn-cs"/>
            </a:endParaRPr>
          </a:p>
          <a:p>
            <a:pPr marL="3309559" lvl="4" indent="-685800" algn="just">
              <a:buClr>
                <a:srgbClr val="0098C7"/>
              </a:buClr>
              <a:buFont typeface="Arial" panose="020B0604020202020204" pitchFamily="34" charset="0"/>
              <a:buChar char="•"/>
            </a:pPr>
            <a:r>
              <a:rPr lang="fr-FR" sz="4400" dirty="0" smtClean="0">
                <a:solidFill>
                  <a:srgbClr val="828282"/>
                </a:solidFill>
                <a:latin typeface="+mn-lt"/>
                <a:ea typeface="+mn-ea"/>
                <a:cs typeface="+mn-cs"/>
              </a:rPr>
              <a:t>JavaFX offre quelques avantages par rapport à Swing.</a:t>
            </a:r>
            <a:endParaRPr lang="fr-FR" sz="4400" dirty="0">
              <a:solidFill>
                <a:srgbClr val="828282"/>
              </a:solidFill>
              <a:latin typeface="+mn-lt"/>
              <a:ea typeface="+mn-ea"/>
              <a:cs typeface="+mn-cs"/>
            </a:endParaRPr>
          </a:p>
        </p:txBody>
      </p:sp>
    </p:spTree>
    <p:extLst>
      <p:ext uri="{BB962C8B-B14F-4D97-AF65-F5344CB8AC3E}">
        <p14:creationId xmlns:p14="http://schemas.microsoft.com/office/powerpoint/2010/main" val="2132994415"/>
      </p:ext>
    </p:extLst>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70992" y="1031702"/>
            <a:ext cx="18002000" cy="836503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2.4 Missions</a:t>
            </a:r>
          </a:p>
        </p:txBody>
      </p:sp>
      <p:sp>
        <p:nvSpPr>
          <p:cNvPr id="4" name="Espace réservé du contenu 3"/>
          <p:cNvSpPr>
            <a:spLocks noGrp="1"/>
          </p:cNvSpPr>
          <p:nvPr>
            <p:ph sz="quarter" idx="10"/>
          </p:nvPr>
        </p:nvSpPr>
        <p:spPr>
          <a:xfrm>
            <a:off x="70992" y="1031702"/>
            <a:ext cx="18002000" cy="8365031"/>
          </a:xfrm>
        </p:spPr>
        <p:txBody>
          <a:bodyPr>
            <a:normAutofit lnSpcReduction="10000"/>
          </a:bodyPr>
          <a:lstStyle/>
          <a:p>
            <a:pPr lvl="0"/>
            <a:r>
              <a:rPr lang="fr-FR" dirty="0"/>
              <a:t>monter en compétence sur le Projet SERT. L’objectif était de comprendre SERT sur ses aspects techniques et fonctionnels </a:t>
            </a:r>
            <a:r>
              <a:rPr lang="fr-FR" dirty="0" smtClean="0"/>
              <a:t>;</a:t>
            </a:r>
          </a:p>
          <a:p>
            <a:pPr lvl="0"/>
            <a:endParaRPr lang="fr-FR" dirty="0"/>
          </a:p>
          <a:p>
            <a:pPr lvl="0"/>
            <a:r>
              <a:rPr lang="fr-FR" dirty="0"/>
              <a:t>monter en compétence sur Swing et JavaFX. L’objectif était d’intégrer JavaFX avec Swing pour assurer l’amélioration continue de l’application </a:t>
            </a:r>
            <a:r>
              <a:rPr lang="fr-FR" dirty="0" smtClean="0"/>
              <a:t>;</a:t>
            </a:r>
          </a:p>
          <a:p>
            <a:pPr lvl="0"/>
            <a:endParaRPr lang="fr-FR" dirty="0"/>
          </a:p>
          <a:p>
            <a:pPr lvl="0"/>
            <a:r>
              <a:rPr lang="fr-FR" dirty="0"/>
              <a:t>développer des évolutions pour la nouvelle version 2.0 de SERT </a:t>
            </a:r>
            <a:r>
              <a:rPr lang="fr-FR" dirty="0" smtClean="0"/>
              <a:t>;</a:t>
            </a:r>
          </a:p>
          <a:p>
            <a:pPr lvl="0"/>
            <a:endParaRPr lang="fr-FR" dirty="0"/>
          </a:p>
          <a:p>
            <a:pPr lvl="0"/>
            <a:r>
              <a:rPr lang="fr-FR" dirty="0"/>
              <a:t>participer aux phases de test du projet </a:t>
            </a:r>
            <a:r>
              <a:rPr lang="fr-FR" dirty="0" smtClean="0"/>
              <a:t>;</a:t>
            </a:r>
          </a:p>
          <a:p>
            <a:pPr lvl="0"/>
            <a:endParaRPr lang="fr-FR" dirty="0"/>
          </a:p>
          <a:p>
            <a:pPr lvl="0"/>
            <a:r>
              <a:rPr lang="fr-FR" dirty="0"/>
              <a:t>participer à la correction des anomalies recensées dans les tests.</a:t>
            </a:r>
          </a:p>
          <a:p>
            <a:pPr marL="0" lvl="1" indent="0" algn="just">
              <a:buClr>
                <a:srgbClr val="0098C7"/>
              </a:buClr>
              <a:buNone/>
            </a:pPr>
            <a:r>
              <a:rPr lang="fr-FR" sz="4800" dirty="0" smtClean="0">
                <a:solidFill>
                  <a:srgbClr val="828282"/>
                </a:solidFill>
                <a:latin typeface="+mn-lt"/>
                <a:ea typeface="+mn-ea"/>
                <a:cs typeface="+mn-cs"/>
              </a:rPr>
              <a:t> </a:t>
            </a:r>
          </a:p>
        </p:txBody>
      </p:sp>
    </p:spTree>
    <p:extLst>
      <p:ext uri="{BB962C8B-B14F-4D97-AF65-F5344CB8AC3E}">
        <p14:creationId xmlns:p14="http://schemas.microsoft.com/office/powerpoint/2010/main" val="3143784974"/>
      </p:ext>
    </p:extLst>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5448300" y="3996134"/>
            <a:ext cx="12839700" cy="2207080"/>
          </a:xfrm>
        </p:spPr>
        <p:txBody>
          <a:bodyPr/>
          <a:lstStyle/>
          <a:p>
            <a:r>
              <a:rPr lang="fr-FR" dirty="0" smtClean="0"/>
              <a:t>3. Réalisation</a:t>
            </a:r>
            <a:endParaRPr lang="fr-FR" dirty="0"/>
          </a:p>
        </p:txBody>
      </p:sp>
    </p:spTree>
    <p:extLst>
      <p:ext uri="{BB962C8B-B14F-4D97-AF65-F5344CB8AC3E}">
        <p14:creationId xmlns:p14="http://schemas.microsoft.com/office/powerpoint/2010/main" val="21903422"/>
      </p:ext>
    </p:extLst>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idx="4294967295"/>
          </p:nvPr>
        </p:nvSpPr>
        <p:spPr>
          <a:xfrm>
            <a:off x="0" y="-446088"/>
            <a:ext cx="16459200" cy="1717676"/>
          </a:xfrm>
        </p:spPr>
        <p:txBody>
          <a:bodyPr/>
          <a:lstStyle/>
          <a:p>
            <a:r>
              <a:rPr lang="fr-FR" dirty="0" smtClean="0"/>
              <a:t>Réalisation</a:t>
            </a:r>
            <a:endParaRPr lang="fr-FR" dirty="0"/>
          </a:p>
        </p:txBody>
      </p:sp>
      <p:sp>
        <p:nvSpPr>
          <p:cNvPr id="3" name="ZoneTexte 2"/>
          <p:cNvSpPr txBox="1"/>
          <p:nvPr/>
        </p:nvSpPr>
        <p:spPr>
          <a:xfrm>
            <a:off x="806542" y="971798"/>
            <a:ext cx="17619240" cy="6186309"/>
          </a:xfrm>
          <a:prstGeom prst="rect">
            <a:avLst/>
          </a:prstGeom>
          <a:noFill/>
        </p:spPr>
        <p:txBody>
          <a:bodyPr wrap="square" rtlCol="0">
            <a:spAutoFit/>
          </a:bodyPr>
          <a:lstStyle/>
          <a:p>
            <a:pPr marL="1655784" lvl="1" indent="-742950"/>
            <a:r>
              <a:rPr lang="fr-FR" dirty="0"/>
              <a:t>3.1 Monter en compétence sur </a:t>
            </a:r>
            <a:r>
              <a:rPr lang="fr-FR" dirty="0" smtClean="0"/>
              <a:t>SERT</a:t>
            </a:r>
          </a:p>
          <a:p>
            <a:pPr marL="1655784" lvl="1" indent="-742950"/>
            <a:endParaRPr lang="fr-FR" dirty="0"/>
          </a:p>
          <a:p>
            <a:pPr marL="1655784" lvl="1" indent="-742950"/>
            <a:r>
              <a:rPr lang="fr-FR" dirty="0"/>
              <a:t>3.2 Intégration de JavaFX avec </a:t>
            </a:r>
            <a:r>
              <a:rPr lang="fr-FR" dirty="0" smtClean="0"/>
              <a:t>Swing</a:t>
            </a:r>
          </a:p>
          <a:p>
            <a:pPr marL="1655784" lvl="1" indent="-742950"/>
            <a:endParaRPr lang="fr-FR" dirty="0"/>
          </a:p>
          <a:p>
            <a:pPr marL="1655784" lvl="1" indent="-742950"/>
            <a:r>
              <a:rPr lang="fr-FR" dirty="0"/>
              <a:t>3.3 Les évolutions </a:t>
            </a:r>
            <a:r>
              <a:rPr lang="fr-FR" dirty="0" smtClean="0"/>
              <a:t>développées</a:t>
            </a:r>
          </a:p>
          <a:p>
            <a:pPr marL="1655784" lvl="1" indent="-742950"/>
            <a:endParaRPr lang="fr-FR" dirty="0"/>
          </a:p>
          <a:p>
            <a:pPr marL="1655784" lvl="1" indent="-742950"/>
            <a:r>
              <a:rPr lang="fr-FR" dirty="0"/>
              <a:t>3.4 Tests et </a:t>
            </a:r>
            <a:r>
              <a:rPr lang="fr-FR" dirty="0" smtClean="0"/>
              <a:t>correctifs</a:t>
            </a:r>
          </a:p>
          <a:p>
            <a:pPr marL="1655784" lvl="1" indent="-742950"/>
            <a:endParaRPr lang="fr-FR" dirty="0"/>
          </a:p>
          <a:p>
            <a:pPr marL="1655784" lvl="1" indent="-742950"/>
            <a:r>
              <a:rPr lang="fr-FR" dirty="0"/>
              <a:t>3.5 Contraintes et </a:t>
            </a:r>
            <a:r>
              <a:rPr lang="fr-FR"/>
              <a:t>problèmes </a:t>
            </a:r>
            <a:r>
              <a:rPr lang="fr-FR" smtClean="0"/>
              <a:t>rencontrés</a:t>
            </a:r>
            <a:endParaRPr lang="fr-FR" dirty="0" smtClean="0"/>
          </a:p>
          <a:p>
            <a:endParaRPr lang="fr-FR" dirty="0" smtClean="0"/>
          </a:p>
          <a:p>
            <a:pPr marL="742950" indent="-742950">
              <a:buAutoNum type="arabicPeriod"/>
            </a:pPr>
            <a:endParaRPr lang="fr-FR" dirty="0"/>
          </a:p>
        </p:txBody>
      </p:sp>
    </p:spTree>
    <p:extLst>
      <p:ext uri="{BB962C8B-B14F-4D97-AF65-F5344CB8AC3E}">
        <p14:creationId xmlns:p14="http://schemas.microsoft.com/office/powerpoint/2010/main" val="1490329745"/>
      </p:ext>
    </p:extLst>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solidFill>
                  <a:srgbClr val="828282"/>
                </a:solidFill>
                <a:latin typeface="+mn-lt"/>
                <a:ea typeface="+mn-ea"/>
                <a:cs typeface="+mn-cs"/>
              </a:rPr>
              <a:t>Monter en compétence sur </a:t>
            </a:r>
            <a:r>
              <a:rPr lang="fr-FR" sz="4800" dirty="0" smtClean="0">
                <a:solidFill>
                  <a:srgbClr val="828282"/>
                </a:solidFill>
                <a:latin typeface="+mn-lt"/>
                <a:ea typeface="+mn-ea"/>
                <a:cs typeface="+mn-cs"/>
              </a:rPr>
              <a:t>SERT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fontScale="92500" lnSpcReduction="10000"/>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27063" lvl="4" indent="-508000" algn="just">
              <a:buClr>
                <a:srgbClr val="0098C7"/>
              </a:buClr>
              <a:buFont typeface="Arial" panose="020B0604020202020204" pitchFamily="34" charset="0"/>
              <a:buChar char="•"/>
            </a:pPr>
            <a:r>
              <a:rPr lang="fr-FR" sz="4400" dirty="0" smtClean="0"/>
              <a:t>Se familiariser </a:t>
            </a:r>
            <a:r>
              <a:rPr lang="fr-FR" sz="4400" dirty="0"/>
              <a:t>avec l’aspect fonctionnel de </a:t>
            </a:r>
            <a:r>
              <a:rPr lang="fr-FR" sz="4400" dirty="0" smtClean="0"/>
              <a:t>l’application :</a:t>
            </a:r>
          </a:p>
          <a:p>
            <a:pPr marL="1603186" lvl="5" indent="-571500" algn="just">
              <a:buClr>
                <a:srgbClr val="0098C7"/>
              </a:buClr>
              <a:buFont typeface="Wingdings" panose="05000000000000000000" pitchFamily="2" charset="2"/>
              <a:buChar char="§"/>
            </a:pPr>
            <a:r>
              <a:rPr lang="fr-FR" dirty="0" smtClean="0">
                <a:solidFill>
                  <a:srgbClr val="828282"/>
                </a:solidFill>
              </a:rPr>
              <a:t>Utilisation des documents sur le projet : manuels d’utilisation, documents de conception, cahier de charge, pages Wiki.</a:t>
            </a:r>
          </a:p>
          <a:p>
            <a:pPr marL="1603186" lvl="5" indent="-571500" algn="just">
              <a:buClr>
                <a:srgbClr val="0098C7"/>
              </a:buClr>
              <a:buFont typeface="Wingdings" panose="05000000000000000000" pitchFamily="2" charset="2"/>
              <a:buChar char="§"/>
            </a:pPr>
            <a:r>
              <a:rPr lang="fr-FR" dirty="0" smtClean="0">
                <a:solidFill>
                  <a:srgbClr val="828282"/>
                </a:solidFill>
              </a:rPr>
              <a:t>Tests sur l’application en environnement de test.</a:t>
            </a:r>
          </a:p>
          <a:p>
            <a:pPr marL="627063" lvl="4" indent="-508000" algn="just">
              <a:buClr>
                <a:srgbClr val="0098C7"/>
              </a:buClr>
              <a:buNone/>
            </a:pPr>
            <a:endParaRPr lang="fr-FR" sz="4400" dirty="0" smtClean="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Mise en place de l’environnement de développement.</a:t>
            </a:r>
          </a:p>
          <a:p>
            <a:pPr marL="1603186" lvl="5" indent="-571500" algn="just">
              <a:buClr>
                <a:srgbClr val="0098C7"/>
              </a:buClr>
              <a:buFont typeface="Wingdings" panose="05000000000000000000" pitchFamily="2" charset="2"/>
              <a:buChar char="§"/>
            </a:pPr>
            <a:r>
              <a:rPr lang="fr-FR" dirty="0" smtClean="0">
                <a:solidFill>
                  <a:srgbClr val="828282"/>
                </a:solidFill>
              </a:rPr>
              <a:t>Guide sur une page Wiki,</a:t>
            </a:r>
          </a:p>
          <a:p>
            <a:pPr marL="1603186" lvl="5" indent="-571500" algn="just">
              <a:buClr>
                <a:srgbClr val="0098C7"/>
              </a:buClr>
              <a:buFont typeface="Wingdings" panose="05000000000000000000" pitchFamily="2" charset="2"/>
              <a:buChar char="§"/>
            </a:pPr>
            <a:r>
              <a:rPr lang="fr-FR" dirty="0" smtClean="0">
                <a:solidFill>
                  <a:srgbClr val="828282"/>
                </a:solidFill>
              </a:rPr>
              <a:t>Outils mis en œuvre : Eclipse, Jenkins, Sonar cube, SVN, ArcGIS </a:t>
            </a:r>
            <a:r>
              <a:rPr lang="fr-FR" dirty="0" err="1" smtClean="0">
                <a:solidFill>
                  <a:srgbClr val="828282"/>
                </a:solidFill>
              </a:rPr>
              <a:t>runtime</a:t>
            </a:r>
            <a:r>
              <a:rPr lang="fr-FR" dirty="0" smtClean="0">
                <a:solidFill>
                  <a:srgbClr val="828282"/>
                </a:solidFill>
              </a:rPr>
              <a:t>, </a:t>
            </a:r>
            <a:r>
              <a:rPr lang="fr-FR" dirty="0" err="1" smtClean="0">
                <a:solidFill>
                  <a:srgbClr val="828282"/>
                </a:solidFill>
              </a:rPr>
              <a:t>tomcat</a:t>
            </a:r>
            <a:r>
              <a:rPr lang="fr-FR" dirty="0" smtClean="0">
                <a:solidFill>
                  <a:srgbClr val="828282"/>
                </a:solidFill>
              </a:rPr>
              <a:t>, </a:t>
            </a:r>
            <a:r>
              <a:rPr lang="fr-FR" dirty="0" err="1" smtClean="0">
                <a:solidFill>
                  <a:srgbClr val="828282"/>
                </a:solidFill>
              </a:rPr>
              <a:t>Maven</a:t>
            </a:r>
            <a:r>
              <a:rPr lang="fr-FR" dirty="0" smtClean="0">
                <a:solidFill>
                  <a:srgbClr val="828282"/>
                </a:solidFill>
              </a:rPr>
              <a:t>, </a:t>
            </a:r>
            <a:r>
              <a:rPr lang="fr-FR" dirty="0" err="1" smtClean="0">
                <a:solidFill>
                  <a:srgbClr val="828282"/>
                </a:solidFill>
              </a:rPr>
              <a:t>ect</a:t>
            </a:r>
            <a:r>
              <a:rPr lang="fr-FR" dirty="0" smtClean="0">
                <a:solidFill>
                  <a:srgbClr val="828282"/>
                </a:solidFill>
              </a:rPr>
              <a:t>…</a:t>
            </a:r>
            <a:endParaRPr lang="fr-FR" dirty="0">
              <a:solidFill>
                <a:srgbClr val="828282"/>
              </a:solidFill>
            </a:endParaRPr>
          </a:p>
          <a:p>
            <a:pPr marL="627063" lvl="4" indent="-508000" algn="just">
              <a:buClr>
                <a:srgbClr val="0098C7"/>
              </a:buClr>
              <a:buFont typeface="Arial" panose="020B0604020202020204" pitchFamily="34" charset="0"/>
              <a:buChar char="•"/>
            </a:pPr>
            <a:endParaRPr lang="fr-FR" sz="4400" dirty="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Etude des codes sources du projet.</a:t>
            </a:r>
            <a:endParaRPr lang="fr-FR" sz="4400" dirty="0">
              <a:solidFill>
                <a:srgbClr val="828282"/>
              </a:solidFill>
              <a:latin typeface="+mn-lt"/>
              <a:ea typeface="+mn-ea"/>
              <a:cs typeface="+mn-cs"/>
            </a:endParaRPr>
          </a:p>
        </p:txBody>
      </p:sp>
    </p:spTree>
    <p:extLst>
      <p:ext uri="{BB962C8B-B14F-4D97-AF65-F5344CB8AC3E}">
        <p14:creationId xmlns:p14="http://schemas.microsoft.com/office/powerpoint/2010/main" val="682454323"/>
      </p:ext>
    </p:extLst>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solidFill>
                  <a:srgbClr val="828282"/>
                </a:solidFill>
                <a:latin typeface="+mn-lt"/>
                <a:ea typeface="+mn-ea"/>
                <a:cs typeface="+mn-cs"/>
              </a:rPr>
              <a:t>Intégration de JavaFX avec </a:t>
            </a:r>
            <a:r>
              <a:rPr lang="fr-FR" sz="4800" dirty="0" smtClean="0">
                <a:solidFill>
                  <a:srgbClr val="828282"/>
                </a:solidFill>
                <a:latin typeface="+mn-lt"/>
                <a:ea typeface="+mn-ea"/>
                <a:cs typeface="+mn-cs"/>
              </a:rPr>
              <a:t>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27063" lvl="4" indent="-508000" algn="just">
              <a:buClr>
                <a:srgbClr val="0098C7"/>
              </a:buClr>
              <a:buFont typeface="Arial" panose="020B0604020202020204" pitchFamily="34" charset="0"/>
              <a:buChar char="•"/>
            </a:pPr>
            <a:r>
              <a:rPr lang="fr-FR" sz="4400" dirty="0" smtClean="0"/>
              <a:t>Monter en compétence sur Swing</a:t>
            </a:r>
            <a:r>
              <a:rPr lang="fr-FR" dirty="0" smtClean="0">
                <a:solidFill>
                  <a:srgbClr val="828282"/>
                </a:solidFill>
              </a:rPr>
              <a:t>.</a:t>
            </a:r>
          </a:p>
          <a:p>
            <a:pPr marL="627063" lvl="4" indent="-508000" algn="just">
              <a:buClr>
                <a:srgbClr val="0098C7"/>
              </a:buClr>
              <a:buFont typeface="Arial" panose="020B0604020202020204" pitchFamily="34" charset="0"/>
              <a:buChar char="•"/>
            </a:pPr>
            <a:endParaRPr lang="fr-FR" sz="4400" dirty="0" smtClean="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Monter en compétence sur JavaFX.</a:t>
            </a:r>
          </a:p>
          <a:p>
            <a:pPr marL="627063" lvl="4" indent="-508000" algn="just">
              <a:buClr>
                <a:srgbClr val="0098C7"/>
              </a:buClr>
              <a:buFont typeface="Arial" panose="020B0604020202020204" pitchFamily="34" charset="0"/>
              <a:buChar char="•"/>
            </a:pPr>
            <a:endParaRPr lang="fr-FR" sz="4400" dirty="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Elaboration d’un POC pour </a:t>
            </a:r>
            <a:r>
              <a:rPr lang="fr-FR" sz="4400" dirty="0" err="1" smtClean="0">
                <a:solidFill>
                  <a:srgbClr val="828282"/>
                </a:solidFill>
                <a:latin typeface="+mn-lt"/>
                <a:ea typeface="+mn-ea"/>
                <a:cs typeface="+mn-cs"/>
              </a:rPr>
              <a:t>integrer</a:t>
            </a:r>
            <a:r>
              <a:rPr lang="fr-FR" sz="4400" dirty="0" smtClean="0">
                <a:solidFill>
                  <a:srgbClr val="828282"/>
                </a:solidFill>
                <a:latin typeface="+mn-lt"/>
                <a:ea typeface="+mn-ea"/>
                <a:cs typeface="+mn-cs"/>
              </a:rPr>
              <a:t> JavaFX avec Swing</a:t>
            </a:r>
            <a:endParaRPr lang="fr-FR" sz="4400" dirty="0">
              <a:solidFill>
                <a:srgbClr val="828282"/>
              </a:solidFill>
              <a:latin typeface="+mn-lt"/>
              <a:ea typeface="+mn-ea"/>
              <a:cs typeface="+mn-cs"/>
            </a:endParaRPr>
          </a:p>
        </p:txBody>
      </p:sp>
    </p:spTree>
    <p:extLst>
      <p:ext uri="{BB962C8B-B14F-4D97-AF65-F5344CB8AC3E}">
        <p14:creationId xmlns:p14="http://schemas.microsoft.com/office/powerpoint/2010/main" val="1649579158"/>
      </p:ext>
    </p:extLst>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lnSpcReduction="10000"/>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119063" lvl="4" indent="0" algn="just">
              <a:buClr>
                <a:srgbClr val="0098C7"/>
              </a:buClr>
              <a:buNone/>
            </a:pPr>
            <a:r>
              <a:rPr lang="fr-FR" sz="4400" dirty="0" smtClean="0"/>
              <a:t>Swing:</a:t>
            </a:r>
            <a:endParaRPr lang="fr-FR" sz="4400" dirty="0" smtClean="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Thread EDT (</a:t>
            </a:r>
            <a:r>
              <a:rPr lang="fr-FR" sz="4400" dirty="0"/>
              <a:t>"</a:t>
            </a:r>
            <a:r>
              <a:rPr lang="fr-FR" sz="4400" dirty="0" err="1"/>
              <a:t>event</a:t>
            </a:r>
            <a:r>
              <a:rPr lang="fr-FR" sz="4400" dirty="0"/>
              <a:t> dispatching thread" </a:t>
            </a:r>
            <a:r>
              <a:rPr lang="fr-FR" sz="4400" dirty="0" smtClean="0"/>
              <a:t>) </a:t>
            </a:r>
            <a:r>
              <a:rPr lang="fr-FR" sz="4400" dirty="0" smtClean="0">
                <a:solidFill>
                  <a:srgbClr val="828282"/>
                </a:solidFill>
                <a:latin typeface="+mn-lt"/>
                <a:ea typeface="+mn-ea"/>
                <a:cs typeface="+mn-cs"/>
              </a:rPr>
              <a:t>: </a:t>
            </a:r>
          </a:p>
          <a:p>
            <a:pPr marL="1603186" lvl="5" indent="-571500" algn="just">
              <a:buClr>
                <a:srgbClr val="0098C7"/>
              </a:buClr>
              <a:buFont typeface="Wingdings" panose="05000000000000000000" pitchFamily="2" charset="2"/>
              <a:buChar char="§"/>
            </a:pPr>
            <a:r>
              <a:rPr lang="fr-FR" sz="4300" dirty="0" smtClean="0"/>
              <a:t>il </a:t>
            </a:r>
            <a:r>
              <a:rPr lang="fr-FR" sz="4300" dirty="0"/>
              <a:t>répartit les événements reçus vers les composants concernés et se charge d'invoquer les méthodes d'affichage. </a:t>
            </a:r>
            <a:endParaRPr lang="fr-FR" sz="4300" dirty="0" smtClean="0"/>
          </a:p>
          <a:p>
            <a:pPr marL="1603186" lvl="5" indent="-571500" algn="just">
              <a:buClr>
                <a:srgbClr val="0098C7"/>
              </a:buClr>
              <a:buFont typeface="Wingdings" panose="05000000000000000000" pitchFamily="2" charset="2"/>
              <a:buChar char="§"/>
            </a:pPr>
            <a:r>
              <a:rPr lang="fr-FR" sz="4300" dirty="0" smtClean="0"/>
              <a:t>Les composants Swing ne doivent </a:t>
            </a:r>
            <a:r>
              <a:rPr lang="fr-FR" sz="4300" dirty="0"/>
              <a:t>être </a:t>
            </a:r>
            <a:r>
              <a:rPr lang="fr-FR" sz="4300" dirty="0" smtClean="0"/>
              <a:t>manipulés </a:t>
            </a:r>
            <a:r>
              <a:rPr lang="fr-FR" sz="4300" dirty="0"/>
              <a:t>que depuis un seul et unique thread, </a:t>
            </a:r>
            <a:r>
              <a:rPr lang="fr-FR" sz="4300" dirty="0" smtClean="0"/>
              <a:t>l'EDT.</a:t>
            </a:r>
            <a:endParaRPr lang="fr-FR" sz="4300" dirty="0"/>
          </a:p>
          <a:p>
            <a:pPr marL="627063" lvl="4" indent="-508000">
              <a:buClr>
                <a:srgbClr val="0098C7"/>
              </a:buClr>
              <a:buFont typeface="Arial" panose="020B0604020202020204" pitchFamily="34" charset="0"/>
              <a:buChar char="•"/>
            </a:pPr>
            <a:r>
              <a:rPr lang="fr-FR" sz="4400" dirty="0">
                <a:solidFill>
                  <a:srgbClr val="828282"/>
                </a:solidFill>
                <a:latin typeface="+mn-lt"/>
                <a:ea typeface="+mn-ea"/>
                <a:cs typeface="+mn-cs"/>
              </a:rPr>
              <a:t> </a:t>
            </a:r>
            <a:r>
              <a:rPr lang="fr-FR" sz="4400" dirty="0" err="1" smtClean="0">
                <a:solidFill>
                  <a:srgbClr val="828282"/>
                </a:solidFill>
                <a:latin typeface="+mn-lt"/>
                <a:ea typeface="+mn-ea"/>
                <a:cs typeface="+mn-cs"/>
              </a:rPr>
              <a:t>SwingUtilities</a:t>
            </a:r>
            <a:r>
              <a:rPr lang="fr-FR" sz="4400" dirty="0" smtClean="0">
                <a:solidFill>
                  <a:srgbClr val="828282"/>
                </a:solidFill>
                <a:latin typeface="+mn-lt"/>
                <a:ea typeface="+mn-ea"/>
                <a:cs typeface="+mn-cs"/>
              </a:rPr>
              <a:t> </a:t>
            </a:r>
            <a:r>
              <a:rPr lang="fr-FR" sz="4400" dirty="0">
                <a:solidFill>
                  <a:srgbClr val="828282"/>
                </a:solidFill>
                <a:latin typeface="+mn-lt"/>
                <a:ea typeface="+mn-ea"/>
                <a:cs typeface="+mn-cs"/>
              </a:rPr>
              <a:t>: </a:t>
            </a:r>
            <a:r>
              <a:rPr lang="fr-FR" sz="4400" dirty="0" err="1">
                <a:solidFill>
                  <a:srgbClr val="828282"/>
                </a:solidFill>
                <a:latin typeface="+mn-lt"/>
                <a:ea typeface="+mn-ea"/>
                <a:cs typeface="+mn-cs"/>
              </a:rPr>
              <a:t>invokeLater</a:t>
            </a:r>
            <a:r>
              <a:rPr lang="fr-FR" sz="4400" dirty="0">
                <a:solidFill>
                  <a:srgbClr val="828282"/>
                </a:solidFill>
                <a:latin typeface="+mn-lt"/>
                <a:ea typeface="+mn-ea"/>
                <a:cs typeface="+mn-cs"/>
              </a:rPr>
              <a:t>(), </a:t>
            </a:r>
            <a:r>
              <a:rPr lang="fr-FR" sz="4400" dirty="0" err="1">
                <a:solidFill>
                  <a:srgbClr val="828282"/>
                </a:solidFill>
                <a:latin typeface="+mn-lt"/>
                <a:ea typeface="+mn-ea"/>
                <a:cs typeface="+mn-cs"/>
              </a:rPr>
              <a:t>isEventDispatchThread</a:t>
            </a:r>
            <a:r>
              <a:rPr lang="fr-FR" sz="4400" dirty="0">
                <a:solidFill>
                  <a:srgbClr val="828282"/>
                </a:solidFill>
                <a:latin typeface="+mn-lt"/>
                <a:ea typeface="+mn-ea"/>
                <a:cs typeface="+mn-cs"/>
              </a:rPr>
              <a:t>() et </a:t>
            </a:r>
            <a:r>
              <a:rPr lang="fr-FR" sz="4400" dirty="0" err="1" smtClean="0">
                <a:solidFill>
                  <a:srgbClr val="828282"/>
                </a:solidFill>
                <a:latin typeface="+mn-lt"/>
                <a:ea typeface="+mn-ea"/>
                <a:cs typeface="+mn-cs"/>
              </a:rPr>
              <a:t>invokeAndWait</a:t>
            </a:r>
            <a:r>
              <a:rPr lang="fr-FR" sz="4400" dirty="0">
                <a:solidFill>
                  <a:srgbClr val="828282"/>
                </a:solidFill>
                <a:latin typeface="+mn-lt"/>
                <a:ea typeface="+mn-ea"/>
                <a:cs typeface="+mn-cs"/>
              </a:rPr>
              <a:t>().</a:t>
            </a:r>
          </a:p>
          <a:p>
            <a:pPr marL="1603186" lvl="5" indent="-571500" algn="just">
              <a:buClr>
                <a:srgbClr val="0098C7"/>
              </a:buClr>
              <a:buFont typeface="Wingdings" panose="05000000000000000000" pitchFamily="2" charset="2"/>
              <a:buChar char="§"/>
            </a:pPr>
            <a:r>
              <a:rPr lang="fr-FR" sz="4300" dirty="0" smtClean="0">
                <a:solidFill>
                  <a:srgbClr val="828282"/>
                </a:solidFill>
                <a:latin typeface="+mn-lt"/>
                <a:ea typeface="+mn-ea"/>
                <a:cs typeface="+mn-cs"/>
              </a:rPr>
              <a:t>Permet d’</a:t>
            </a:r>
            <a:r>
              <a:rPr lang="fr-FR" sz="4300" dirty="0" err="1" smtClean="0">
                <a:solidFill>
                  <a:srgbClr val="828282"/>
                </a:solidFill>
                <a:latin typeface="+mn-lt"/>
                <a:ea typeface="+mn-ea"/>
                <a:cs typeface="+mn-cs"/>
              </a:rPr>
              <a:t>executer</a:t>
            </a:r>
            <a:r>
              <a:rPr lang="fr-FR" sz="4300" dirty="0" smtClean="0">
                <a:solidFill>
                  <a:srgbClr val="828282"/>
                </a:solidFill>
                <a:latin typeface="+mn-lt"/>
                <a:ea typeface="+mn-ea"/>
                <a:cs typeface="+mn-cs"/>
              </a:rPr>
              <a:t> des instructions dans l’EDT.</a:t>
            </a:r>
          </a:p>
          <a:p>
            <a:pPr marL="1603186" lvl="5" indent="-571500" algn="just">
              <a:buClr>
                <a:srgbClr val="0098C7"/>
              </a:buClr>
              <a:buFont typeface="Wingdings" panose="05000000000000000000" pitchFamily="2" charset="2"/>
              <a:buChar char="§"/>
            </a:pPr>
            <a:r>
              <a:rPr lang="fr-FR" sz="4300" dirty="0" smtClean="0">
                <a:solidFill>
                  <a:srgbClr val="828282"/>
                </a:solidFill>
              </a:rPr>
              <a:t>Pour gérer les instructions et avoir une IHM interactive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88206814"/>
      </p:ext>
    </p:extLst>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Arial" panose="020B0604020202020204" pitchFamily="34" charset="0"/>
              <a:buChar char="•"/>
            </a:pPr>
            <a:r>
              <a:rPr lang="fr-FR" sz="4400" dirty="0" smtClean="0"/>
              <a:t>JavaFX : </a:t>
            </a:r>
          </a:p>
          <a:p>
            <a:pPr marL="119063" lvl="4" indent="0" algn="just">
              <a:buClr>
                <a:srgbClr val="0098C7"/>
              </a:buClr>
              <a:buNone/>
            </a:pPr>
            <a:endParaRPr lang="fr-FR" sz="4400" dirty="0" smtClean="0"/>
          </a:p>
          <a:p>
            <a:pPr marL="690563" lvl="4" indent="-571500" algn="just">
              <a:buClr>
                <a:srgbClr val="0098C7"/>
              </a:buClr>
              <a:buFont typeface="Arial" panose="020B0604020202020204" pitchFamily="34" charset="0"/>
              <a:buChar char="•"/>
            </a:pPr>
            <a:r>
              <a:rPr lang="fr-FR" sz="4400" dirty="0" smtClean="0"/>
              <a:t>Comme </a:t>
            </a:r>
            <a:r>
              <a:rPr lang="fr-FR" sz="4400" dirty="0"/>
              <a:t>Swing, JavaFX a aussi un thread évènementiel des composants graphiques appelé </a:t>
            </a:r>
            <a:r>
              <a:rPr lang="fr-FR" sz="4400" b="1" dirty="0"/>
              <a:t>JavaFX Application Thread (JAT</a:t>
            </a:r>
            <a:r>
              <a:rPr lang="fr-FR" sz="4400" b="1" dirty="0" smtClean="0"/>
              <a:t>).</a:t>
            </a:r>
          </a:p>
          <a:p>
            <a:pPr marL="119063" lvl="4" indent="0" algn="just">
              <a:buClr>
                <a:srgbClr val="0098C7"/>
              </a:buClr>
              <a:buNone/>
            </a:pPr>
            <a:r>
              <a:rPr lang="fr-FR" sz="4400" b="1" dirty="0" smtClean="0"/>
              <a:t> </a:t>
            </a:r>
          </a:p>
          <a:p>
            <a:pPr marL="690563" lvl="4" indent="-571500" algn="just">
              <a:buClr>
                <a:srgbClr val="0098C7"/>
              </a:buClr>
              <a:buFont typeface="Arial" panose="020B0604020202020204" pitchFamily="34" charset="0"/>
              <a:buChar char="•"/>
            </a:pPr>
            <a:r>
              <a:rPr lang="fr-FR" sz="4400" dirty="0" smtClean="0"/>
              <a:t>Par </a:t>
            </a:r>
            <a:r>
              <a:rPr lang="fr-FR" sz="4400" dirty="0"/>
              <a:t>analogie avec Swing, en JavaFX, seule la méthode </a:t>
            </a:r>
            <a:r>
              <a:rPr lang="fr-FR" sz="4400" b="1" i="1" dirty="0" err="1"/>
              <a:t>Platform.runLater</a:t>
            </a:r>
            <a:r>
              <a:rPr lang="fr-FR" sz="4400" dirty="0"/>
              <a:t> est disponible pour exécuter une méthode dans le JAT.</a:t>
            </a:r>
          </a:p>
          <a:p>
            <a:pPr marL="119063" lvl="4" indent="0" algn="just">
              <a:buClr>
                <a:srgbClr val="0098C7"/>
              </a:buClr>
              <a:buNone/>
            </a:pP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4097932490"/>
      </p:ext>
    </p:extLst>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Arial" panose="020B0604020202020204" pitchFamily="34" charset="0"/>
              <a:buChar char="•"/>
            </a:pPr>
            <a:r>
              <a:rPr lang="fr-FR" sz="4300" dirty="0">
                <a:solidFill>
                  <a:srgbClr val="828282"/>
                </a:solidFill>
                <a:latin typeface="+mn-lt"/>
                <a:ea typeface="+mn-ea"/>
                <a:cs typeface="+mn-cs"/>
              </a:rPr>
              <a:t>Pour ajouter un composant JavaFX dans du Swing, le SDK de JavaFX offre la classe JFXPanel qui se trouve le package </a:t>
            </a:r>
            <a:r>
              <a:rPr lang="fr-FR" sz="4300" dirty="0" err="1">
                <a:solidFill>
                  <a:srgbClr val="828282"/>
                </a:solidFill>
                <a:latin typeface="+mn-lt"/>
                <a:ea typeface="+mn-ea"/>
                <a:cs typeface="+mn-cs"/>
              </a:rPr>
              <a:t>javafx.embed.swing.JFXPanel</a:t>
            </a:r>
            <a:r>
              <a:rPr lang="fr-FR" sz="4300" dirty="0">
                <a:solidFill>
                  <a:srgbClr val="828282"/>
                </a:solidFill>
                <a:latin typeface="+mn-lt"/>
                <a:ea typeface="+mn-ea"/>
                <a:cs typeface="+mn-cs"/>
              </a:rPr>
              <a:t>.</a:t>
            </a:r>
          </a:p>
        </p:txBody>
      </p:sp>
    </p:spTree>
    <p:extLst>
      <p:ext uri="{BB962C8B-B14F-4D97-AF65-F5344CB8AC3E}">
        <p14:creationId xmlns:p14="http://schemas.microsoft.com/office/powerpoint/2010/main" val="1533269227"/>
      </p:ext>
    </p:extLst>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119063" lvl="4" indent="0" algn="just">
              <a:buClr>
                <a:srgbClr val="0098C7"/>
              </a:buClr>
              <a:buNone/>
            </a:pPr>
            <a:endParaRPr lang="fr-FR" sz="4300" dirty="0">
              <a:solidFill>
                <a:srgbClr val="828282"/>
              </a:solidFill>
              <a:latin typeface="+mn-lt"/>
              <a:ea typeface="+mn-ea"/>
              <a:cs typeface="+mn-cs"/>
            </a:endParaRPr>
          </a:p>
        </p:txBody>
      </p:sp>
      <p:pic>
        <p:nvPicPr>
          <p:cNvPr id="7" name="Image 6"/>
          <p:cNvPicPr/>
          <p:nvPr/>
        </p:nvPicPr>
        <p:blipFill>
          <a:blip r:embed="rId2"/>
          <a:stretch>
            <a:fillRect/>
          </a:stretch>
        </p:blipFill>
        <p:spPr>
          <a:xfrm>
            <a:off x="3239344" y="2155587"/>
            <a:ext cx="10297144" cy="4308374"/>
          </a:xfrm>
          <a:prstGeom prst="rect">
            <a:avLst/>
          </a:prstGeom>
        </p:spPr>
      </p:pic>
      <p:pic>
        <p:nvPicPr>
          <p:cNvPr id="2" name="Image 1"/>
          <p:cNvPicPr>
            <a:picLocks noChangeAspect="1"/>
          </p:cNvPicPr>
          <p:nvPr/>
        </p:nvPicPr>
        <p:blipFill>
          <a:blip r:embed="rId3"/>
          <a:stretch>
            <a:fillRect/>
          </a:stretch>
        </p:blipFill>
        <p:spPr>
          <a:xfrm>
            <a:off x="1799184" y="6948462"/>
            <a:ext cx="14287500" cy="1257300"/>
          </a:xfrm>
          <a:prstGeom prst="rect">
            <a:avLst/>
          </a:prstGeom>
        </p:spPr>
      </p:pic>
    </p:spTree>
    <p:extLst>
      <p:ext uri="{BB962C8B-B14F-4D97-AF65-F5344CB8AC3E}">
        <p14:creationId xmlns:p14="http://schemas.microsoft.com/office/powerpoint/2010/main" val="1618745865"/>
      </p:ext>
    </p:extLst>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pic>
        <p:nvPicPr>
          <p:cNvPr id="7" name="Image 6"/>
          <p:cNvPicPr/>
          <p:nvPr/>
        </p:nvPicPr>
        <p:blipFill>
          <a:blip r:embed="rId2"/>
          <a:stretch>
            <a:fillRect/>
          </a:stretch>
        </p:blipFill>
        <p:spPr>
          <a:xfrm>
            <a:off x="215008" y="2267944"/>
            <a:ext cx="17857984" cy="7056782"/>
          </a:xfrm>
          <a:prstGeom prst="rect">
            <a:avLst/>
          </a:prstGeom>
        </p:spPr>
      </p:pic>
      <p:sp>
        <p:nvSpPr>
          <p:cNvPr id="8" name="Titre 1"/>
          <p:cNvSpPr txBox="1">
            <a:spLocks/>
          </p:cNvSpPr>
          <p:nvPr/>
        </p:nvSpPr>
        <p:spPr>
          <a:xfrm>
            <a:off x="8927976" y="37505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Gestion des groupes</a:t>
            </a:r>
            <a:endParaRPr lang="fr-FR" sz="3200" b="1" dirty="0">
              <a:solidFill>
                <a:schemeClr val="accent6">
                  <a:lumMod val="50000"/>
                </a:schemeClr>
              </a:solidFill>
              <a:ea typeface="+mn-ea"/>
              <a:cs typeface="Segoe" pitchFamily="34" charset="0"/>
            </a:endParaRPr>
          </a:p>
        </p:txBody>
      </p:sp>
    </p:spTree>
    <p:extLst>
      <p:ext uri="{BB962C8B-B14F-4D97-AF65-F5344CB8AC3E}">
        <p14:creationId xmlns:p14="http://schemas.microsoft.com/office/powerpoint/2010/main" val="1134658503"/>
      </p:ext>
    </p:extLst>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8927976" y="37505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Gestion des utilisateurs</a:t>
            </a:r>
            <a:endParaRPr lang="fr-FR" sz="3200" b="1" dirty="0">
              <a:solidFill>
                <a:schemeClr val="accent6">
                  <a:lumMod val="50000"/>
                </a:schemeClr>
              </a:solidFill>
              <a:ea typeface="+mn-ea"/>
              <a:cs typeface="Segoe" pitchFamily="34" charset="0"/>
            </a:endParaRPr>
          </a:p>
        </p:txBody>
      </p:sp>
      <p:pic>
        <p:nvPicPr>
          <p:cNvPr id="9" name="Image 8"/>
          <p:cNvPicPr/>
          <p:nvPr/>
        </p:nvPicPr>
        <p:blipFill>
          <a:blip r:embed="rId2"/>
          <a:stretch>
            <a:fillRect/>
          </a:stretch>
        </p:blipFill>
        <p:spPr>
          <a:xfrm>
            <a:off x="237623" y="2153878"/>
            <a:ext cx="17691353" cy="7098839"/>
          </a:xfrm>
          <a:prstGeom prst="rect">
            <a:avLst/>
          </a:prstGeom>
        </p:spPr>
      </p:pic>
    </p:spTree>
    <p:extLst>
      <p:ext uri="{BB962C8B-B14F-4D97-AF65-F5344CB8AC3E}">
        <p14:creationId xmlns:p14="http://schemas.microsoft.com/office/powerpoint/2010/main" val="2932366379"/>
      </p:ext>
    </p:extLst>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8969598"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Tableau de bord « rédacteur de régime »</a:t>
            </a:r>
            <a:endParaRPr lang="fr-FR" sz="3200" b="1" dirty="0">
              <a:solidFill>
                <a:schemeClr val="accent6">
                  <a:lumMod val="50000"/>
                </a:schemeClr>
              </a:solidFill>
              <a:ea typeface="+mn-ea"/>
              <a:cs typeface="Segoe" pitchFamily="34" charset="0"/>
            </a:endParaRPr>
          </a:p>
        </p:txBody>
      </p:sp>
      <p:pic>
        <p:nvPicPr>
          <p:cNvPr id="2" name="Image 1"/>
          <p:cNvPicPr>
            <a:picLocks noChangeAspect="1"/>
          </p:cNvPicPr>
          <p:nvPr/>
        </p:nvPicPr>
        <p:blipFill>
          <a:blip r:embed="rId2"/>
          <a:stretch>
            <a:fillRect/>
          </a:stretch>
        </p:blipFill>
        <p:spPr>
          <a:xfrm>
            <a:off x="215008" y="2061538"/>
            <a:ext cx="17857984" cy="7264131"/>
          </a:xfrm>
          <a:prstGeom prst="rect">
            <a:avLst/>
          </a:prstGeom>
        </p:spPr>
      </p:pic>
    </p:spTree>
    <p:extLst>
      <p:ext uri="{BB962C8B-B14F-4D97-AF65-F5344CB8AC3E}">
        <p14:creationId xmlns:p14="http://schemas.microsoft.com/office/powerpoint/2010/main" val="100734928"/>
      </p:ext>
    </p:extLst>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9649072"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Tableau de bord « rédacteur de programme »</a:t>
            </a:r>
            <a:endParaRPr lang="fr-FR" sz="3200" b="1" dirty="0">
              <a:solidFill>
                <a:schemeClr val="accent6">
                  <a:lumMod val="50000"/>
                </a:schemeClr>
              </a:solidFill>
              <a:ea typeface="+mn-ea"/>
              <a:cs typeface="Segoe" pitchFamily="34" charset="0"/>
            </a:endParaRPr>
          </a:p>
        </p:txBody>
      </p:sp>
      <p:pic>
        <p:nvPicPr>
          <p:cNvPr id="9" name="Picture 3"/>
          <p:cNvPicPr/>
          <p:nvPr/>
        </p:nvPicPr>
        <p:blipFill>
          <a:blip r:embed="rId2" cstate="print"/>
          <a:srcRect/>
          <a:stretch>
            <a:fillRect/>
          </a:stretch>
        </p:blipFill>
        <p:spPr bwMode="auto">
          <a:xfrm>
            <a:off x="215008" y="2091146"/>
            <a:ext cx="17857984" cy="7377596"/>
          </a:xfrm>
          <a:prstGeom prst="rect">
            <a:avLst/>
          </a:prstGeom>
          <a:noFill/>
          <a:ln w="9525">
            <a:noFill/>
            <a:miter lim="800000"/>
            <a:headEnd/>
            <a:tailEnd/>
          </a:ln>
        </p:spPr>
      </p:pic>
    </p:spTree>
    <p:extLst>
      <p:ext uri="{BB962C8B-B14F-4D97-AF65-F5344CB8AC3E}">
        <p14:creationId xmlns:p14="http://schemas.microsoft.com/office/powerpoint/2010/main" val="1436684365"/>
      </p:ext>
    </p:extLst>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9649072"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Alerte et archivage</a:t>
            </a:r>
            <a:endParaRPr lang="fr-FR" sz="3200" b="1" dirty="0">
              <a:solidFill>
                <a:schemeClr val="accent6">
                  <a:lumMod val="50000"/>
                </a:schemeClr>
              </a:solidFill>
              <a:ea typeface="+mn-ea"/>
              <a:cs typeface="Segoe" pitchFamily="34" charset="0"/>
            </a:endParaRPr>
          </a:p>
        </p:txBody>
      </p:sp>
      <p:pic>
        <p:nvPicPr>
          <p:cNvPr id="7" name="Image 6"/>
          <p:cNvPicPr/>
          <p:nvPr/>
        </p:nvPicPr>
        <p:blipFill>
          <a:blip r:embed="rId2"/>
          <a:stretch>
            <a:fillRect/>
          </a:stretch>
        </p:blipFill>
        <p:spPr>
          <a:xfrm>
            <a:off x="215008" y="2039814"/>
            <a:ext cx="17857984" cy="7428928"/>
          </a:xfrm>
          <a:prstGeom prst="rect">
            <a:avLst/>
          </a:prstGeom>
        </p:spPr>
      </p:pic>
    </p:spTree>
    <p:extLst>
      <p:ext uri="{BB962C8B-B14F-4D97-AF65-F5344CB8AC3E}">
        <p14:creationId xmlns:p14="http://schemas.microsoft.com/office/powerpoint/2010/main" val="3928292257"/>
      </p:ext>
    </p:extLst>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5472608"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Historique des statuts</a:t>
            </a:r>
            <a:endParaRPr lang="fr-FR" sz="3200" b="1" dirty="0">
              <a:solidFill>
                <a:schemeClr val="accent6">
                  <a:lumMod val="50000"/>
                </a:schemeClr>
              </a:solidFill>
              <a:ea typeface="+mn-ea"/>
              <a:cs typeface="Segoe" pitchFamily="34" charset="0"/>
            </a:endParaRPr>
          </a:p>
        </p:txBody>
      </p:sp>
      <p:pic>
        <p:nvPicPr>
          <p:cNvPr id="9" name="Image 8"/>
          <p:cNvPicPr/>
          <p:nvPr/>
        </p:nvPicPr>
        <p:blipFill>
          <a:blip r:embed="rId2"/>
          <a:stretch>
            <a:fillRect/>
          </a:stretch>
        </p:blipFill>
        <p:spPr>
          <a:xfrm>
            <a:off x="431032" y="2311942"/>
            <a:ext cx="7848872" cy="3052344"/>
          </a:xfrm>
          <a:prstGeom prst="rect">
            <a:avLst/>
          </a:prstGeom>
        </p:spPr>
      </p:pic>
    </p:spTree>
    <p:extLst>
      <p:ext uri="{BB962C8B-B14F-4D97-AF65-F5344CB8AC3E}">
        <p14:creationId xmlns:p14="http://schemas.microsoft.com/office/powerpoint/2010/main" val="184378539"/>
      </p:ext>
    </p:extLst>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Tests et </a:t>
            </a:r>
            <a:r>
              <a:rPr lang="fr-FR" sz="4800" dirty="0" smtClean="0"/>
              <a:t>correctifs</a:t>
            </a:r>
            <a:r>
              <a:rPr lang="fr-FR" sz="4800" dirty="0" smtClean="0">
                <a:solidFill>
                  <a:srgbClr val="828282"/>
                </a:solidFill>
                <a:latin typeface="+mn-lt"/>
                <a:ea typeface="+mn-ea"/>
                <a:cs typeface="+mn-cs"/>
              </a:rPr>
              <a:t> </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300" dirty="0">
                <a:solidFill>
                  <a:srgbClr val="828282"/>
                </a:solidFill>
                <a:latin typeface="+mn-lt"/>
                <a:ea typeface="+mn-ea"/>
                <a:cs typeface="+mn-cs"/>
              </a:rPr>
              <a:t>Tests </a:t>
            </a:r>
            <a:r>
              <a:rPr lang="fr-FR" sz="4300" dirty="0" smtClean="0">
                <a:solidFill>
                  <a:srgbClr val="828282"/>
                </a:solidFill>
                <a:latin typeface="+mn-lt"/>
                <a:ea typeface="+mn-ea"/>
                <a:cs typeface="+mn-cs"/>
              </a:rPr>
              <a:t>d’intégration : </a:t>
            </a:r>
            <a:endParaRPr lang="fr-FR" sz="4300" dirty="0">
              <a:solidFill>
                <a:srgbClr val="828282"/>
              </a:solidFill>
              <a:latin typeface="+mn-lt"/>
              <a:ea typeface="+mn-ea"/>
              <a:cs typeface="+mn-cs"/>
            </a:endParaRP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Effectués après la phase de développement</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Déploiement sur l’environnement d’intégration</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Création des scénarios de test sur Test </a:t>
            </a:r>
            <a:r>
              <a:rPr lang="fr-FR" sz="4300" dirty="0" err="1" smtClean="0">
                <a:solidFill>
                  <a:srgbClr val="828282"/>
                </a:solidFill>
                <a:latin typeface="+mn-lt"/>
                <a:ea typeface="+mn-ea"/>
                <a:cs typeface="+mn-cs"/>
              </a:rPr>
              <a:t>Lab</a:t>
            </a:r>
            <a:r>
              <a:rPr lang="fr-FR" sz="4300" dirty="0" smtClean="0">
                <a:solidFill>
                  <a:srgbClr val="828282"/>
                </a:solidFill>
                <a:latin typeface="+mn-lt"/>
                <a:ea typeface="+mn-ea"/>
                <a:cs typeface="+mn-cs"/>
              </a:rPr>
              <a:t> de HP ALM (Application </a:t>
            </a:r>
            <a:r>
              <a:rPr lang="fr-FR" sz="4300" dirty="0" err="1" smtClean="0">
                <a:solidFill>
                  <a:srgbClr val="828282"/>
                </a:solidFill>
                <a:latin typeface="+mn-lt"/>
                <a:ea typeface="+mn-ea"/>
                <a:cs typeface="+mn-cs"/>
              </a:rPr>
              <a:t>Lifecycle</a:t>
            </a:r>
            <a:r>
              <a:rPr lang="fr-FR" sz="4300" dirty="0" smtClean="0">
                <a:solidFill>
                  <a:srgbClr val="828282"/>
                </a:solidFill>
                <a:latin typeface="+mn-lt"/>
                <a:ea typeface="+mn-ea"/>
                <a:cs typeface="+mn-cs"/>
              </a:rPr>
              <a:t> Management)</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Réalisation des scénarios (anciens et nouveaux) sur l’</a:t>
            </a:r>
            <a:r>
              <a:rPr lang="fr-FR" sz="4300" dirty="0" err="1" smtClean="0">
                <a:solidFill>
                  <a:srgbClr val="828282"/>
                </a:solidFill>
                <a:latin typeface="+mn-lt"/>
                <a:ea typeface="+mn-ea"/>
                <a:cs typeface="+mn-cs"/>
              </a:rPr>
              <a:t>env</a:t>
            </a:r>
            <a:r>
              <a:rPr lang="fr-FR" sz="4300" dirty="0" smtClean="0">
                <a:solidFill>
                  <a:srgbClr val="828282"/>
                </a:solidFill>
                <a:latin typeface="+mn-lt"/>
                <a:ea typeface="+mn-ea"/>
                <a:cs typeface="+mn-cs"/>
              </a:rPr>
              <a:t> de l’intégration.</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Saisie des anomalies sur </a:t>
            </a:r>
            <a:r>
              <a:rPr lang="fr-FR" sz="4300" dirty="0" err="1" smtClean="0">
                <a:solidFill>
                  <a:srgbClr val="828282"/>
                </a:solidFill>
                <a:latin typeface="+mn-lt"/>
                <a:ea typeface="+mn-ea"/>
                <a:cs typeface="+mn-cs"/>
              </a:rPr>
              <a:t>TeamForge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3027868105"/>
      </p:ext>
    </p:extLst>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Tests et </a:t>
            </a:r>
            <a:r>
              <a:rPr lang="fr-FR" sz="4800" dirty="0" smtClean="0"/>
              <a:t>correctifs</a:t>
            </a:r>
            <a:r>
              <a:rPr lang="fr-FR" sz="4800" dirty="0" smtClean="0">
                <a:solidFill>
                  <a:srgbClr val="828282"/>
                </a:solidFill>
                <a:latin typeface="+mn-lt"/>
                <a:ea typeface="+mn-ea"/>
                <a:cs typeface="+mn-cs"/>
              </a:rPr>
              <a:t> </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300" dirty="0">
                <a:solidFill>
                  <a:srgbClr val="828282"/>
                </a:solidFill>
                <a:latin typeface="+mn-lt"/>
                <a:ea typeface="+mn-ea"/>
                <a:cs typeface="+mn-cs"/>
              </a:rPr>
              <a:t>Tests de </a:t>
            </a:r>
            <a:r>
              <a:rPr lang="fr-FR" sz="4300" dirty="0" smtClean="0">
                <a:solidFill>
                  <a:srgbClr val="828282"/>
                </a:solidFill>
                <a:latin typeface="+mn-lt"/>
                <a:ea typeface="+mn-ea"/>
                <a:cs typeface="+mn-cs"/>
              </a:rPr>
              <a:t>validation : </a:t>
            </a:r>
            <a:endParaRPr lang="fr-FR" sz="4300" dirty="0">
              <a:solidFill>
                <a:srgbClr val="828282"/>
              </a:solidFill>
              <a:latin typeface="+mn-lt"/>
              <a:ea typeface="+mn-ea"/>
              <a:cs typeface="+mn-cs"/>
            </a:endParaRP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Effectués après la phase d’intégration</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Déploiement sur l’environnement de validation (iso environnement recette du client)</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Réalisation des scénarios de tests (anciens et nouveaux) sur l’environnement de validation.</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Saisie des anomalies sur </a:t>
            </a:r>
            <a:r>
              <a:rPr lang="fr-FR" sz="4300" dirty="0" err="1">
                <a:solidFill>
                  <a:srgbClr val="828282"/>
                </a:solidFill>
                <a:latin typeface="+mn-lt"/>
                <a:ea typeface="+mn-ea"/>
                <a:cs typeface="+mn-cs"/>
              </a:rPr>
              <a:t>TeamForge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1125897197"/>
      </p:ext>
    </p:extLst>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Tests et </a:t>
            </a:r>
            <a:r>
              <a:rPr lang="fr-FR" sz="4800" dirty="0" smtClean="0"/>
              <a:t>correctifs</a:t>
            </a:r>
            <a:r>
              <a:rPr lang="fr-FR" sz="4800" dirty="0" smtClean="0">
                <a:solidFill>
                  <a:srgbClr val="828282"/>
                </a:solidFill>
                <a:latin typeface="+mn-lt"/>
                <a:ea typeface="+mn-ea"/>
                <a:cs typeface="+mn-cs"/>
              </a:rPr>
              <a:t> </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300" dirty="0">
                <a:solidFill>
                  <a:srgbClr val="828282"/>
                </a:solidFill>
                <a:latin typeface="+mn-lt"/>
                <a:ea typeface="+mn-ea"/>
                <a:cs typeface="+mn-cs"/>
              </a:rPr>
              <a:t>Corrections des anomalies après les </a:t>
            </a:r>
            <a:r>
              <a:rPr lang="fr-FR" sz="4300" dirty="0" smtClean="0">
                <a:solidFill>
                  <a:srgbClr val="828282"/>
                </a:solidFill>
                <a:latin typeface="+mn-lt"/>
                <a:ea typeface="+mn-ea"/>
                <a:cs typeface="+mn-cs"/>
              </a:rPr>
              <a:t>tests : </a:t>
            </a:r>
            <a:endParaRPr lang="fr-FR" sz="4300" dirty="0">
              <a:solidFill>
                <a:srgbClr val="828282"/>
              </a:solidFill>
              <a:latin typeface="+mn-lt"/>
              <a:ea typeface="+mn-ea"/>
              <a:cs typeface="+mn-cs"/>
            </a:endParaRP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Les anomalies sont sur </a:t>
            </a:r>
            <a:r>
              <a:rPr lang="fr-FR" sz="4300" dirty="0" err="1">
                <a:solidFill>
                  <a:srgbClr val="828282"/>
                </a:solidFill>
                <a:latin typeface="+mn-lt"/>
                <a:ea typeface="+mn-ea"/>
                <a:cs typeface="+mn-cs"/>
              </a:rPr>
              <a:t>TeamForge</a:t>
            </a:r>
            <a:r>
              <a:rPr lang="fr-FR" sz="4300" dirty="0">
                <a:solidFill>
                  <a:srgbClr val="828282"/>
                </a:solidFill>
                <a:latin typeface="+mn-lt"/>
                <a:ea typeface="+mn-ea"/>
                <a:cs typeface="+mn-cs"/>
              </a:rPr>
              <a:t> et assignées à des correcteurs</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Test de reproduction des anomalies</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Suivre le workflow de gestion des anomalies sur </a:t>
            </a:r>
            <a:r>
              <a:rPr lang="fr-FR" sz="4300" dirty="0" err="1">
                <a:solidFill>
                  <a:srgbClr val="828282"/>
                </a:solidFill>
                <a:latin typeface="+mn-lt"/>
                <a:ea typeface="+mn-ea"/>
                <a:cs typeface="+mn-cs"/>
              </a:rPr>
              <a:t>TeamForge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3325086286"/>
      </p:ext>
    </p:extLst>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577080" y="1155476"/>
            <a:ext cx="17857984" cy="1080120"/>
          </a:xfrm>
        </p:spPr>
        <p:txBody>
          <a:bodyPr>
            <a:normAutofit/>
          </a:bodyPr>
          <a:lstStyle/>
          <a:p>
            <a:pPr marL="912834" lvl="1" indent="0">
              <a:buNone/>
            </a:pPr>
            <a:r>
              <a:rPr lang="fr-FR" sz="4800" dirty="0" smtClean="0"/>
              <a:t>Contraintes </a:t>
            </a:r>
            <a:r>
              <a:rPr lang="fr-FR" sz="4800" dirty="0"/>
              <a:t>et problèmes rencontrés</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Arial" panose="020B0604020202020204" pitchFamily="34" charset="0"/>
              <a:buChar char="•"/>
            </a:pPr>
            <a:endParaRPr lang="fr-FR" sz="4300" dirty="0">
              <a:solidFill>
                <a:srgbClr val="828282"/>
              </a:solidFill>
              <a:latin typeface="+mn-lt"/>
              <a:ea typeface="+mn-ea"/>
              <a:cs typeface="+mn-cs"/>
            </a:endParaRPr>
          </a:p>
        </p:txBody>
      </p:sp>
      <p:sp>
        <p:nvSpPr>
          <p:cNvPr id="6" name="Espace réservé du contenu 3"/>
          <p:cNvSpPr txBox="1">
            <a:spLocks/>
          </p:cNvSpPr>
          <p:nvPr/>
        </p:nvSpPr>
        <p:spPr>
          <a:xfrm>
            <a:off x="19552" y="2072160"/>
            <a:ext cx="18053440" cy="7324573"/>
          </a:xfrm>
          <a:prstGeom prst="rect">
            <a:avLst/>
          </a:prstGeom>
        </p:spPr>
        <p:txBody>
          <a:bodyPr vert="horz" lIns="91241" tIns="45640" rIns="91241" bIns="45640" rtlCol="0">
            <a:normAutofit lnSpcReduction="10000"/>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400" dirty="0"/>
              <a:t>L</a:t>
            </a:r>
            <a:r>
              <a:rPr lang="fr-FR" sz="4400" dirty="0" smtClean="0"/>
              <a:t>a </a:t>
            </a:r>
            <a:r>
              <a:rPr lang="fr-FR" sz="4400" dirty="0"/>
              <a:t>complexité du projet </a:t>
            </a:r>
            <a:r>
              <a:rPr lang="fr-FR" sz="4400" dirty="0" smtClean="0"/>
              <a:t>SERT</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Architecture complexe</a:t>
            </a:r>
          </a:p>
          <a:p>
            <a:pPr marL="1603186" lvl="5" indent="-571500" algn="just">
              <a:buClr>
                <a:srgbClr val="0098C7"/>
              </a:buClr>
              <a:buFont typeface="Arial" panose="020B0604020202020204" pitchFamily="34" charset="0"/>
              <a:buChar char="•"/>
            </a:pPr>
            <a:r>
              <a:rPr lang="fr-FR" sz="4300" dirty="0" smtClean="0">
                <a:solidFill>
                  <a:srgbClr val="828282"/>
                </a:solidFill>
              </a:rPr>
              <a:t>Nécessite quelques nouvelles notions comme SIG</a:t>
            </a:r>
          </a:p>
          <a:p>
            <a:pPr marL="723900" lvl="5" indent="-571500" algn="just">
              <a:buClr>
                <a:srgbClr val="0098C7"/>
              </a:buClr>
              <a:buFont typeface="Wingdings" panose="05000000000000000000" pitchFamily="2" charset="2"/>
              <a:buChar char="Ø"/>
            </a:pPr>
            <a:r>
              <a:rPr lang="fr-FR" sz="4400" dirty="0" smtClean="0">
                <a:solidFill>
                  <a:schemeClr val="tx1">
                    <a:lumMod val="65000"/>
                    <a:lumOff val="35000"/>
                  </a:schemeClr>
                </a:solidFill>
                <a:latin typeface="Segoe UI" charset="0"/>
                <a:ea typeface="Segoe UI" charset="0"/>
                <a:cs typeface="Segoe UI" charset="0"/>
              </a:rPr>
              <a:t>La </a:t>
            </a:r>
            <a:r>
              <a:rPr lang="fr-FR" sz="4400" dirty="0">
                <a:solidFill>
                  <a:schemeClr val="tx1">
                    <a:lumMod val="65000"/>
                    <a:lumOff val="35000"/>
                  </a:schemeClr>
                </a:solidFill>
                <a:latin typeface="Segoe UI" charset="0"/>
                <a:ea typeface="Segoe UI" charset="0"/>
                <a:cs typeface="Segoe UI" charset="0"/>
              </a:rPr>
              <a:t>bibliothèque graphique JavaFX </a:t>
            </a:r>
            <a:r>
              <a:rPr lang="fr-FR" sz="4400" dirty="0" smtClean="0">
                <a:solidFill>
                  <a:schemeClr val="tx1">
                    <a:lumMod val="65000"/>
                    <a:lumOff val="35000"/>
                  </a:schemeClr>
                </a:solidFill>
                <a:latin typeface="Segoe UI" charset="0"/>
                <a:ea typeface="Segoe UI" charset="0"/>
                <a:cs typeface="Segoe UI" charset="0"/>
              </a:rPr>
              <a:t>n’est pas complète dans la version de JDK utilisé (1.7.0.79).</a:t>
            </a:r>
          </a:p>
          <a:p>
            <a:pPr marL="1636514" lvl="6" indent="-571500">
              <a:buClr>
                <a:srgbClr val="0098C7"/>
              </a:buClr>
              <a:buFont typeface="Arial" panose="020B0604020202020204" pitchFamily="34" charset="0"/>
              <a:buChar char="•"/>
            </a:pPr>
            <a:r>
              <a:rPr lang="fr-FR" sz="4400" dirty="0" smtClean="0">
                <a:solidFill>
                  <a:schemeClr val="tx1">
                    <a:lumMod val="65000"/>
                    <a:lumOff val="35000"/>
                  </a:schemeClr>
                </a:solidFill>
                <a:latin typeface="Segoe UI" charset="0"/>
                <a:ea typeface="Segoe UI" charset="0"/>
                <a:cs typeface="Segoe UI" charset="0"/>
              </a:rPr>
              <a:t>Exemples de composants manquants :  </a:t>
            </a:r>
            <a:r>
              <a:rPr lang="fr-FR" sz="4400" dirty="0" err="1" smtClean="0">
                <a:solidFill>
                  <a:schemeClr val="tx1">
                    <a:lumMod val="65000"/>
                    <a:lumOff val="35000"/>
                  </a:schemeClr>
                </a:solidFill>
                <a:latin typeface="Segoe UI" charset="0"/>
                <a:ea typeface="Segoe UI" charset="0"/>
                <a:cs typeface="Segoe UI" charset="0"/>
              </a:rPr>
              <a:t>Dialog</a:t>
            </a:r>
            <a:r>
              <a:rPr lang="fr-FR" sz="4400" dirty="0" smtClean="0">
                <a:solidFill>
                  <a:schemeClr val="tx1">
                    <a:lumMod val="65000"/>
                    <a:lumOff val="35000"/>
                  </a:schemeClr>
                </a:solidFill>
                <a:latin typeface="Segoe UI" charset="0"/>
                <a:ea typeface="Segoe UI" charset="0"/>
                <a:cs typeface="Segoe UI" charset="0"/>
              </a:rPr>
              <a:t> message, </a:t>
            </a:r>
            <a:r>
              <a:rPr lang="fr-FR" sz="4400" dirty="0" err="1" smtClean="0">
                <a:solidFill>
                  <a:schemeClr val="tx1">
                    <a:lumMod val="65000"/>
                    <a:lumOff val="35000"/>
                  </a:schemeClr>
                </a:solidFill>
                <a:latin typeface="Segoe UI" charset="0"/>
                <a:ea typeface="Segoe UI" charset="0"/>
                <a:cs typeface="Segoe UI" charset="0"/>
              </a:rPr>
              <a:t>DatePicker</a:t>
            </a:r>
            <a:endParaRPr lang="fr-FR" sz="4400" dirty="0" smtClean="0">
              <a:solidFill>
                <a:schemeClr val="tx1">
                  <a:lumMod val="65000"/>
                  <a:lumOff val="35000"/>
                </a:schemeClr>
              </a:solidFill>
              <a:latin typeface="Segoe UI" charset="0"/>
              <a:ea typeface="Segoe UI" charset="0"/>
              <a:cs typeface="Segoe UI" charset="0"/>
            </a:endParaRPr>
          </a:p>
          <a:p>
            <a:pPr marL="1636514" lvl="6" indent="-571500">
              <a:buClr>
                <a:srgbClr val="0098C7"/>
              </a:buClr>
              <a:buFont typeface="Arial" panose="020B0604020202020204" pitchFamily="34" charset="0"/>
              <a:buChar char="•"/>
            </a:pPr>
            <a:r>
              <a:rPr lang="fr-FR" sz="4400" dirty="0" smtClean="0">
                <a:solidFill>
                  <a:schemeClr val="tx1">
                    <a:lumMod val="65000"/>
                    <a:lumOff val="35000"/>
                  </a:schemeClr>
                </a:solidFill>
                <a:latin typeface="Segoe UI" charset="0"/>
                <a:ea typeface="Segoe UI" charset="0"/>
                <a:cs typeface="Segoe UI" charset="0"/>
              </a:rPr>
              <a:t>Création des composants soi-même</a:t>
            </a:r>
          </a:p>
          <a:p>
            <a:pPr marL="723900" lvl="6" indent="-571500">
              <a:buClr>
                <a:srgbClr val="0098C7"/>
              </a:buClr>
              <a:buFont typeface="Wingdings" panose="05000000000000000000" pitchFamily="2" charset="2"/>
              <a:buChar char="Ø"/>
            </a:pPr>
            <a:r>
              <a:rPr lang="fr-FR" sz="4400" dirty="0" smtClean="0">
                <a:solidFill>
                  <a:schemeClr val="tx1">
                    <a:lumMod val="65000"/>
                    <a:lumOff val="35000"/>
                  </a:schemeClr>
                </a:solidFill>
                <a:latin typeface="Segoe UI" charset="0"/>
                <a:ea typeface="Segoe UI" charset="0"/>
                <a:cs typeface="Segoe UI" charset="0"/>
              </a:rPr>
              <a:t>Les anomalies clientes non reproduites sur l’environnement d’intégration</a:t>
            </a:r>
            <a:endParaRPr lang="fr-FR" sz="4400" dirty="0">
              <a:solidFill>
                <a:schemeClr val="tx1">
                  <a:lumMod val="65000"/>
                  <a:lumOff val="35000"/>
                </a:schemeClr>
              </a:solidFill>
              <a:latin typeface="Segoe UI" charset="0"/>
              <a:ea typeface="Segoe UI" charset="0"/>
              <a:cs typeface="Segoe UI" charset="0"/>
            </a:endParaRPr>
          </a:p>
        </p:txBody>
      </p:sp>
    </p:spTree>
    <p:extLst>
      <p:ext uri="{BB962C8B-B14F-4D97-AF65-F5344CB8AC3E}">
        <p14:creationId xmlns:p14="http://schemas.microsoft.com/office/powerpoint/2010/main" val="3693121173"/>
      </p:ext>
    </p:extLst>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4895528" y="3794601"/>
            <a:ext cx="12839700" cy="2207080"/>
          </a:xfrm>
        </p:spPr>
        <p:txBody>
          <a:bodyPr/>
          <a:lstStyle/>
          <a:p>
            <a:r>
              <a:rPr lang="fr-FR" dirty="0" smtClean="0"/>
              <a:t>Conclusion</a:t>
            </a:r>
            <a:endParaRPr lang="fr-FR" dirty="0"/>
          </a:p>
        </p:txBody>
      </p:sp>
    </p:spTree>
    <p:extLst>
      <p:ext uri="{BB962C8B-B14F-4D97-AF65-F5344CB8AC3E}">
        <p14:creationId xmlns:p14="http://schemas.microsoft.com/office/powerpoint/2010/main" val="3925374600"/>
      </p:ext>
    </p:extLst>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hidden="1"/>
          <p:cNvGraphicFramePr>
            <a:graphicFrameLocks noChangeAspect="1"/>
          </p:cNvGraphicFramePr>
          <p:nvPr>
            <p:custDataLst>
              <p:tags r:id="rId2"/>
            </p:custDataLst>
          </p:nvPr>
        </p:nvGraphicFramePr>
        <p:xfrm>
          <a:off x="0" y="0"/>
          <a:ext cx="293076" cy="238345"/>
        </p:xfrm>
        <a:graphic>
          <a:graphicData uri="http://schemas.openxmlformats.org/presentationml/2006/ole">
            <mc:AlternateContent xmlns:mc="http://schemas.openxmlformats.org/markup-compatibility/2006">
              <mc:Choice xmlns:v="urn:schemas-microsoft-com:vml" Requires="v">
                <p:oleObj spid="_x0000_s51309" name="think-cell Slide" r:id="rId4" imgW="360" imgH="360" progId="">
                  <p:embed/>
                </p:oleObj>
              </mc:Choice>
              <mc:Fallback>
                <p:oleObj name="think-cell Slide" r:id="rId4" imgW="360" imgH="360" progId="">
                  <p:embed/>
                  <p:pic>
                    <p:nvPicPr>
                      <p:cNvPr id="0"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93076" cy="238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Espace réservé du contenu 3"/>
          <p:cNvSpPr txBox="1">
            <a:spLocks/>
          </p:cNvSpPr>
          <p:nvPr/>
        </p:nvSpPr>
        <p:spPr>
          <a:xfrm>
            <a:off x="4895528" y="41036"/>
            <a:ext cx="17857984" cy="1080120"/>
          </a:xfrm>
          <a:prstGeom prst="rect">
            <a:avLst/>
          </a:prstGeom>
        </p:spPr>
        <p:txBody>
          <a:bodyPr>
            <a:normAutofit/>
          </a:bodyPr>
          <a:lstStyle>
            <a:lvl1pPr marL="684467" indent="-684467" algn="l" defTabSz="912604" rtl="0" eaLnBrk="1" latinLnBrk="0" hangingPunct="1">
              <a:spcBef>
                <a:spcPct val="20000"/>
              </a:spcBef>
              <a:buFont typeface="Arial"/>
              <a:buChar char="•"/>
              <a:defRPr sz="5600" kern="1200">
                <a:solidFill>
                  <a:schemeClr val="tx1">
                    <a:lumMod val="65000"/>
                    <a:lumOff val="35000"/>
                  </a:schemeClr>
                </a:solidFill>
                <a:latin typeface="Segoe UI" pitchFamily="34" charset="0"/>
                <a:ea typeface="Segoe UI" pitchFamily="34" charset="0"/>
                <a:cs typeface="Segoe UI" pitchFamily="34" charset="0"/>
              </a:defRPr>
            </a:lvl1pPr>
            <a:lvl2pPr marL="1483005" indent="-570369" algn="l" defTabSz="912604" rtl="0" eaLnBrk="1" latinLnBrk="0" hangingPunct="1">
              <a:spcBef>
                <a:spcPct val="20000"/>
              </a:spcBef>
              <a:buFont typeface="Arial"/>
              <a:buChar char="–"/>
              <a:defRPr sz="4800" kern="1200">
                <a:solidFill>
                  <a:schemeClr val="tx1">
                    <a:lumMod val="65000"/>
                    <a:lumOff val="35000"/>
                  </a:schemeClr>
                </a:solidFill>
                <a:latin typeface="Segoe UI" pitchFamily="34" charset="0"/>
                <a:ea typeface="Segoe UI" pitchFamily="34" charset="0"/>
                <a:cs typeface="Segoe UI" pitchFamily="34"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pitchFamily="34" charset="0"/>
                <a:ea typeface="Segoe UI" pitchFamily="34" charset="0"/>
                <a:cs typeface="Segoe UI" pitchFamily="34" charset="0"/>
              </a:defRPr>
            </a:lvl3pPr>
            <a:lvl4pPr marL="319415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4pPr>
            <a:lvl5pPr marL="410676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912834" lvl="1" indent="0">
              <a:buFont typeface="Arial"/>
              <a:buNone/>
            </a:pPr>
            <a:r>
              <a:rPr lang="fr-FR" dirty="0" smtClean="0"/>
              <a:t>Merci de votre attention</a:t>
            </a:r>
            <a:endParaRPr lang="fr-FR"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O0p5rQUZbU22mWSKdDzEb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apgemini Digital COmmerce">
      <a:dk1>
        <a:srgbClr val="3F3F3F"/>
      </a:dk1>
      <a:lt1>
        <a:srgbClr val="FFFFFF"/>
      </a:lt1>
      <a:dk2>
        <a:srgbClr val="595959"/>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nalisé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43592</TotalTime>
  <Words>1187</Words>
  <Application>Microsoft Office PowerPoint</Application>
  <PresentationFormat>Personnalisé</PresentationFormat>
  <Paragraphs>237</Paragraphs>
  <Slides>38</Slides>
  <Notes>5</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38</vt:i4>
      </vt:variant>
    </vt:vector>
  </HeadingPairs>
  <TitlesOfParts>
    <vt:vector size="47" baseType="lpstr">
      <vt:lpstr>Arial</vt:lpstr>
      <vt:lpstr>Calibri</vt:lpstr>
      <vt:lpstr>Segoe</vt:lpstr>
      <vt:lpstr>Segoe UI</vt:lpstr>
      <vt:lpstr>Segoe UI Light</vt:lpstr>
      <vt:lpstr>Times New Roman</vt:lpstr>
      <vt:lpstr>Wingdings</vt:lpstr>
      <vt:lpstr>Office Theme</vt:lpstr>
      <vt:lpstr>think-cell Slide</vt:lpstr>
      <vt:lpstr>Présentation PowerPoint</vt:lpstr>
      <vt:lpstr>Plan</vt:lpstr>
      <vt:lpstr>1. Le groupe Capgemini</vt:lpstr>
      <vt:lpstr>Une entreprise en constante évolution</vt:lpstr>
      <vt:lpstr>Présentation PowerPoint</vt:lpstr>
      <vt:lpstr>Présentation PowerPoint</vt:lpstr>
      <vt:lpstr>Présentation PowerPoint</vt:lpstr>
      <vt:lpstr>2. Mon projet de stage </vt:lpstr>
      <vt:lpstr>Mon projet de stage</vt:lpstr>
      <vt:lpstr>2.1 Le projet SERT</vt:lpstr>
      <vt:lpstr>2.1 Le projet SERT</vt:lpstr>
      <vt:lpstr>2.2 Analyse de l’existant</vt:lpstr>
      <vt:lpstr>2.2 Analyse de l’existant</vt:lpstr>
      <vt:lpstr>2.2 Analyse de l’existant</vt:lpstr>
      <vt:lpstr>2.3 Objectifs du projet</vt:lpstr>
      <vt:lpstr>2.3 Objectifs du projet</vt:lpstr>
      <vt:lpstr>2.3 Objectifs du projet</vt:lpstr>
      <vt:lpstr>2.4 Missions</vt:lpstr>
      <vt:lpstr>3. Réalisation</vt:lpstr>
      <vt:lpstr>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Conclusion</vt:lpstr>
      <vt:lpstr>Présentation PowerPoint</vt:lpstr>
    </vt:vector>
  </TitlesOfParts>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RFP Monoprix</dc:title>
  <dc:subject>Proposition commerciale</dc:subject>
  <dc:creator>Capgemini</dc:creator>
  <cp:lastModifiedBy>RANDRIAMAHARAVOMANANA, Tantely</cp:lastModifiedBy>
  <cp:revision>1315</cp:revision>
  <dcterms:created xsi:type="dcterms:W3CDTF">2012-09-12T14:43:33Z</dcterms:created>
  <dcterms:modified xsi:type="dcterms:W3CDTF">2017-07-04T10:27:41Z</dcterms:modified>
  <cp:contentStatus>V1</cp:contentStatus>
</cp:coreProperties>
</file>